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8.xml" ContentType="application/vnd.openxmlformats-officedocument.drawingml.chart+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508"/>
  </p:normalViewPr>
  <p:slideViewPr>
    <p:cSldViewPr snapToGrid="0">
      <p:cViewPr varScale="1">
        <p:scale>
          <a:sx n="98" d="100"/>
          <a:sy n="98" d="100"/>
        </p:scale>
        <p:origin x="130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1"/>
        <c:ser>
          <c:idx val="0"/>
          <c:order val="0"/>
          <c:tx>
            <c:v>Actual demand</c:v>
          </c:tx>
          <c:spPr>
            <a:ln w="19050">
              <a:solidFill>
                <a:srgbClr val="1F4E79"/>
              </a:solidFill>
              <a:prstDash val="solid"/>
            </a:ln>
          </c:spPr>
          <c:marker>
            <c:symbol val="none"/>
          </c:marker>
          <c:xVal>
            <c:numRef>
              <c:f>'Chart Data'!$A$2:$A$365</c:f>
              <c:numCache>
                <c:formatCode>General</c:formatCode>
                <c:ptCount val="364"/>
                <c:pt idx="0">
                  <c:v>44985</c:v>
                </c:pt>
                <c:pt idx="1">
                  <c:v>44986</c:v>
                </c:pt>
                <c:pt idx="2">
                  <c:v>44987</c:v>
                </c:pt>
                <c:pt idx="3">
                  <c:v>44988</c:v>
                </c:pt>
                <c:pt idx="4">
                  <c:v>44989</c:v>
                </c:pt>
                <c:pt idx="5">
                  <c:v>44990</c:v>
                </c:pt>
                <c:pt idx="6">
                  <c:v>44991</c:v>
                </c:pt>
                <c:pt idx="7">
                  <c:v>44992</c:v>
                </c:pt>
                <c:pt idx="8">
                  <c:v>44993</c:v>
                </c:pt>
                <c:pt idx="9">
                  <c:v>44994</c:v>
                </c:pt>
                <c:pt idx="10">
                  <c:v>44995</c:v>
                </c:pt>
                <c:pt idx="11">
                  <c:v>44996</c:v>
                </c:pt>
                <c:pt idx="12">
                  <c:v>44997</c:v>
                </c:pt>
                <c:pt idx="13">
                  <c:v>44998</c:v>
                </c:pt>
                <c:pt idx="14">
                  <c:v>44999</c:v>
                </c:pt>
                <c:pt idx="15">
                  <c:v>45000</c:v>
                </c:pt>
                <c:pt idx="16">
                  <c:v>45001</c:v>
                </c:pt>
                <c:pt idx="17">
                  <c:v>45002</c:v>
                </c:pt>
                <c:pt idx="18">
                  <c:v>45003</c:v>
                </c:pt>
                <c:pt idx="19">
                  <c:v>45004</c:v>
                </c:pt>
                <c:pt idx="20">
                  <c:v>45005</c:v>
                </c:pt>
                <c:pt idx="21">
                  <c:v>45006</c:v>
                </c:pt>
                <c:pt idx="22">
                  <c:v>45007</c:v>
                </c:pt>
                <c:pt idx="23">
                  <c:v>45008</c:v>
                </c:pt>
                <c:pt idx="24">
                  <c:v>45009</c:v>
                </c:pt>
                <c:pt idx="25">
                  <c:v>45010</c:v>
                </c:pt>
                <c:pt idx="26">
                  <c:v>45011</c:v>
                </c:pt>
                <c:pt idx="27">
                  <c:v>45012</c:v>
                </c:pt>
                <c:pt idx="28">
                  <c:v>45013</c:v>
                </c:pt>
                <c:pt idx="29">
                  <c:v>45014</c:v>
                </c:pt>
                <c:pt idx="30">
                  <c:v>45015</c:v>
                </c:pt>
                <c:pt idx="31">
                  <c:v>45016</c:v>
                </c:pt>
                <c:pt idx="32">
                  <c:v>45017</c:v>
                </c:pt>
                <c:pt idx="33">
                  <c:v>45018</c:v>
                </c:pt>
                <c:pt idx="34">
                  <c:v>45019</c:v>
                </c:pt>
                <c:pt idx="35">
                  <c:v>45020</c:v>
                </c:pt>
                <c:pt idx="36">
                  <c:v>45021</c:v>
                </c:pt>
                <c:pt idx="37">
                  <c:v>45022</c:v>
                </c:pt>
                <c:pt idx="38">
                  <c:v>45023</c:v>
                </c:pt>
                <c:pt idx="39">
                  <c:v>45024</c:v>
                </c:pt>
                <c:pt idx="40">
                  <c:v>45025</c:v>
                </c:pt>
                <c:pt idx="41">
                  <c:v>45026</c:v>
                </c:pt>
                <c:pt idx="42">
                  <c:v>45027</c:v>
                </c:pt>
                <c:pt idx="43">
                  <c:v>45028</c:v>
                </c:pt>
                <c:pt idx="44">
                  <c:v>45029</c:v>
                </c:pt>
                <c:pt idx="45">
                  <c:v>45030</c:v>
                </c:pt>
                <c:pt idx="46">
                  <c:v>45031</c:v>
                </c:pt>
                <c:pt idx="47">
                  <c:v>45032</c:v>
                </c:pt>
                <c:pt idx="48">
                  <c:v>45033</c:v>
                </c:pt>
                <c:pt idx="49">
                  <c:v>45034</c:v>
                </c:pt>
                <c:pt idx="50">
                  <c:v>45035</c:v>
                </c:pt>
                <c:pt idx="51">
                  <c:v>45036</c:v>
                </c:pt>
                <c:pt idx="52">
                  <c:v>45037</c:v>
                </c:pt>
                <c:pt idx="53">
                  <c:v>45038</c:v>
                </c:pt>
                <c:pt idx="54">
                  <c:v>45039</c:v>
                </c:pt>
                <c:pt idx="55">
                  <c:v>45040</c:v>
                </c:pt>
                <c:pt idx="56">
                  <c:v>45041</c:v>
                </c:pt>
                <c:pt idx="57">
                  <c:v>45042</c:v>
                </c:pt>
                <c:pt idx="58">
                  <c:v>45043</c:v>
                </c:pt>
                <c:pt idx="59">
                  <c:v>45044</c:v>
                </c:pt>
                <c:pt idx="60">
                  <c:v>45045</c:v>
                </c:pt>
                <c:pt idx="61">
                  <c:v>45046</c:v>
                </c:pt>
                <c:pt idx="62">
                  <c:v>45047</c:v>
                </c:pt>
                <c:pt idx="63">
                  <c:v>45048</c:v>
                </c:pt>
                <c:pt idx="64">
                  <c:v>45049</c:v>
                </c:pt>
                <c:pt idx="65">
                  <c:v>45050</c:v>
                </c:pt>
                <c:pt idx="66">
                  <c:v>45051</c:v>
                </c:pt>
                <c:pt idx="67">
                  <c:v>45052</c:v>
                </c:pt>
                <c:pt idx="68">
                  <c:v>45053</c:v>
                </c:pt>
                <c:pt idx="69">
                  <c:v>45054</c:v>
                </c:pt>
                <c:pt idx="70">
                  <c:v>45055</c:v>
                </c:pt>
                <c:pt idx="71">
                  <c:v>45056</c:v>
                </c:pt>
                <c:pt idx="72">
                  <c:v>45057</c:v>
                </c:pt>
                <c:pt idx="73">
                  <c:v>45058</c:v>
                </c:pt>
                <c:pt idx="74">
                  <c:v>45059</c:v>
                </c:pt>
                <c:pt idx="75">
                  <c:v>45060</c:v>
                </c:pt>
                <c:pt idx="76">
                  <c:v>45061</c:v>
                </c:pt>
                <c:pt idx="77">
                  <c:v>45062</c:v>
                </c:pt>
                <c:pt idx="78">
                  <c:v>45063</c:v>
                </c:pt>
                <c:pt idx="79">
                  <c:v>45064</c:v>
                </c:pt>
                <c:pt idx="80">
                  <c:v>45065</c:v>
                </c:pt>
                <c:pt idx="81">
                  <c:v>45066</c:v>
                </c:pt>
                <c:pt idx="82">
                  <c:v>45067</c:v>
                </c:pt>
                <c:pt idx="83">
                  <c:v>45068</c:v>
                </c:pt>
                <c:pt idx="84">
                  <c:v>45069</c:v>
                </c:pt>
                <c:pt idx="85">
                  <c:v>45070</c:v>
                </c:pt>
                <c:pt idx="86">
                  <c:v>45071</c:v>
                </c:pt>
                <c:pt idx="87">
                  <c:v>45072</c:v>
                </c:pt>
                <c:pt idx="88">
                  <c:v>45073</c:v>
                </c:pt>
                <c:pt idx="89">
                  <c:v>45074</c:v>
                </c:pt>
                <c:pt idx="90">
                  <c:v>45075</c:v>
                </c:pt>
                <c:pt idx="91">
                  <c:v>45076</c:v>
                </c:pt>
                <c:pt idx="92">
                  <c:v>45077</c:v>
                </c:pt>
                <c:pt idx="93">
                  <c:v>45078</c:v>
                </c:pt>
                <c:pt idx="94">
                  <c:v>45079</c:v>
                </c:pt>
                <c:pt idx="95">
                  <c:v>45080</c:v>
                </c:pt>
                <c:pt idx="96">
                  <c:v>45081</c:v>
                </c:pt>
                <c:pt idx="97">
                  <c:v>45082</c:v>
                </c:pt>
                <c:pt idx="98">
                  <c:v>45083</c:v>
                </c:pt>
                <c:pt idx="99">
                  <c:v>45084</c:v>
                </c:pt>
                <c:pt idx="100">
                  <c:v>45085</c:v>
                </c:pt>
                <c:pt idx="101">
                  <c:v>45086</c:v>
                </c:pt>
                <c:pt idx="102">
                  <c:v>45087</c:v>
                </c:pt>
                <c:pt idx="103">
                  <c:v>45088</c:v>
                </c:pt>
                <c:pt idx="104">
                  <c:v>45089</c:v>
                </c:pt>
                <c:pt idx="105">
                  <c:v>45090</c:v>
                </c:pt>
                <c:pt idx="106">
                  <c:v>45091</c:v>
                </c:pt>
                <c:pt idx="107">
                  <c:v>45092</c:v>
                </c:pt>
                <c:pt idx="108">
                  <c:v>45093</c:v>
                </c:pt>
                <c:pt idx="109">
                  <c:v>45094</c:v>
                </c:pt>
                <c:pt idx="110">
                  <c:v>45095</c:v>
                </c:pt>
                <c:pt idx="111">
                  <c:v>45096</c:v>
                </c:pt>
                <c:pt idx="112">
                  <c:v>45097</c:v>
                </c:pt>
                <c:pt idx="113">
                  <c:v>45098</c:v>
                </c:pt>
                <c:pt idx="114">
                  <c:v>45099</c:v>
                </c:pt>
                <c:pt idx="115">
                  <c:v>45100</c:v>
                </c:pt>
                <c:pt idx="116">
                  <c:v>45101</c:v>
                </c:pt>
                <c:pt idx="117">
                  <c:v>45102</c:v>
                </c:pt>
                <c:pt idx="118">
                  <c:v>45103</c:v>
                </c:pt>
                <c:pt idx="119">
                  <c:v>45104</c:v>
                </c:pt>
                <c:pt idx="120">
                  <c:v>45105</c:v>
                </c:pt>
                <c:pt idx="121">
                  <c:v>45106</c:v>
                </c:pt>
                <c:pt idx="122">
                  <c:v>45107</c:v>
                </c:pt>
                <c:pt idx="123">
                  <c:v>45108</c:v>
                </c:pt>
                <c:pt idx="124">
                  <c:v>45109</c:v>
                </c:pt>
                <c:pt idx="125">
                  <c:v>45110</c:v>
                </c:pt>
                <c:pt idx="126">
                  <c:v>45111</c:v>
                </c:pt>
                <c:pt idx="127">
                  <c:v>45112</c:v>
                </c:pt>
                <c:pt idx="128">
                  <c:v>45113</c:v>
                </c:pt>
                <c:pt idx="129">
                  <c:v>45114</c:v>
                </c:pt>
                <c:pt idx="130">
                  <c:v>45115</c:v>
                </c:pt>
                <c:pt idx="131">
                  <c:v>45116</c:v>
                </c:pt>
                <c:pt idx="132">
                  <c:v>45117</c:v>
                </c:pt>
                <c:pt idx="133">
                  <c:v>45118</c:v>
                </c:pt>
                <c:pt idx="134">
                  <c:v>45119</c:v>
                </c:pt>
                <c:pt idx="135">
                  <c:v>45120</c:v>
                </c:pt>
                <c:pt idx="136">
                  <c:v>45121</c:v>
                </c:pt>
                <c:pt idx="137">
                  <c:v>45122</c:v>
                </c:pt>
                <c:pt idx="138">
                  <c:v>45123</c:v>
                </c:pt>
                <c:pt idx="139">
                  <c:v>45124</c:v>
                </c:pt>
                <c:pt idx="140">
                  <c:v>45125</c:v>
                </c:pt>
                <c:pt idx="141">
                  <c:v>45126</c:v>
                </c:pt>
                <c:pt idx="142">
                  <c:v>45127</c:v>
                </c:pt>
                <c:pt idx="143">
                  <c:v>45128</c:v>
                </c:pt>
                <c:pt idx="144">
                  <c:v>45129</c:v>
                </c:pt>
                <c:pt idx="145">
                  <c:v>45130</c:v>
                </c:pt>
                <c:pt idx="146">
                  <c:v>45131</c:v>
                </c:pt>
                <c:pt idx="147">
                  <c:v>45132</c:v>
                </c:pt>
                <c:pt idx="148">
                  <c:v>45133</c:v>
                </c:pt>
                <c:pt idx="149">
                  <c:v>45134</c:v>
                </c:pt>
                <c:pt idx="150">
                  <c:v>45135</c:v>
                </c:pt>
                <c:pt idx="151">
                  <c:v>45136</c:v>
                </c:pt>
                <c:pt idx="152">
                  <c:v>45137</c:v>
                </c:pt>
                <c:pt idx="153">
                  <c:v>45138</c:v>
                </c:pt>
                <c:pt idx="154">
                  <c:v>45139</c:v>
                </c:pt>
                <c:pt idx="155">
                  <c:v>45140</c:v>
                </c:pt>
                <c:pt idx="156">
                  <c:v>45141</c:v>
                </c:pt>
                <c:pt idx="157">
                  <c:v>45142</c:v>
                </c:pt>
                <c:pt idx="158">
                  <c:v>45143</c:v>
                </c:pt>
                <c:pt idx="159">
                  <c:v>45144</c:v>
                </c:pt>
                <c:pt idx="160">
                  <c:v>45145</c:v>
                </c:pt>
                <c:pt idx="161">
                  <c:v>45146</c:v>
                </c:pt>
                <c:pt idx="162">
                  <c:v>45147</c:v>
                </c:pt>
                <c:pt idx="163">
                  <c:v>45148</c:v>
                </c:pt>
                <c:pt idx="164">
                  <c:v>45149</c:v>
                </c:pt>
                <c:pt idx="165">
                  <c:v>45150</c:v>
                </c:pt>
                <c:pt idx="166">
                  <c:v>45151</c:v>
                </c:pt>
                <c:pt idx="167">
                  <c:v>45152</c:v>
                </c:pt>
                <c:pt idx="168">
                  <c:v>45153</c:v>
                </c:pt>
                <c:pt idx="169">
                  <c:v>45154</c:v>
                </c:pt>
                <c:pt idx="170">
                  <c:v>45155</c:v>
                </c:pt>
                <c:pt idx="171">
                  <c:v>45156</c:v>
                </c:pt>
                <c:pt idx="172">
                  <c:v>45157</c:v>
                </c:pt>
                <c:pt idx="173">
                  <c:v>45158</c:v>
                </c:pt>
                <c:pt idx="174">
                  <c:v>45159</c:v>
                </c:pt>
                <c:pt idx="175">
                  <c:v>45160</c:v>
                </c:pt>
                <c:pt idx="176">
                  <c:v>45161</c:v>
                </c:pt>
                <c:pt idx="177">
                  <c:v>45162</c:v>
                </c:pt>
                <c:pt idx="178">
                  <c:v>45163</c:v>
                </c:pt>
                <c:pt idx="179">
                  <c:v>45164</c:v>
                </c:pt>
                <c:pt idx="180">
                  <c:v>45165</c:v>
                </c:pt>
                <c:pt idx="181">
                  <c:v>45166</c:v>
                </c:pt>
                <c:pt idx="182">
                  <c:v>45167</c:v>
                </c:pt>
                <c:pt idx="183">
                  <c:v>45168</c:v>
                </c:pt>
                <c:pt idx="184">
                  <c:v>45169</c:v>
                </c:pt>
                <c:pt idx="185">
                  <c:v>45170</c:v>
                </c:pt>
                <c:pt idx="186">
                  <c:v>45171</c:v>
                </c:pt>
                <c:pt idx="187">
                  <c:v>45172</c:v>
                </c:pt>
                <c:pt idx="188">
                  <c:v>45173</c:v>
                </c:pt>
                <c:pt idx="189">
                  <c:v>45174</c:v>
                </c:pt>
                <c:pt idx="190">
                  <c:v>45175</c:v>
                </c:pt>
                <c:pt idx="191">
                  <c:v>45176</c:v>
                </c:pt>
                <c:pt idx="192">
                  <c:v>45177</c:v>
                </c:pt>
                <c:pt idx="193">
                  <c:v>45178</c:v>
                </c:pt>
                <c:pt idx="194">
                  <c:v>45179</c:v>
                </c:pt>
                <c:pt idx="195">
                  <c:v>45180</c:v>
                </c:pt>
                <c:pt idx="196">
                  <c:v>45181</c:v>
                </c:pt>
                <c:pt idx="197">
                  <c:v>45182</c:v>
                </c:pt>
                <c:pt idx="198">
                  <c:v>45183</c:v>
                </c:pt>
                <c:pt idx="199">
                  <c:v>45184</c:v>
                </c:pt>
                <c:pt idx="200">
                  <c:v>45185</c:v>
                </c:pt>
                <c:pt idx="201">
                  <c:v>45186</c:v>
                </c:pt>
                <c:pt idx="202">
                  <c:v>45187</c:v>
                </c:pt>
                <c:pt idx="203">
                  <c:v>45188</c:v>
                </c:pt>
                <c:pt idx="204">
                  <c:v>45189</c:v>
                </c:pt>
                <c:pt idx="205">
                  <c:v>45190</c:v>
                </c:pt>
                <c:pt idx="206">
                  <c:v>45191</c:v>
                </c:pt>
                <c:pt idx="207">
                  <c:v>45192</c:v>
                </c:pt>
                <c:pt idx="208">
                  <c:v>45193</c:v>
                </c:pt>
                <c:pt idx="209">
                  <c:v>45194</c:v>
                </c:pt>
                <c:pt idx="210">
                  <c:v>45195</c:v>
                </c:pt>
                <c:pt idx="211">
                  <c:v>45196</c:v>
                </c:pt>
                <c:pt idx="212">
                  <c:v>45197</c:v>
                </c:pt>
                <c:pt idx="213">
                  <c:v>45198</c:v>
                </c:pt>
                <c:pt idx="214">
                  <c:v>45199</c:v>
                </c:pt>
                <c:pt idx="215">
                  <c:v>45200</c:v>
                </c:pt>
                <c:pt idx="216">
                  <c:v>45201</c:v>
                </c:pt>
                <c:pt idx="217">
                  <c:v>45202</c:v>
                </c:pt>
                <c:pt idx="218">
                  <c:v>45203</c:v>
                </c:pt>
                <c:pt idx="219">
                  <c:v>45204</c:v>
                </c:pt>
                <c:pt idx="220">
                  <c:v>45205</c:v>
                </c:pt>
                <c:pt idx="221">
                  <c:v>45206</c:v>
                </c:pt>
                <c:pt idx="222">
                  <c:v>45207</c:v>
                </c:pt>
                <c:pt idx="223">
                  <c:v>45208</c:v>
                </c:pt>
                <c:pt idx="224">
                  <c:v>45209</c:v>
                </c:pt>
                <c:pt idx="225">
                  <c:v>45210</c:v>
                </c:pt>
                <c:pt idx="226">
                  <c:v>45211</c:v>
                </c:pt>
                <c:pt idx="227">
                  <c:v>45212</c:v>
                </c:pt>
                <c:pt idx="228">
                  <c:v>45213</c:v>
                </c:pt>
                <c:pt idx="229">
                  <c:v>45214</c:v>
                </c:pt>
                <c:pt idx="230">
                  <c:v>45215</c:v>
                </c:pt>
                <c:pt idx="231">
                  <c:v>45216</c:v>
                </c:pt>
                <c:pt idx="232">
                  <c:v>45217</c:v>
                </c:pt>
                <c:pt idx="233">
                  <c:v>45218</c:v>
                </c:pt>
                <c:pt idx="234">
                  <c:v>45219</c:v>
                </c:pt>
                <c:pt idx="235">
                  <c:v>45220</c:v>
                </c:pt>
                <c:pt idx="236">
                  <c:v>45221</c:v>
                </c:pt>
                <c:pt idx="237">
                  <c:v>45222</c:v>
                </c:pt>
                <c:pt idx="238">
                  <c:v>45223</c:v>
                </c:pt>
                <c:pt idx="239">
                  <c:v>45224</c:v>
                </c:pt>
                <c:pt idx="240">
                  <c:v>45225</c:v>
                </c:pt>
                <c:pt idx="241">
                  <c:v>45226</c:v>
                </c:pt>
                <c:pt idx="242">
                  <c:v>45227</c:v>
                </c:pt>
                <c:pt idx="243">
                  <c:v>45229</c:v>
                </c:pt>
                <c:pt idx="244">
                  <c:v>45230</c:v>
                </c:pt>
                <c:pt idx="245">
                  <c:v>45231</c:v>
                </c:pt>
                <c:pt idx="246">
                  <c:v>45232</c:v>
                </c:pt>
                <c:pt idx="247">
                  <c:v>45233</c:v>
                </c:pt>
                <c:pt idx="248">
                  <c:v>45234</c:v>
                </c:pt>
                <c:pt idx="249">
                  <c:v>45235</c:v>
                </c:pt>
                <c:pt idx="250">
                  <c:v>45236</c:v>
                </c:pt>
                <c:pt idx="251">
                  <c:v>45237</c:v>
                </c:pt>
                <c:pt idx="252">
                  <c:v>45238</c:v>
                </c:pt>
                <c:pt idx="253">
                  <c:v>45239</c:v>
                </c:pt>
                <c:pt idx="254">
                  <c:v>45240</c:v>
                </c:pt>
                <c:pt idx="255">
                  <c:v>45241</c:v>
                </c:pt>
                <c:pt idx="256">
                  <c:v>45242</c:v>
                </c:pt>
                <c:pt idx="257">
                  <c:v>45243</c:v>
                </c:pt>
                <c:pt idx="258">
                  <c:v>45244</c:v>
                </c:pt>
                <c:pt idx="259">
                  <c:v>45245</c:v>
                </c:pt>
                <c:pt idx="260">
                  <c:v>45246</c:v>
                </c:pt>
                <c:pt idx="261">
                  <c:v>45247</c:v>
                </c:pt>
                <c:pt idx="262">
                  <c:v>45248</c:v>
                </c:pt>
                <c:pt idx="263">
                  <c:v>45249</c:v>
                </c:pt>
                <c:pt idx="264">
                  <c:v>45250</c:v>
                </c:pt>
                <c:pt idx="265">
                  <c:v>45251</c:v>
                </c:pt>
                <c:pt idx="266">
                  <c:v>45252</c:v>
                </c:pt>
                <c:pt idx="267">
                  <c:v>45253</c:v>
                </c:pt>
                <c:pt idx="268">
                  <c:v>45254</c:v>
                </c:pt>
                <c:pt idx="269">
                  <c:v>45255</c:v>
                </c:pt>
                <c:pt idx="270">
                  <c:v>45256</c:v>
                </c:pt>
                <c:pt idx="271">
                  <c:v>45257</c:v>
                </c:pt>
                <c:pt idx="272">
                  <c:v>45258</c:v>
                </c:pt>
                <c:pt idx="273">
                  <c:v>45259</c:v>
                </c:pt>
                <c:pt idx="274">
                  <c:v>45260</c:v>
                </c:pt>
                <c:pt idx="275">
                  <c:v>45261</c:v>
                </c:pt>
                <c:pt idx="276">
                  <c:v>45262</c:v>
                </c:pt>
                <c:pt idx="277">
                  <c:v>45263</c:v>
                </c:pt>
                <c:pt idx="278">
                  <c:v>45264</c:v>
                </c:pt>
                <c:pt idx="279">
                  <c:v>45265</c:v>
                </c:pt>
                <c:pt idx="280">
                  <c:v>45266</c:v>
                </c:pt>
                <c:pt idx="281">
                  <c:v>45267</c:v>
                </c:pt>
                <c:pt idx="282">
                  <c:v>45268</c:v>
                </c:pt>
                <c:pt idx="283">
                  <c:v>45269</c:v>
                </c:pt>
                <c:pt idx="284">
                  <c:v>45270</c:v>
                </c:pt>
                <c:pt idx="285">
                  <c:v>45271</c:v>
                </c:pt>
                <c:pt idx="286">
                  <c:v>45272</c:v>
                </c:pt>
                <c:pt idx="287">
                  <c:v>45273</c:v>
                </c:pt>
                <c:pt idx="288">
                  <c:v>45274</c:v>
                </c:pt>
                <c:pt idx="289">
                  <c:v>45275</c:v>
                </c:pt>
                <c:pt idx="290">
                  <c:v>45276</c:v>
                </c:pt>
                <c:pt idx="291">
                  <c:v>45277</c:v>
                </c:pt>
                <c:pt idx="292">
                  <c:v>45278</c:v>
                </c:pt>
                <c:pt idx="293">
                  <c:v>45279</c:v>
                </c:pt>
                <c:pt idx="294">
                  <c:v>45280</c:v>
                </c:pt>
                <c:pt idx="295">
                  <c:v>45281</c:v>
                </c:pt>
                <c:pt idx="296">
                  <c:v>45282</c:v>
                </c:pt>
                <c:pt idx="297">
                  <c:v>45283</c:v>
                </c:pt>
                <c:pt idx="298">
                  <c:v>45284</c:v>
                </c:pt>
                <c:pt idx="299">
                  <c:v>45285</c:v>
                </c:pt>
                <c:pt idx="300">
                  <c:v>45286</c:v>
                </c:pt>
                <c:pt idx="301">
                  <c:v>45287</c:v>
                </c:pt>
                <c:pt idx="302">
                  <c:v>45288</c:v>
                </c:pt>
                <c:pt idx="303">
                  <c:v>45289</c:v>
                </c:pt>
                <c:pt idx="304">
                  <c:v>45290</c:v>
                </c:pt>
                <c:pt idx="305">
                  <c:v>45291</c:v>
                </c:pt>
                <c:pt idx="306">
                  <c:v>45292</c:v>
                </c:pt>
                <c:pt idx="307">
                  <c:v>45293</c:v>
                </c:pt>
                <c:pt idx="308">
                  <c:v>45294</c:v>
                </c:pt>
                <c:pt idx="309">
                  <c:v>45295</c:v>
                </c:pt>
                <c:pt idx="310">
                  <c:v>45296</c:v>
                </c:pt>
                <c:pt idx="311">
                  <c:v>45297</c:v>
                </c:pt>
                <c:pt idx="312">
                  <c:v>45298</c:v>
                </c:pt>
                <c:pt idx="313">
                  <c:v>45299</c:v>
                </c:pt>
                <c:pt idx="314">
                  <c:v>45300</c:v>
                </c:pt>
                <c:pt idx="315">
                  <c:v>45301</c:v>
                </c:pt>
                <c:pt idx="316">
                  <c:v>45302</c:v>
                </c:pt>
                <c:pt idx="317">
                  <c:v>45303</c:v>
                </c:pt>
                <c:pt idx="318">
                  <c:v>45304</c:v>
                </c:pt>
                <c:pt idx="319">
                  <c:v>45305</c:v>
                </c:pt>
                <c:pt idx="320">
                  <c:v>45306</c:v>
                </c:pt>
                <c:pt idx="321">
                  <c:v>45307</c:v>
                </c:pt>
                <c:pt idx="322">
                  <c:v>45308</c:v>
                </c:pt>
                <c:pt idx="323">
                  <c:v>45309</c:v>
                </c:pt>
                <c:pt idx="324">
                  <c:v>45310</c:v>
                </c:pt>
                <c:pt idx="325">
                  <c:v>45311</c:v>
                </c:pt>
                <c:pt idx="326">
                  <c:v>45312</c:v>
                </c:pt>
                <c:pt idx="327">
                  <c:v>45313</c:v>
                </c:pt>
                <c:pt idx="328">
                  <c:v>45314</c:v>
                </c:pt>
                <c:pt idx="329">
                  <c:v>45315</c:v>
                </c:pt>
                <c:pt idx="330">
                  <c:v>45316</c:v>
                </c:pt>
                <c:pt idx="331">
                  <c:v>45317</c:v>
                </c:pt>
                <c:pt idx="332">
                  <c:v>45318</c:v>
                </c:pt>
                <c:pt idx="333">
                  <c:v>45319</c:v>
                </c:pt>
                <c:pt idx="334">
                  <c:v>45320</c:v>
                </c:pt>
                <c:pt idx="335">
                  <c:v>45321</c:v>
                </c:pt>
                <c:pt idx="336">
                  <c:v>45322</c:v>
                </c:pt>
                <c:pt idx="337">
                  <c:v>45323</c:v>
                </c:pt>
                <c:pt idx="338">
                  <c:v>45324</c:v>
                </c:pt>
                <c:pt idx="339">
                  <c:v>45325</c:v>
                </c:pt>
                <c:pt idx="340">
                  <c:v>45326</c:v>
                </c:pt>
                <c:pt idx="341">
                  <c:v>45327</c:v>
                </c:pt>
                <c:pt idx="342">
                  <c:v>45328</c:v>
                </c:pt>
                <c:pt idx="343">
                  <c:v>45329</c:v>
                </c:pt>
                <c:pt idx="344">
                  <c:v>45330</c:v>
                </c:pt>
                <c:pt idx="345">
                  <c:v>45331</c:v>
                </c:pt>
                <c:pt idx="346">
                  <c:v>45332</c:v>
                </c:pt>
                <c:pt idx="347">
                  <c:v>45333</c:v>
                </c:pt>
                <c:pt idx="348">
                  <c:v>45334</c:v>
                </c:pt>
                <c:pt idx="349">
                  <c:v>45335</c:v>
                </c:pt>
                <c:pt idx="350">
                  <c:v>45336</c:v>
                </c:pt>
                <c:pt idx="351">
                  <c:v>45337</c:v>
                </c:pt>
                <c:pt idx="352">
                  <c:v>45338</c:v>
                </c:pt>
                <c:pt idx="353">
                  <c:v>45339</c:v>
                </c:pt>
                <c:pt idx="354">
                  <c:v>45340</c:v>
                </c:pt>
                <c:pt idx="355">
                  <c:v>45341</c:v>
                </c:pt>
                <c:pt idx="356">
                  <c:v>45342</c:v>
                </c:pt>
                <c:pt idx="357">
                  <c:v>45343</c:v>
                </c:pt>
                <c:pt idx="358">
                  <c:v>45344</c:v>
                </c:pt>
                <c:pt idx="359">
                  <c:v>45345</c:v>
                </c:pt>
                <c:pt idx="360">
                  <c:v>45346</c:v>
                </c:pt>
                <c:pt idx="361">
                  <c:v>45347</c:v>
                </c:pt>
                <c:pt idx="362">
                  <c:v>45348</c:v>
                </c:pt>
                <c:pt idx="363">
                  <c:v>45349</c:v>
                </c:pt>
              </c:numCache>
            </c:numRef>
          </c:xVal>
          <c:yVal>
            <c:numRef>
              <c:f>'Chart Data'!$B$2:$B$365</c:f>
              <c:numCache>
                <c:formatCode>0</c:formatCode>
                <c:ptCount val="364"/>
                <c:pt idx="0">
                  <c:v>18.45008</c:v>
                </c:pt>
                <c:pt idx="1">
                  <c:v>18.47946</c:v>
                </c:pt>
                <c:pt idx="2">
                  <c:v>17.492509999999999</c:v>
                </c:pt>
                <c:pt idx="3">
                  <c:v>14.936920000000001</c:v>
                </c:pt>
                <c:pt idx="4">
                  <c:v>15.099919999999999</c:v>
                </c:pt>
                <c:pt idx="5">
                  <c:v>15.32929</c:v>
                </c:pt>
                <c:pt idx="6">
                  <c:v>15.73113</c:v>
                </c:pt>
                <c:pt idx="7">
                  <c:v>13.71336</c:v>
                </c:pt>
                <c:pt idx="8">
                  <c:v>12.94679</c:v>
                </c:pt>
                <c:pt idx="9">
                  <c:v>10.14339</c:v>
                </c:pt>
                <c:pt idx="10">
                  <c:v>13.05513</c:v>
                </c:pt>
                <c:pt idx="11">
                  <c:v>17.133749999999999</c:v>
                </c:pt>
                <c:pt idx="12">
                  <c:v>14.08596</c:v>
                </c:pt>
                <c:pt idx="13">
                  <c:v>9.4753100000000003</c:v>
                </c:pt>
                <c:pt idx="14">
                  <c:v>12.39137</c:v>
                </c:pt>
                <c:pt idx="15">
                  <c:v>13.7036</c:v>
                </c:pt>
                <c:pt idx="16">
                  <c:v>12.80344</c:v>
                </c:pt>
                <c:pt idx="17">
                  <c:v>11.083170000000001</c:v>
                </c:pt>
                <c:pt idx="18">
                  <c:v>9.9700000000000006</c:v>
                </c:pt>
                <c:pt idx="19">
                  <c:v>10.489990000000001</c:v>
                </c:pt>
                <c:pt idx="20">
                  <c:v>10.28936</c:v>
                </c:pt>
                <c:pt idx="21">
                  <c:v>9.94435</c:v>
                </c:pt>
                <c:pt idx="22">
                  <c:v>8.7689699999999995</c:v>
                </c:pt>
                <c:pt idx="23">
                  <c:v>8.3360400000000006</c:v>
                </c:pt>
                <c:pt idx="24">
                  <c:v>10.99666</c:v>
                </c:pt>
                <c:pt idx="25">
                  <c:v>12.418570000000001</c:v>
                </c:pt>
                <c:pt idx="26">
                  <c:v>13.55565</c:v>
                </c:pt>
                <c:pt idx="27">
                  <c:v>13.387230000000001</c:v>
                </c:pt>
                <c:pt idx="28">
                  <c:v>12.002179999999999</c:v>
                </c:pt>
                <c:pt idx="29">
                  <c:v>9.4210399999999996</c:v>
                </c:pt>
                <c:pt idx="30">
                  <c:v>9.2144200000000005</c:v>
                </c:pt>
                <c:pt idx="31">
                  <c:v>10.44333</c:v>
                </c:pt>
                <c:pt idx="32">
                  <c:v>12.360250000000001</c:v>
                </c:pt>
                <c:pt idx="33">
                  <c:v>11.244389999999999</c:v>
                </c:pt>
                <c:pt idx="34">
                  <c:v>13.944269999999999</c:v>
                </c:pt>
                <c:pt idx="35">
                  <c:v>13.89978</c:v>
                </c:pt>
                <c:pt idx="36">
                  <c:v>12.874320000000001</c:v>
                </c:pt>
                <c:pt idx="37">
                  <c:v>11.41883</c:v>
                </c:pt>
                <c:pt idx="38">
                  <c:v>11.956060000000001</c:v>
                </c:pt>
                <c:pt idx="39">
                  <c:v>11.70415</c:v>
                </c:pt>
                <c:pt idx="40">
                  <c:v>11.03374</c:v>
                </c:pt>
                <c:pt idx="41">
                  <c:v>9.6415699999999998</c:v>
                </c:pt>
                <c:pt idx="42">
                  <c:v>9.9827600000000007</c:v>
                </c:pt>
                <c:pt idx="43">
                  <c:v>10.65108</c:v>
                </c:pt>
                <c:pt idx="44">
                  <c:v>12.447319999999999</c:v>
                </c:pt>
                <c:pt idx="45">
                  <c:v>11.638339999999999</c:v>
                </c:pt>
                <c:pt idx="46">
                  <c:v>12.00848</c:v>
                </c:pt>
                <c:pt idx="47">
                  <c:v>13.05561</c:v>
                </c:pt>
                <c:pt idx="48">
                  <c:v>10.284090000000001</c:v>
                </c:pt>
                <c:pt idx="49">
                  <c:v>9.2711600000000001</c:v>
                </c:pt>
                <c:pt idx="50">
                  <c:v>10.40602</c:v>
                </c:pt>
                <c:pt idx="51">
                  <c:v>13.8626</c:v>
                </c:pt>
                <c:pt idx="52">
                  <c:v>11.30015</c:v>
                </c:pt>
                <c:pt idx="53">
                  <c:v>9.6837300000000006</c:v>
                </c:pt>
                <c:pt idx="54">
                  <c:v>8.7839200000000002</c:v>
                </c:pt>
                <c:pt idx="55">
                  <c:v>9.2750400000000006</c:v>
                </c:pt>
                <c:pt idx="56">
                  <c:v>10.80194</c:v>
                </c:pt>
                <c:pt idx="57">
                  <c:v>9.3193300000000008</c:v>
                </c:pt>
                <c:pt idx="58">
                  <c:v>7.5233600000000003</c:v>
                </c:pt>
                <c:pt idx="59">
                  <c:v>8.4051100000000005</c:v>
                </c:pt>
                <c:pt idx="60">
                  <c:v>7.3843699999999997</c:v>
                </c:pt>
                <c:pt idx="61">
                  <c:v>7.7573999999999996</c:v>
                </c:pt>
                <c:pt idx="62">
                  <c:v>8.6608699999999992</c:v>
                </c:pt>
                <c:pt idx="63">
                  <c:v>7.7755099999999997</c:v>
                </c:pt>
                <c:pt idx="64">
                  <c:v>7.6788600000000002</c:v>
                </c:pt>
                <c:pt idx="65">
                  <c:v>6.5853700000000002</c:v>
                </c:pt>
                <c:pt idx="66">
                  <c:v>6.1832799999999999</c:v>
                </c:pt>
                <c:pt idx="67">
                  <c:v>6.5266200000000003</c:v>
                </c:pt>
                <c:pt idx="68">
                  <c:v>7.3073899999999998</c:v>
                </c:pt>
                <c:pt idx="69">
                  <c:v>6.6147400000000003</c:v>
                </c:pt>
                <c:pt idx="70">
                  <c:v>6.41798</c:v>
                </c:pt>
                <c:pt idx="71">
                  <c:v>7.68607</c:v>
                </c:pt>
                <c:pt idx="72">
                  <c:v>8.2881599999999995</c:v>
                </c:pt>
                <c:pt idx="73">
                  <c:v>7.7202000000000002</c:v>
                </c:pt>
                <c:pt idx="74">
                  <c:v>8.7055299999999995</c:v>
                </c:pt>
                <c:pt idx="75">
                  <c:v>9.33</c:v>
                </c:pt>
                <c:pt idx="76">
                  <c:v>8.2302499999999998</c:v>
                </c:pt>
                <c:pt idx="77">
                  <c:v>9.3625299999999996</c:v>
                </c:pt>
                <c:pt idx="78">
                  <c:v>8.9777199999999997</c:v>
                </c:pt>
                <c:pt idx="79">
                  <c:v>8.9826800000000002</c:v>
                </c:pt>
                <c:pt idx="80">
                  <c:v>8.4907000000000004</c:v>
                </c:pt>
                <c:pt idx="81">
                  <c:v>7.8836399999999998</c:v>
                </c:pt>
                <c:pt idx="82">
                  <c:v>6.6765800000000004</c:v>
                </c:pt>
                <c:pt idx="83">
                  <c:v>5.7064500000000002</c:v>
                </c:pt>
                <c:pt idx="84">
                  <c:v>5.5393999999999997</c:v>
                </c:pt>
                <c:pt idx="85">
                  <c:v>7.1558000000000002</c:v>
                </c:pt>
                <c:pt idx="86">
                  <c:v>6.6981400000000004</c:v>
                </c:pt>
                <c:pt idx="87">
                  <c:v>6.1456099999999996</c:v>
                </c:pt>
                <c:pt idx="88">
                  <c:v>5.9844400000000002</c:v>
                </c:pt>
                <c:pt idx="89">
                  <c:v>5.8047800000000001</c:v>
                </c:pt>
                <c:pt idx="90">
                  <c:v>5.6983699999999997</c:v>
                </c:pt>
                <c:pt idx="91">
                  <c:v>5.1451399999999996</c:v>
                </c:pt>
                <c:pt idx="92">
                  <c:v>5.0148000000000001</c:v>
                </c:pt>
                <c:pt idx="93">
                  <c:v>5.0409199999999998</c:v>
                </c:pt>
                <c:pt idx="94">
                  <c:v>5.0271400000000002</c:v>
                </c:pt>
                <c:pt idx="95">
                  <c:v>5.4026399999999999</c:v>
                </c:pt>
                <c:pt idx="96">
                  <c:v>5.6773600000000002</c:v>
                </c:pt>
                <c:pt idx="97">
                  <c:v>5.3027800000000003</c:v>
                </c:pt>
                <c:pt idx="98">
                  <c:v>5.1037400000000002</c:v>
                </c:pt>
                <c:pt idx="99">
                  <c:v>5.0312599999999996</c:v>
                </c:pt>
                <c:pt idx="100">
                  <c:v>5.3103400000000001</c:v>
                </c:pt>
                <c:pt idx="101">
                  <c:v>5.3656899999999998</c:v>
                </c:pt>
                <c:pt idx="102">
                  <c:v>5.4130200000000004</c:v>
                </c:pt>
                <c:pt idx="103">
                  <c:v>5.5260100000000003</c:v>
                </c:pt>
                <c:pt idx="104">
                  <c:v>5.0331200000000003</c:v>
                </c:pt>
                <c:pt idx="105">
                  <c:v>4.8956499999999998</c:v>
                </c:pt>
                <c:pt idx="106">
                  <c:v>5.0031600000000003</c:v>
                </c:pt>
                <c:pt idx="107">
                  <c:v>5.0064599999999997</c:v>
                </c:pt>
                <c:pt idx="108">
                  <c:v>5.2994399999999997</c:v>
                </c:pt>
                <c:pt idx="109">
                  <c:v>5.3172300000000003</c:v>
                </c:pt>
                <c:pt idx="110">
                  <c:v>5.2858900000000002</c:v>
                </c:pt>
                <c:pt idx="111">
                  <c:v>4.9955999999999996</c:v>
                </c:pt>
                <c:pt idx="112">
                  <c:v>4.9417299999999997</c:v>
                </c:pt>
                <c:pt idx="113">
                  <c:v>5.0377700000000001</c:v>
                </c:pt>
                <c:pt idx="114">
                  <c:v>5.2331200000000004</c:v>
                </c:pt>
                <c:pt idx="115">
                  <c:v>5.2669800000000002</c:v>
                </c:pt>
                <c:pt idx="116">
                  <c:v>5.0866400000000001</c:v>
                </c:pt>
                <c:pt idx="117">
                  <c:v>5.4373399999999998</c:v>
                </c:pt>
                <c:pt idx="118">
                  <c:v>4.8754</c:v>
                </c:pt>
                <c:pt idx="119">
                  <c:v>4.7988099999999996</c:v>
                </c:pt>
                <c:pt idx="120">
                  <c:v>4.84178</c:v>
                </c:pt>
                <c:pt idx="121">
                  <c:v>5.0055800000000001</c:v>
                </c:pt>
                <c:pt idx="122">
                  <c:v>5.6560899999999998</c:v>
                </c:pt>
                <c:pt idx="123">
                  <c:v>5.5885499999999997</c:v>
                </c:pt>
                <c:pt idx="124">
                  <c:v>5.4756499999999999</c:v>
                </c:pt>
                <c:pt idx="125">
                  <c:v>4.9704199999999998</c:v>
                </c:pt>
                <c:pt idx="126">
                  <c:v>4.7572700000000001</c:v>
                </c:pt>
                <c:pt idx="127">
                  <c:v>5.16683</c:v>
                </c:pt>
                <c:pt idx="128">
                  <c:v>5.03416</c:v>
                </c:pt>
                <c:pt idx="129">
                  <c:v>5.2027099999999997</c:v>
                </c:pt>
                <c:pt idx="130">
                  <c:v>5.4902499999999996</c:v>
                </c:pt>
                <c:pt idx="131">
                  <c:v>5.3892600000000002</c:v>
                </c:pt>
                <c:pt idx="132">
                  <c:v>5.1496599999999999</c:v>
                </c:pt>
                <c:pt idx="133">
                  <c:v>5.2619600000000002</c:v>
                </c:pt>
                <c:pt idx="134">
                  <c:v>5.8935700000000004</c:v>
                </c:pt>
                <c:pt idx="135">
                  <c:v>5.3749599999999997</c:v>
                </c:pt>
                <c:pt idx="136">
                  <c:v>5.5307199999999996</c:v>
                </c:pt>
                <c:pt idx="137">
                  <c:v>5.5704599999999997</c:v>
                </c:pt>
                <c:pt idx="138">
                  <c:v>5.4685199999999998</c:v>
                </c:pt>
                <c:pt idx="139">
                  <c:v>4.9045100000000001</c:v>
                </c:pt>
                <c:pt idx="140">
                  <c:v>5.0403599999999997</c:v>
                </c:pt>
                <c:pt idx="141">
                  <c:v>4.78627</c:v>
                </c:pt>
                <c:pt idx="142">
                  <c:v>4.8111899999999999</c:v>
                </c:pt>
                <c:pt idx="143">
                  <c:v>5.19651</c:v>
                </c:pt>
                <c:pt idx="144">
                  <c:v>5.1681999999999997</c:v>
                </c:pt>
                <c:pt idx="145">
                  <c:v>5.2062799999999996</c:v>
                </c:pt>
                <c:pt idx="146">
                  <c:v>5.0005699999999997</c:v>
                </c:pt>
                <c:pt idx="147">
                  <c:v>5.1936799999999996</c:v>
                </c:pt>
                <c:pt idx="148">
                  <c:v>5.4926899999999996</c:v>
                </c:pt>
                <c:pt idx="149">
                  <c:v>5.0845799999999999</c:v>
                </c:pt>
                <c:pt idx="150">
                  <c:v>5.2437899999999997</c:v>
                </c:pt>
                <c:pt idx="151">
                  <c:v>5.1597499999999998</c:v>
                </c:pt>
                <c:pt idx="152">
                  <c:v>5.0501300000000002</c:v>
                </c:pt>
                <c:pt idx="153">
                  <c:v>4.7302499999999998</c:v>
                </c:pt>
                <c:pt idx="154">
                  <c:v>5.4294399999999996</c:v>
                </c:pt>
                <c:pt idx="155">
                  <c:v>5.1381600000000001</c:v>
                </c:pt>
                <c:pt idx="156">
                  <c:v>4.6669600000000004</c:v>
                </c:pt>
                <c:pt idx="157">
                  <c:v>5.23637</c:v>
                </c:pt>
                <c:pt idx="158">
                  <c:v>5.69747</c:v>
                </c:pt>
                <c:pt idx="159">
                  <c:v>6.6591800000000001</c:v>
                </c:pt>
                <c:pt idx="160">
                  <c:v>6.2460199999999997</c:v>
                </c:pt>
                <c:pt idx="161">
                  <c:v>5.7934999999999999</c:v>
                </c:pt>
                <c:pt idx="162">
                  <c:v>5.4456499999999997</c:v>
                </c:pt>
                <c:pt idx="163">
                  <c:v>5.3228799999999996</c:v>
                </c:pt>
                <c:pt idx="164">
                  <c:v>5.0974700000000004</c:v>
                </c:pt>
                <c:pt idx="165">
                  <c:v>5.4958</c:v>
                </c:pt>
                <c:pt idx="166">
                  <c:v>5.4588400000000004</c:v>
                </c:pt>
                <c:pt idx="167">
                  <c:v>5.2698799999999997</c:v>
                </c:pt>
                <c:pt idx="168">
                  <c:v>5.1542000000000003</c:v>
                </c:pt>
                <c:pt idx="169">
                  <c:v>5.20465</c:v>
                </c:pt>
                <c:pt idx="170">
                  <c:v>5.12385</c:v>
                </c:pt>
                <c:pt idx="171">
                  <c:v>5.2446400000000004</c:v>
                </c:pt>
                <c:pt idx="172">
                  <c:v>5.32646</c:v>
                </c:pt>
                <c:pt idx="173">
                  <c:v>5.6383000000000001</c:v>
                </c:pt>
                <c:pt idx="174">
                  <c:v>5.1490400000000003</c:v>
                </c:pt>
                <c:pt idx="175">
                  <c:v>5.0618100000000004</c:v>
                </c:pt>
                <c:pt idx="176">
                  <c:v>5.4870900000000002</c:v>
                </c:pt>
                <c:pt idx="177">
                  <c:v>5.6174999999999997</c:v>
                </c:pt>
                <c:pt idx="178">
                  <c:v>5.6737900000000003</c:v>
                </c:pt>
                <c:pt idx="179">
                  <c:v>6.3362699999999998</c:v>
                </c:pt>
                <c:pt idx="180">
                  <c:v>6.8498599999999996</c:v>
                </c:pt>
                <c:pt idx="181">
                  <c:v>7.2936899999999998</c:v>
                </c:pt>
                <c:pt idx="182">
                  <c:v>7.1609699999999998</c:v>
                </c:pt>
                <c:pt idx="183">
                  <c:v>6.5587499999999999</c:v>
                </c:pt>
                <c:pt idx="184">
                  <c:v>6.5812799999999996</c:v>
                </c:pt>
                <c:pt idx="185">
                  <c:v>5.9389200000000004</c:v>
                </c:pt>
                <c:pt idx="186">
                  <c:v>5.8847399999999999</c:v>
                </c:pt>
                <c:pt idx="187">
                  <c:v>5.6414499999999999</c:v>
                </c:pt>
                <c:pt idx="188">
                  <c:v>5.3142300000000002</c:v>
                </c:pt>
                <c:pt idx="189">
                  <c:v>5.13483</c:v>
                </c:pt>
                <c:pt idx="190">
                  <c:v>5.3347499999999997</c:v>
                </c:pt>
                <c:pt idx="191">
                  <c:v>5.3544799999999997</c:v>
                </c:pt>
                <c:pt idx="192">
                  <c:v>5.2813299999999996</c:v>
                </c:pt>
                <c:pt idx="193">
                  <c:v>5.5568900000000001</c:v>
                </c:pt>
                <c:pt idx="194">
                  <c:v>5.4139200000000001</c:v>
                </c:pt>
                <c:pt idx="195">
                  <c:v>5.1282899999999998</c:v>
                </c:pt>
                <c:pt idx="196">
                  <c:v>5.0544399999999996</c:v>
                </c:pt>
                <c:pt idx="197">
                  <c:v>5.7871199999999998</c:v>
                </c:pt>
                <c:pt idx="198">
                  <c:v>5.7320099999999998</c:v>
                </c:pt>
                <c:pt idx="199">
                  <c:v>5.5973499999999996</c:v>
                </c:pt>
                <c:pt idx="200">
                  <c:v>5.7764600000000002</c:v>
                </c:pt>
                <c:pt idx="201">
                  <c:v>5.6165000000000003</c:v>
                </c:pt>
                <c:pt idx="202">
                  <c:v>5.8888100000000003</c:v>
                </c:pt>
                <c:pt idx="203">
                  <c:v>5.5585500000000003</c:v>
                </c:pt>
                <c:pt idx="204">
                  <c:v>5.71767</c:v>
                </c:pt>
                <c:pt idx="205">
                  <c:v>5.4608800000000004</c:v>
                </c:pt>
                <c:pt idx="206">
                  <c:v>6.4706299999999999</c:v>
                </c:pt>
                <c:pt idx="207">
                  <c:v>7.0736600000000003</c:v>
                </c:pt>
                <c:pt idx="208">
                  <c:v>7.57172</c:v>
                </c:pt>
                <c:pt idx="209">
                  <c:v>6.9963899999999999</c:v>
                </c:pt>
                <c:pt idx="210">
                  <c:v>6.46671</c:v>
                </c:pt>
                <c:pt idx="211">
                  <c:v>6.4614200000000004</c:v>
                </c:pt>
                <c:pt idx="212">
                  <c:v>5.9537699999999996</c:v>
                </c:pt>
                <c:pt idx="213">
                  <c:v>6.0974399999999997</c:v>
                </c:pt>
                <c:pt idx="214">
                  <c:v>5.9244000000000003</c:v>
                </c:pt>
                <c:pt idx="215">
                  <c:v>6.2461599999999997</c:v>
                </c:pt>
                <c:pt idx="216">
                  <c:v>6.0756699999999997</c:v>
                </c:pt>
                <c:pt idx="217">
                  <c:v>5.7214700000000001</c:v>
                </c:pt>
                <c:pt idx="218">
                  <c:v>6.2858599999999996</c:v>
                </c:pt>
                <c:pt idx="219">
                  <c:v>6.8427600000000002</c:v>
                </c:pt>
                <c:pt idx="220">
                  <c:v>7.2386999999999997</c:v>
                </c:pt>
                <c:pt idx="221">
                  <c:v>7.0459800000000001</c:v>
                </c:pt>
                <c:pt idx="222">
                  <c:v>6.6120999999999999</c:v>
                </c:pt>
                <c:pt idx="223">
                  <c:v>5.8478599999999998</c:v>
                </c:pt>
                <c:pt idx="224">
                  <c:v>5.6352399999999996</c:v>
                </c:pt>
                <c:pt idx="225">
                  <c:v>5.6135700000000002</c:v>
                </c:pt>
                <c:pt idx="226">
                  <c:v>5.6514300000000004</c:v>
                </c:pt>
                <c:pt idx="227">
                  <c:v>5.7250399999999999</c:v>
                </c:pt>
                <c:pt idx="228">
                  <c:v>6.7843299999999997</c:v>
                </c:pt>
                <c:pt idx="229">
                  <c:v>8.9318899999999992</c:v>
                </c:pt>
                <c:pt idx="230">
                  <c:v>9.1313999999999993</c:v>
                </c:pt>
                <c:pt idx="231">
                  <c:v>9.7397799999999997</c:v>
                </c:pt>
                <c:pt idx="232">
                  <c:v>9.8175000000000008</c:v>
                </c:pt>
                <c:pt idx="233">
                  <c:v>7.9027000000000003</c:v>
                </c:pt>
                <c:pt idx="234">
                  <c:v>9.1589299999999998</c:v>
                </c:pt>
                <c:pt idx="235">
                  <c:v>9.8551000000000002</c:v>
                </c:pt>
                <c:pt idx="236">
                  <c:v>10.20242</c:v>
                </c:pt>
                <c:pt idx="237">
                  <c:v>9.03688</c:v>
                </c:pt>
                <c:pt idx="238">
                  <c:v>10.115349999999999</c:v>
                </c:pt>
                <c:pt idx="239">
                  <c:v>9.3262900000000002</c:v>
                </c:pt>
                <c:pt idx="240">
                  <c:v>9.4284400000000002</c:v>
                </c:pt>
                <c:pt idx="241">
                  <c:v>9.8241499999999995</c:v>
                </c:pt>
                <c:pt idx="242">
                  <c:v>9.67075</c:v>
                </c:pt>
                <c:pt idx="243">
                  <c:v>9.9609799999999993</c:v>
                </c:pt>
                <c:pt idx="244">
                  <c:v>10.71618</c:v>
                </c:pt>
                <c:pt idx="245">
                  <c:v>11.395300000000001</c:v>
                </c:pt>
                <c:pt idx="246">
                  <c:v>12.84028</c:v>
                </c:pt>
                <c:pt idx="247">
                  <c:v>13.42295</c:v>
                </c:pt>
                <c:pt idx="248">
                  <c:v>13.86693</c:v>
                </c:pt>
                <c:pt idx="249">
                  <c:v>12.36149</c:v>
                </c:pt>
                <c:pt idx="250">
                  <c:v>10.612880000000001</c:v>
                </c:pt>
                <c:pt idx="251">
                  <c:v>12.03726</c:v>
                </c:pt>
                <c:pt idx="252">
                  <c:v>12.73546</c:v>
                </c:pt>
                <c:pt idx="253">
                  <c:v>13.756119999999999</c:v>
                </c:pt>
                <c:pt idx="254">
                  <c:v>12.918530000000001</c:v>
                </c:pt>
                <c:pt idx="255">
                  <c:v>14.55781</c:v>
                </c:pt>
                <c:pt idx="256">
                  <c:v>16.404170000000001</c:v>
                </c:pt>
                <c:pt idx="257">
                  <c:v>11.106299999999999</c:v>
                </c:pt>
                <c:pt idx="258">
                  <c:v>12.072419999999999</c:v>
                </c:pt>
                <c:pt idx="259">
                  <c:v>12.16812</c:v>
                </c:pt>
                <c:pt idx="260">
                  <c:v>13.194100000000001</c:v>
                </c:pt>
                <c:pt idx="261">
                  <c:v>14.91283</c:v>
                </c:pt>
                <c:pt idx="262">
                  <c:v>15.570169999999999</c:v>
                </c:pt>
                <c:pt idx="263">
                  <c:v>12.45284</c:v>
                </c:pt>
                <c:pt idx="264">
                  <c:v>11.724270000000001</c:v>
                </c:pt>
                <c:pt idx="265">
                  <c:v>13.14419</c:v>
                </c:pt>
                <c:pt idx="266">
                  <c:v>15.51811</c:v>
                </c:pt>
                <c:pt idx="267">
                  <c:v>15.52773</c:v>
                </c:pt>
                <c:pt idx="268">
                  <c:v>15.64676</c:v>
                </c:pt>
                <c:pt idx="269">
                  <c:v>17.999780000000001</c:v>
                </c:pt>
                <c:pt idx="270">
                  <c:v>18.31204</c:v>
                </c:pt>
                <c:pt idx="271">
                  <c:v>17.37753</c:v>
                </c:pt>
                <c:pt idx="272">
                  <c:v>17.603580000000001</c:v>
                </c:pt>
                <c:pt idx="273">
                  <c:v>17.758369999999999</c:v>
                </c:pt>
                <c:pt idx="274">
                  <c:v>19.456779999999998</c:v>
                </c:pt>
                <c:pt idx="275">
                  <c:v>19.47071</c:v>
                </c:pt>
                <c:pt idx="276">
                  <c:v>22.396899999999999</c:v>
                </c:pt>
                <c:pt idx="277">
                  <c:v>25.735220000000002</c:v>
                </c:pt>
                <c:pt idx="278">
                  <c:v>23.694379999999999</c:v>
                </c:pt>
                <c:pt idx="279">
                  <c:v>18.524840000000001</c:v>
                </c:pt>
                <c:pt idx="280">
                  <c:v>18.497969999999999</c:v>
                </c:pt>
                <c:pt idx="281">
                  <c:v>19.819759999999999</c:v>
                </c:pt>
                <c:pt idx="282">
                  <c:v>18.180969999999999</c:v>
                </c:pt>
                <c:pt idx="283">
                  <c:v>16.74156</c:v>
                </c:pt>
                <c:pt idx="284">
                  <c:v>15.743270000000001</c:v>
                </c:pt>
                <c:pt idx="285">
                  <c:v>14.03323</c:v>
                </c:pt>
                <c:pt idx="286">
                  <c:v>13.576269999999999</c:v>
                </c:pt>
                <c:pt idx="287">
                  <c:v>14.734870000000001</c:v>
                </c:pt>
                <c:pt idx="288">
                  <c:v>15.67488</c:v>
                </c:pt>
                <c:pt idx="289">
                  <c:v>16.636810000000001</c:v>
                </c:pt>
                <c:pt idx="290">
                  <c:v>19.385809999999999</c:v>
                </c:pt>
                <c:pt idx="291">
                  <c:v>20.135280000000002</c:v>
                </c:pt>
                <c:pt idx="292">
                  <c:v>18.958760000000002</c:v>
                </c:pt>
                <c:pt idx="293">
                  <c:v>17.318300000000001</c:v>
                </c:pt>
                <c:pt idx="294">
                  <c:v>16.930820000000001</c:v>
                </c:pt>
                <c:pt idx="295">
                  <c:v>15.80729</c:v>
                </c:pt>
                <c:pt idx="296">
                  <c:v>15.9315</c:v>
                </c:pt>
                <c:pt idx="297">
                  <c:v>15.7401</c:v>
                </c:pt>
                <c:pt idx="298">
                  <c:v>15.34534</c:v>
                </c:pt>
                <c:pt idx="299">
                  <c:v>14.09468</c:v>
                </c:pt>
                <c:pt idx="300">
                  <c:v>15.37917</c:v>
                </c:pt>
                <c:pt idx="301">
                  <c:v>16.37969</c:v>
                </c:pt>
                <c:pt idx="302">
                  <c:v>15.81451</c:v>
                </c:pt>
                <c:pt idx="303">
                  <c:v>13.25122</c:v>
                </c:pt>
                <c:pt idx="304">
                  <c:v>14.28092</c:v>
                </c:pt>
                <c:pt idx="305">
                  <c:v>16.954270000000001</c:v>
                </c:pt>
                <c:pt idx="306">
                  <c:v>15.481059999999999</c:v>
                </c:pt>
                <c:pt idx="307">
                  <c:v>14.8714</c:v>
                </c:pt>
                <c:pt idx="308">
                  <c:v>12.207599999999999</c:v>
                </c:pt>
                <c:pt idx="309">
                  <c:v>13.95257</c:v>
                </c:pt>
                <c:pt idx="310">
                  <c:v>15.71733</c:v>
                </c:pt>
                <c:pt idx="311">
                  <c:v>17.45504</c:v>
                </c:pt>
                <c:pt idx="312">
                  <c:v>19.224589999999999</c:v>
                </c:pt>
                <c:pt idx="313">
                  <c:v>22.60839</c:v>
                </c:pt>
                <c:pt idx="314">
                  <c:v>23.7776</c:v>
                </c:pt>
                <c:pt idx="315">
                  <c:v>23.099240000000002</c:v>
                </c:pt>
                <c:pt idx="316">
                  <c:v>23.3718</c:v>
                </c:pt>
                <c:pt idx="317">
                  <c:v>23.588329999999999</c:v>
                </c:pt>
                <c:pt idx="318">
                  <c:v>24.311150000000001</c:v>
                </c:pt>
                <c:pt idx="319">
                  <c:v>22.368189999999998</c:v>
                </c:pt>
                <c:pt idx="320">
                  <c:v>21.179670000000002</c:v>
                </c:pt>
                <c:pt idx="321">
                  <c:v>20.49522</c:v>
                </c:pt>
                <c:pt idx="322">
                  <c:v>17.457519999999999</c:v>
                </c:pt>
                <c:pt idx="323">
                  <c:v>16.756730000000001</c:v>
                </c:pt>
                <c:pt idx="324">
                  <c:v>22.149819999999998</c:v>
                </c:pt>
                <c:pt idx="325">
                  <c:v>24.35444</c:v>
                </c:pt>
                <c:pt idx="326">
                  <c:v>23.349430000000002</c:v>
                </c:pt>
                <c:pt idx="327">
                  <c:v>18.158860000000001</c:v>
                </c:pt>
                <c:pt idx="328">
                  <c:v>15.05198</c:v>
                </c:pt>
                <c:pt idx="329">
                  <c:v>12.78898</c:v>
                </c:pt>
                <c:pt idx="330">
                  <c:v>12.828150000000001</c:v>
                </c:pt>
                <c:pt idx="331">
                  <c:v>13.9215</c:v>
                </c:pt>
                <c:pt idx="332">
                  <c:v>15.70312</c:v>
                </c:pt>
                <c:pt idx="333">
                  <c:v>17.97232</c:v>
                </c:pt>
                <c:pt idx="334">
                  <c:v>17.627320000000001</c:v>
                </c:pt>
                <c:pt idx="335">
                  <c:v>15.73085</c:v>
                </c:pt>
                <c:pt idx="336">
                  <c:v>14.983040000000001</c:v>
                </c:pt>
                <c:pt idx="337">
                  <c:v>15.20646</c:v>
                </c:pt>
                <c:pt idx="338">
                  <c:v>14.567740000000001</c:v>
                </c:pt>
                <c:pt idx="339">
                  <c:v>14.580450000000001</c:v>
                </c:pt>
                <c:pt idx="340">
                  <c:v>14.518380000000001</c:v>
                </c:pt>
                <c:pt idx="341">
                  <c:v>14.303369999999999</c:v>
                </c:pt>
                <c:pt idx="342">
                  <c:v>14.26623</c:v>
                </c:pt>
                <c:pt idx="343">
                  <c:v>13.511340000000001</c:v>
                </c:pt>
                <c:pt idx="344">
                  <c:v>12.51779</c:v>
                </c:pt>
                <c:pt idx="345">
                  <c:v>13.3485</c:v>
                </c:pt>
                <c:pt idx="346">
                  <c:v>13.31263</c:v>
                </c:pt>
                <c:pt idx="347">
                  <c:v>14.17083</c:v>
                </c:pt>
                <c:pt idx="348">
                  <c:v>13.46354</c:v>
                </c:pt>
                <c:pt idx="349">
                  <c:v>13.20495</c:v>
                </c:pt>
                <c:pt idx="350">
                  <c:v>11.842560000000001</c:v>
                </c:pt>
                <c:pt idx="351">
                  <c:v>12.0228</c:v>
                </c:pt>
                <c:pt idx="352">
                  <c:v>10.58104</c:v>
                </c:pt>
                <c:pt idx="353">
                  <c:v>11.97837</c:v>
                </c:pt>
                <c:pt idx="354">
                  <c:v>11.881959999999999</c:v>
                </c:pt>
                <c:pt idx="355">
                  <c:v>11.26422</c:v>
                </c:pt>
                <c:pt idx="356">
                  <c:v>12.138920000000001</c:v>
                </c:pt>
                <c:pt idx="357">
                  <c:v>11.61863</c:v>
                </c:pt>
                <c:pt idx="358">
                  <c:v>12.433149999999999</c:v>
                </c:pt>
                <c:pt idx="359">
                  <c:v>14.215260000000001</c:v>
                </c:pt>
                <c:pt idx="360">
                  <c:v>13.995810000000001</c:v>
                </c:pt>
                <c:pt idx="361">
                  <c:v>13.106070000000001</c:v>
                </c:pt>
                <c:pt idx="362">
                  <c:v>11.68535</c:v>
                </c:pt>
                <c:pt idx="363">
                  <c:v>11.34435</c:v>
                </c:pt>
              </c:numCache>
            </c:numRef>
          </c:yVal>
          <c:smooth val="1"/>
          <c:extLst>
            <c:ext xmlns:c16="http://schemas.microsoft.com/office/drawing/2014/chart" uri="{C3380CC4-5D6E-409C-BE32-E72D297353CC}">
              <c16:uniqueId val="{00000000-468E-5F4F-8C15-52B8AED37A09}"/>
            </c:ext>
          </c:extLst>
        </c:ser>
        <c:ser>
          <c:idx val="1"/>
          <c:order val="1"/>
          <c:tx>
            <c:v>A forecast</c:v>
          </c:tx>
          <c:spPr>
            <a:ln w="23813">
              <a:solidFill>
                <a:srgbClr val="C00000"/>
              </a:solidFill>
              <a:prstDash val="dash"/>
            </a:ln>
          </c:spPr>
          <c:marker>
            <c:symbol val="none"/>
          </c:marker>
          <c:xVal>
            <c:numRef>
              <c:f>'Chart Data'!$C$2:$C$365</c:f>
              <c:numCache>
                <c:formatCode>General</c:formatCode>
                <c:ptCount val="364"/>
                <c:pt idx="0">
                  <c:v>44985</c:v>
                </c:pt>
                <c:pt idx="1">
                  <c:v>44986</c:v>
                </c:pt>
                <c:pt idx="2">
                  <c:v>44987</c:v>
                </c:pt>
                <c:pt idx="3">
                  <c:v>44988</c:v>
                </c:pt>
                <c:pt idx="4">
                  <c:v>44989</c:v>
                </c:pt>
                <c:pt idx="5">
                  <c:v>44990</c:v>
                </c:pt>
                <c:pt idx="6">
                  <c:v>44991</c:v>
                </c:pt>
                <c:pt idx="7">
                  <c:v>44992</c:v>
                </c:pt>
                <c:pt idx="8">
                  <c:v>44993</c:v>
                </c:pt>
                <c:pt idx="9">
                  <c:v>44994</c:v>
                </c:pt>
                <c:pt idx="10">
                  <c:v>44995</c:v>
                </c:pt>
                <c:pt idx="11">
                  <c:v>44996</c:v>
                </c:pt>
                <c:pt idx="12">
                  <c:v>44997</c:v>
                </c:pt>
                <c:pt idx="13">
                  <c:v>44998</c:v>
                </c:pt>
                <c:pt idx="14">
                  <c:v>44999</c:v>
                </c:pt>
                <c:pt idx="15">
                  <c:v>45000</c:v>
                </c:pt>
                <c:pt idx="16">
                  <c:v>45001</c:v>
                </c:pt>
                <c:pt idx="17">
                  <c:v>45002</c:v>
                </c:pt>
                <c:pt idx="18">
                  <c:v>45003</c:v>
                </c:pt>
                <c:pt idx="19">
                  <c:v>45004</c:v>
                </c:pt>
                <c:pt idx="20">
                  <c:v>45005</c:v>
                </c:pt>
                <c:pt idx="21">
                  <c:v>45006</c:v>
                </c:pt>
                <c:pt idx="22">
                  <c:v>45007</c:v>
                </c:pt>
                <c:pt idx="23">
                  <c:v>45008</c:v>
                </c:pt>
                <c:pt idx="24">
                  <c:v>45009</c:v>
                </c:pt>
                <c:pt idx="25">
                  <c:v>45010</c:v>
                </c:pt>
                <c:pt idx="26">
                  <c:v>45011</c:v>
                </c:pt>
                <c:pt idx="27">
                  <c:v>45012</c:v>
                </c:pt>
                <c:pt idx="28">
                  <c:v>45013</c:v>
                </c:pt>
                <c:pt idx="29">
                  <c:v>45014</c:v>
                </c:pt>
                <c:pt idx="30">
                  <c:v>45015</c:v>
                </c:pt>
                <c:pt idx="31">
                  <c:v>45016</c:v>
                </c:pt>
                <c:pt idx="32">
                  <c:v>45017</c:v>
                </c:pt>
                <c:pt idx="33">
                  <c:v>45018</c:v>
                </c:pt>
                <c:pt idx="34">
                  <c:v>45019</c:v>
                </c:pt>
                <c:pt idx="35">
                  <c:v>45020</c:v>
                </c:pt>
                <c:pt idx="36">
                  <c:v>45021</c:v>
                </c:pt>
                <c:pt idx="37">
                  <c:v>45022</c:v>
                </c:pt>
                <c:pt idx="38">
                  <c:v>45023</c:v>
                </c:pt>
                <c:pt idx="39">
                  <c:v>45024</c:v>
                </c:pt>
                <c:pt idx="40">
                  <c:v>45025</c:v>
                </c:pt>
                <c:pt idx="41">
                  <c:v>45026</c:v>
                </c:pt>
                <c:pt idx="42">
                  <c:v>45027</c:v>
                </c:pt>
                <c:pt idx="43">
                  <c:v>45028</c:v>
                </c:pt>
                <c:pt idx="44">
                  <c:v>45029</c:v>
                </c:pt>
                <c:pt idx="45">
                  <c:v>45030</c:v>
                </c:pt>
                <c:pt idx="46">
                  <c:v>45031</c:v>
                </c:pt>
                <c:pt idx="47">
                  <c:v>45032</c:v>
                </c:pt>
                <c:pt idx="48">
                  <c:v>45033</c:v>
                </c:pt>
                <c:pt idx="49">
                  <c:v>45034</c:v>
                </c:pt>
                <c:pt idx="50">
                  <c:v>45035</c:v>
                </c:pt>
                <c:pt idx="51">
                  <c:v>45036</c:v>
                </c:pt>
                <c:pt idx="52">
                  <c:v>45037</c:v>
                </c:pt>
                <c:pt idx="53">
                  <c:v>45038</c:v>
                </c:pt>
                <c:pt idx="54">
                  <c:v>45039</c:v>
                </c:pt>
                <c:pt idx="55">
                  <c:v>45040</c:v>
                </c:pt>
                <c:pt idx="56">
                  <c:v>45041</c:v>
                </c:pt>
                <c:pt idx="57">
                  <c:v>45042</c:v>
                </c:pt>
                <c:pt idx="58">
                  <c:v>45043</c:v>
                </c:pt>
                <c:pt idx="59">
                  <c:v>45044</c:v>
                </c:pt>
                <c:pt idx="60">
                  <c:v>45045</c:v>
                </c:pt>
                <c:pt idx="61">
                  <c:v>45046</c:v>
                </c:pt>
                <c:pt idx="62">
                  <c:v>45047</c:v>
                </c:pt>
                <c:pt idx="63">
                  <c:v>45048</c:v>
                </c:pt>
                <c:pt idx="64">
                  <c:v>45049</c:v>
                </c:pt>
                <c:pt idx="65">
                  <c:v>45050</c:v>
                </c:pt>
                <c:pt idx="66">
                  <c:v>45051</c:v>
                </c:pt>
                <c:pt idx="67">
                  <c:v>45052</c:v>
                </c:pt>
                <c:pt idx="68">
                  <c:v>45053</c:v>
                </c:pt>
                <c:pt idx="69">
                  <c:v>45054</c:v>
                </c:pt>
                <c:pt idx="70">
                  <c:v>45055</c:v>
                </c:pt>
                <c:pt idx="71">
                  <c:v>45056</c:v>
                </c:pt>
                <c:pt idx="72">
                  <c:v>45057</c:v>
                </c:pt>
                <c:pt idx="73">
                  <c:v>45058</c:v>
                </c:pt>
                <c:pt idx="74">
                  <c:v>45059</c:v>
                </c:pt>
                <c:pt idx="75">
                  <c:v>45060</c:v>
                </c:pt>
                <c:pt idx="76">
                  <c:v>45061</c:v>
                </c:pt>
                <c:pt idx="77">
                  <c:v>45062</c:v>
                </c:pt>
                <c:pt idx="78">
                  <c:v>45063</c:v>
                </c:pt>
                <c:pt idx="79">
                  <c:v>45064</c:v>
                </c:pt>
                <c:pt idx="80">
                  <c:v>45065</c:v>
                </c:pt>
                <c:pt idx="81">
                  <c:v>45066</c:v>
                </c:pt>
                <c:pt idx="82">
                  <c:v>45067</c:v>
                </c:pt>
                <c:pt idx="83">
                  <c:v>45068</c:v>
                </c:pt>
                <c:pt idx="84">
                  <c:v>45069</c:v>
                </c:pt>
                <c:pt idx="85">
                  <c:v>45070</c:v>
                </c:pt>
                <c:pt idx="86">
                  <c:v>45071</c:v>
                </c:pt>
                <c:pt idx="87">
                  <c:v>45072</c:v>
                </c:pt>
                <c:pt idx="88">
                  <c:v>45073</c:v>
                </c:pt>
                <c:pt idx="89">
                  <c:v>45074</c:v>
                </c:pt>
                <c:pt idx="90">
                  <c:v>45075</c:v>
                </c:pt>
                <c:pt idx="91">
                  <c:v>45076</c:v>
                </c:pt>
                <c:pt idx="92">
                  <c:v>45077</c:v>
                </c:pt>
                <c:pt idx="93">
                  <c:v>45078</c:v>
                </c:pt>
                <c:pt idx="94">
                  <c:v>45079</c:v>
                </c:pt>
                <c:pt idx="95">
                  <c:v>45080</c:v>
                </c:pt>
                <c:pt idx="96">
                  <c:v>45081</c:v>
                </c:pt>
                <c:pt idx="97">
                  <c:v>45082</c:v>
                </c:pt>
                <c:pt idx="98">
                  <c:v>45083</c:v>
                </c:pt>
                <c:pt idx="99">
                  <c:v>45084</c:v>
                </c:pt>
                <c:pt idx="100">
                  <c:v>45085</c:v>
                </c:pt>
                <c:pt idx="101">
                  <c:v>45086</c:v>
                </c:pt>
                <c:pt idx="102">
                  <c:v>45087</c:v>
                </c:pt>
                <c:pt idx="103">
                  <c:v>45088</c:v>
                </c:pt>
                <c:pt idx="104">
                  <c:v>45089</c:v>
                </c:pt>
                <c:pt idx="105">
                  <c:v>45090</c:v>
                </c:pt>
                <c:pt idx="106">
                  <c:v>45091</c:v>
                </c:pt>
                <c:pt idx="107">
                  <c:v>45092</c:v>
                </c:pt>
                <c:pt idx="108">
                  <c:v>45093</c:v>
                </c:pt>
                <c:pt idx="109">
                  <c:v>45094</c:v>
                </c:pt>
                <c:pt idx="110">
                  <c:v>45095</c:v>
                </c:pt>
                <c:pt idx="111">
                  <c:v>45096</c:v>
                </c:pt>
                <c:pt idx="112">
                  <c:v>45097</c:v>
                </c:pt>
                <c:pt idx="113">
                  <c:v>45098</c:v>
                </c:pt>
                <c:pt idx="114">
                  <c:v>45099</c:v>
                </c:pt>
                <c:pt idx="115">
                  <c:v>45100</c:v>
                </c:pt>
                <c:pt idx="116">
                  <c:v>45101</c:v>
                </c:pt>
                <c:pt idx="117">
                  <c:v>45102</c:v>
                </c:pt>
                <c:pt idx="118">
                  <c:v>45103</c:v>
                </c:pt>
                <c:pt idx="119">
                  <c:v>45104</c:v>
                </c:pt>
                <c:pt idx="120">
                  <c:v>45105</c:v>
                </c:pt>
                <c:pt idx="121">
                  <c:v>45106</c:v>
                </c:pt>
                <c:pt idx="122">
                  <c:v>45107</c:v>
                </c:pt>
                <c:pt idx="123">
                  <c:v>45108</c:v>
                </c:pt>
                <c:pt idx="124">
                  <c:v>45109</c:v>
                </c:pt>
                <c:pt idx="125">
                  <c:v>45110</c:v>
                </c:pt>
                <c:pt idx="126">
                  <c:v>45111</c:v>
                </c:pt>
                <c:pt idx="127">
                  <c:v>45112</c:v>
                </c:pt>
                <c:pt idx="128">
                  <c:v>45113</c:v>
                </c:pt>
                <c:pt idx="129">
                  <c:v>45114</c:v>
                </c:pt>
                <c:pt idx="130">
                  <c:v>45115</c:v>
                </c:pt>
                <c:pt idx="131">
                  <c:v>45116</c:v>
                </c:pt>
                <c:pt idx="132">
                  <c:v>45117</c:v>
                </c:pt>
                <c:pt idx="133">
                  <c:v>45118</c:v>
                </c:pt>
                <c:pt idx="134">
                  <c:v>45119</c:v>
                </c:pt>
                <c:pt idx="135">
                  <c:v>45120</c:v>
                </c:pt>
                <c:pt idx="136">
                  <c:v>45121</c:v>
                </c:pt>
                <c:pt idx="137">
                  <c:v>45122</c:v>
                </c:pt>
                <c:pt idx="138">
                  <c:v>45123</c:v>
                </c:pt>
                <c:pt idx="139">
                  <c:v>45124</c:v>
                </c:pt>
                <c:pt idx="140">
                  <c:v>45125</c:v>
                </c:pt>
                <c:pt idx="141">
                  <c:v>45126</c:v>
                </c:pt>
                <c:pt idx="142">
                  <c:v>45127</c:v>
                </c:pt>
                <c:pt idx="143">
                  <c:v>45128</c:v>
                </c:pt>
                <c:pt idx="144">
                  <c:v>45129</c:v>
                </c:pt>
                <c:pt idx="145">
                  <c:v>45130</c:v>
                </c:pt>
                <c:pt idx="146">
                  <c:v>45131</c:v>
                </c:pt>
                <c:pt idx="147">
                  <c:v>45132</c:v>
                </c:pt>
                <c:pt idx="148">
                  <c:v>45133</c:v>
                </c:pt>
                <c:pt idx="149">
                  <c:v>45134</c:v>
                </c:pt>
                <c:pt idx="150">
                  <c:v>45135</c:v>
                </c:pt>
                <c:pt idx="151">
                  <c:v>45136</c:v>
                </c:pt>
                <c:pt idx="152">
                  <c:v>45137</c:v>
                </c:pt>
                <c:pt idx="153">
                  <c:v>45138</c:v>
                </c:pt>
                <c:pt idx="154">
                  <c:v>45139</c:v>
                </c:pt>
                <c:pt idx="155">
                  <c:v>45140</c:v>
                </c:pt>
                <c:pt idx="156">
                  <c:v>45141</c:v>
                </c:pt>
                <c:pt idx="157">
                  <c:v>45142</c:v>
                </c:pt>
                <c:pt idx="158">
                  <c:v>45143</c:v>
                </c:pt>
                <c:pt idx="159">
                  <c:v>45144</c:v>
                </c:pt>
                <c:pt idx="160">
                  <c:v>45145</c:v>
                </c:pt>
                <c:pt idx="161">
                  <c:v>45146</c:v>
                </c:pt>
                <c:pt idx="162">
                  <c:v>45147</c:v>
                </c:pt>
                <c:pt idx="163">
                  <c:v>45148</c:v>
                </c:pt>
                <c:pt idx="164">
                  <c:v>45149</c:v>
                </c:pt>
                <c:pt idx="165">
                  <c:v>45150</c:v>
                </c:pt>
                <c:pt idx="166">
                  <c:v>45151</c:v>
                </c:pt>
                <c:pt idx="167">
                  <c:v>45152</c:v>
                </c:pt>
                <c:pt idx="168">
                  <c:v>45153</c:v>
                </c:pt>
                <c:pt idx="169">
                  <c:v>45154</c:v>
                </c:pt>
                <c:pt idx="170">
                  <c:v>45155</c:v>
                </c:pt>
                <c:pt idx="171">
                  <c:v>45156</c:v>
                </c:pt>
                <c:pt idx="172">
                  <c:v>45157</c:v>
                </c:pt>
                <c:pt idx="173">
                  <c:v>45158</c:v>
                </c:pt>
                <c:pt idx="174">
                  <c:v>45159</c:v>
                </c:pt>
                <c:pt idx="175">
                  <c:v>45160</c:v>
                </c:pt>
                <c:pt idx="176">
                  <c:v>45161</c:v>
                </c:pt>
                <c:pt idx="177">
                  <c:v>45162</c:v>
                </c:pt>
                <c:pt idx="178">
                  <c:v>45163</c:v>
                </c:pt>
                <c:pt idx="179">
                  <c:v>45164</c:v>
                </c:pt>
                <c:pt idx="180">
                  <c:v>45165</c:v>
                </c:pt>
                <c:pt idx="181">
                  <c:v>45166</c:v>
                </c:pt>
                <c:pt idx="182">
                  <c:v>45167</c:v>
                </c:pt>
                <c:pt idx="183">
                  <c:v>45168</c:v>
                </c:pt>
                <c:pt idx="184">
                  <c:v>45169</c:v>
                </c:pt>
                <c:pt idx="185">
                  <c:v>45170</c:v>
                </c:pt>
                <c:pt idx="186">
                  <c:v>45171</c:v>
                </c:pt>
                <c:pt idx="187">
                  <c:v>45172</c:v>
                </c:pt>
                <c:pt idx="188">
                  <c:v>45173</c:v>
                </c:pt>
                <c:pt idx="189">
                  <c:v>45174</c:v>
                </c:pt>
                <c:pt idx="190">
                  <c:v>45175</c:v>
                </c:pt>
                <c:pt idx="191">
                  <c:v>45176</c:v>
                </c:pt>
                <c:pt idx="192">
                  <c:v>45177</c:v>
                </c:pt>
                <c:pt idx="193">
                  <c:v>45178</c:v>
                </c:pt>
                <c:pt idx="194">
                  <c:v>45179</c:v>
                </c:pt>
                <c:pt idx="195">
                  <c:v>45180</c:v>
                </c:pt>
                <c:pt idx="196">
                  <c:v>45181</c:v>
                </c:pt>
                <c:pt idx="197">
                  <c:v>45182</c:v>
                </c:pt>
                <c:pt idx="198">
                  <c:v>45183</c:v>
                </c:pt>
                <c:pt idx="199">
                  <c:v>45184</c:v>
                </c:pt>
                <c:pt idx="200">
                  <c:v>45185</c:v>
                </c:pt>
                <c:pt idx="201">
                  <c:v>45186</c:v>
                </c:pt>
                <c:pt idx="202">
                  <c:v>45187</c:v>
                </c:pt>
                <c:pt idx="203">
                  <c:v>45188</c:v>
                </c:pt>
                <c:pt idx="204">
                  <c:v>45189</c:v>
                </c:pt>
                <c:pt idx="205">
                  <c:v>45190</c:v>
                </c:pt>
                <c:pt idx="206">
                  <c:v>45191</c:v>
                </c:pt>
                <c:pt idx="207">
                  <c:v>45192</c:v>
                </c:pt>
                <c:pt idx="208">
                  <c:v>45193</c:v>
                </c:pt>
                <c:pt idx="209">
                  <c:v>45194</c:v>
                </c:pt>
                <c:pt idx="210">
                  <c:v>45195</c:v>
                </c:pt>
                <c:pt idx="211">
                  <c:v>45196</c:v>
                </c:pt>
                <c:pt idx="212">
                  <c:v>45197</c:v>
                </c:pt>
                <c:pt idx="213">
                  <c:v>45198</c:v>
                </c:pt>
                <c:pt idx="214">
                  <c:v>45199</c:v>
                </c:pt>
                <c:pt idx="215">
                  <c:v>45200</c:v>
                </c:pt>
                <c:pt idx="216">
                  <c:v>45201</c:v>
                </c:pt>
                <c:pt idx="217">
                  <c:v>45202</c:v>
                </c:pt>
                <c:pt idx="218">
                  <c:v>45203</c:v>
                </c:pt>
                <c:pt idx="219">
                  <c:v>45204</c:v>
                </c:pt>
                <c:pt idx="220">
                  <c:v>45205</c:v>
                </c:pt>
                <c:pt idx="221">
                  <c:v>45206</c:v>
                </c:pt>
                <c:pt idx="222">
                  <c:v>45207</c:v>
                </c:pt>
                <c:pt idx="223">
                  <c:v>45208</c:v>
                </c:pt>
                <c:pt idx="224">
                  <c:v>45209</c:v>
                </c:pt>
                <c:pt idx="225">
                  <c:v>45210</c:v>
                </c:pt>
                <c:pt idx="226">
                  <c:v>45211</c:v>
                </c:pt>
                <c:pt idx="227">
                  <c:v>45212</c:v>
                </c:pt>
                <c:pt idx="228">
                  <c:v>45213</c:v>
                </c:pt>
                <c:pt idx="229">
                  <c:v>45214</c:v>
                </c:pt>
                <c:pt idx="230">
                  <c:v>45215</c:v>
                </c:pt>
                <c:pt idx="231">
                  <c:v>45216</c:v>
                </c:pt>
                <c:pt idx="232">
                  <c:v>45217</c:v>
                </c:pt>
                <c:pt idx="233">
                  <c:v>45218</c:v>
                </c:pt>
                <c:pt idx="234">
                  <c:v>45219</c:v>
                </c:pt>
                <c:pt idx="235">
                  <c:v>45220</c:v>
                </c:pt>
                <c:pt idx="236">
                  <c:v>45221</c:v>
                </c:pt>
                <c:pt idx="237">
                  <c:v>45222</c:v>
                </c:pt>
                <c:pt idx="238">
                  <c:v>45223</c:v>
                </c:pt>
                <c:pt idx="239">
                  <c:v>45224</c:v>
                </c:pt>
                <c:pt idx="240">
                  <c:v>45225</c:v>
                </c:pt>
                <c:pt idx="241">
                  <c:v>45226</c:v>
                </c:pt>
                <c:pt idx="242">
                  <c:v>45227</c:v>
                </c:pt>
                <c:pt idx="243">
                  <c:v>45229</c:v>
                </c:pt>
                <c:pt idx="244">
                  <c:v>45230</c:v>
                </c:pt>
                <c:pt idx="245">
                  <c:v>45231</c:v>
                </c:pt>
                <c:pt idx="246">
                  <c:v>45232</c:v>
                </c:pt>
                <c:pt idx="247">
                  <c:v>45233</c:v>
                </c:pt>
                <c:pt idx="248">
                  <c:v>45234</c:v>
                </c:pt>
                <c:pt idx="249">
                  <c:v>45235</c:v>
                </c:pt>
                <c:pt idx="250">
                  <c:v>45236</c:v>
                </c:pt>
                <c:pt idx="251">
                  <c:v>45237</c:v>
                </c:pt>
                <c:pt idx="252">
                  <c:v>45238</c:v>
                </c:pt>
                <c:pt idx="253">
                  <c:v>45239</c:v>
                </c:pt>
                <c:pt idx="254">
                  <c:v>45240</c:v>
                </c:pt>
                <c:pt idx="255">
                  <c:v>45241</c:v>
                </c:pt>
                <c:pt idx="256">
                  <c:v>45242</c:v>
                </c:pt>
                <c:pt idx="257">
                  <c:v>45243</c:v>
                </c:pt>
                <c:pt idx="258">
                  <c:v>45244</c:v>
                </c:pt>
                <c:pt idx="259">
                  <c:v>45245</c:v>
                </c:pt>
                <c:pt idx="260">
                  <c:v>45246</c:v>
                </c:pt>
                <c:pt idx="261">
                  <c:v>45247</c:v>
                </c:pt>
                <c:pt idx="262">
                  <c:v>45248</c:v>
                </c:pt>
                <c:pt idx="263">
                  <c:v>45249</c:v>
                </c:pt>
                <c:pt idx="264">
                  <c:v>45250</c:v>
                </c:pt>
                <c:pt idx="265">
                  <c:v>45251</c:v>
                </c:pt>
                <c:pt idx="266">
                  <c:v>45252</c:v>
                </c:pt>
                <c:pt idx="267">
                  <c:v>45253</c:v>
                </c:pt>
                <c:pt idx="268">
                  <c:v>45254</c:v>
                </c:pt>
                <c:pt idx="269">
                  <c:v>45255</c:v>
                </c:pt>
                <c:pt idx="270">
                  <c:v>45256</c:v>
                </c:pt>
                <c:pt idx="271">
                  <c:v>45257</c:v>
                </c:pt>
                <c:pt idx="272">
                  <c:v>45258</c:v>
                </c:pt>
                <c:pt idx="273">
                  <c:v>45259</c:v>
                </c:pt>
                <c:pt idx="274">
                  <c:v>45260</c:v>
                </c:pt>
                <c:pt idx="275">
                  <c:v>45261</c:v>
                </c:pt>
                <c:pt idx="276">
                  <c:v>45262</c:v>
                </c:pt>
                <c:pt idx="277">
                  <c:v>45263</c:v>
                </c:pt>
                <c:pt idx="278">
                  <c:v>45264</c:v>
                </c:pt>
                <c:pt idx="279">
                  <c:v>45265</c:v>
                </c:pt>
                <c:pt idx="280">
                  <c:v>45266</c:v>
                </c:pt>
                <c:pt idx="281">
                  <c:v>45267</c:v>
                </c:pt>
                <c:pt idx="282">
                  <c:v>45268</c:v>
                </c:pt>
                <c:pt idx="283">
                  <c:v>45269</c:v>
                </c:pt>
                <c:pt idx="284">
                  <c:v>45270</c:v>
                </c:pt>
                <c:pt idx="285">
                  <c:v>45271</c:v>
                </c:pt>
                <c:pt idx="286">
                  <c:v>45272</c:v>
                </c:pt>
                <c:pt idx="287">
                  <c:v>45273</c:v>
                </c:pt>
                <c:pt idx="288">
                  <c:v>45274</c:v>
                </c:pt>
                <c:pt idx="289">
                  <c:v>45275</c:v>
                </c:pt>
                <c:pt idx="290">
                  <c:v>45276</c:v>
                </c:pt>
                <c:pt idx="291">
                  <c:v>45277</c:v>
                </c:pt>
                <c:pt idx="292">
                  <c:v>45278</c:v>
                </c:pt>
                <c:pt idx="293">
                  <c:v>45279</c:v>
                </c:pt>
                <c:pt idx="294">
                  <c:v>45280</c:v>
                </c:pt>
                <c:pt idx="295">
                  <c:v>45281</c:v>
                </c:pt>
                <c:pt idx="296">
                  <c:v>45282</c:v>
                </c:pt>
                <c:pt idx="297">
                  <c:v>45283</c:v>
                </c:pt>
                <c:pt idx="298">
                  <c:v>45284</c:v>
                </c:pt>
                <c:pt idx="299">
                  <c:v>45285</c:v>
                </c:pt>
                <c:pt idx="300">
                  <c:v>45286</c:v>
                </c:pt>
                <c:pt idx="301">
                  <c:v>45287</c:v>
                </c:pt>
                <c:pt idx="302">
                  <c:v>45288</c:v>
                </c:pt>
                <c:pt idx="303">
                  <c:v>45289</c:v>
                </c:pt>
                <c:pt idx="304">
                  <c:v>45290</c:v>
                </c:pt>
                <c:pt idx="305">
                  <c:v>45291</c:v>
                </c:pt>
                <c:pt idx="306">
                  <c:v>45292</c:v>
                </c:pt>
                <c:pt idx="307">
                  <c:v>45293</c:v>
                </c:pt>
                <c:pt idx="308">
                  <c:v>45294</c:v>
                </c:pt>
                <c:pt idx="309">
                  <c:v>45295</c:v>
                </c:pt>
                <c:pt idx="310">
                  <c:v>45296</c:v>
                </c:pt>
                <c:pt idx="311">
                  <c:v>45297</c:v>
                </c:pt>
                <c:pt idx="312">
                  <c:v>45298</c:v>
                </c:pt>
                <c:pt idx="313">
                  <c:v>45299</c:v>
                </c:pt>
                <c:pt idx="314">
                  <c:v>45300</c:v>
                </c:pt>
                <c:pt idx="315">
                  <c:v>45301</c:v>
                </c:pt>
                <c:pt idx="316">
                  <c:v>45302</c:v>
                </c:pt>
                <c:pt idx="317">
                  <c:v>45303</c:v>
                </c:pt>
                <c:pt idx="318">
                  <c:v>45304</c:v>
                </c:pt>
                <c:pt idx="319">
                  <c:v>45305</c:v>
                </c:pt>
                <c:pt idx="320">
                  <c:v>45306</c:v>
                </c:pt>
                <c:pt idx="321">
                  <c:v>45307</c:v>
                </c:pt>
                <c:pt idx="322">
                  <c:v>45308</c:v>
                </c:pt>
                <c:pt idx="323">
                  <c:v>45309</c:v>
                </c:pt>
                <c:pt idx="324">
                  <c:v>45310</c:v>
                </c:pt>
                <c:pt idx="325">
                  <c:v>45311</c:v>
                </c:pt>
                <c:pt idx="326">
                  <c:v>45312</c:v>
                </c:pt>
                <c:pt idx="327">
                  <c:v>45313</c:v>
                </c:pt>
                <c:pt idx="328">
                  <c:v>45314</c:v>
                </c:pt>
                <c:pt idx="329">
                  <c:v>45315</c:v>
                </c:pt>
                <c:pt idx="330">
                  <c:v>45316</c:v>
                </c:pt>
                <c:pt idx="331">
                  <c:v>45317</c:v>
                </c:pt>
                <c:pt idx="332">
                  <c:v>45318</c:v>
                </c:pt>
                <c:pt idx="333">
                  <c:v>45319</c:v>
                </c:pt>
                <c:pt idx="334">
                  <c:v>45320</c:v>
                </c:pt>
                <c:pt idx="335">
                  <c:v>45321</c:v>
                </c:pt>
                <c:pt idx="336">
                  <c:v>45322</c:v>
                </c:pt>
                <c:pt idx="337">
                  <c:v>45323</c:v>
                </c:pt>
                <c:pt idx="338">
                  <c:v>45324</c:v>
                </c:pt>
                <c:pt idx="339">
                  <c:v>45325</c:v>
                </c:pt>
                <c:pt idx="340">
                  <c:v>45326</c:v>
                </c:pt>
                <c:pt idx="341">
                  <c:v>45327</c:v>
                </c:pt>
                <c:pt idx="342">
                  <c:v>45328</c:v>
                </c:pt>
                <c:pt idx="343">
                  <c:v>45329</c:v>
                </c:pt>
                <c:pt idx="344">
                  <c:v>45330</c:v>
                </c:pt>
                <c:pt idx="345">
                  <c:v>45331</c:v>
                </c:pt>
                <c:pt idx="346">
                  <c:v>45332</c:v>
                </c:pt>
                <c:pt idx="347">
                  <c:v>45333</c:v>
                </c:pt>
                <c:pt idx="348">
                  <c:v>45334</c:v>
                </c:pt>
                <c:pt idx="349">
                  <c:v>45335</c:v>
                </c:pt>
                <c:pt idx="350">
                  <c:v>45336</c:v>
                </c:pt>
                <c:pt idx="351">
                  <c:v>45337</c:v>
                </c:pt>
                <c:pt idx="352">
                  <c:v>45338</c:v>
                </c:pt>
                <c:pt idx="353">
                  <c:v>45339</c:v>
                </c:pt>
                <c:pt idx="354">
                  <c:v>45340</c:v>
                </c:pt>
                <c:pt idx="355">
                  <c:v>45341</c:v>
                </c:pt>
                <c:pt idx="356">
                  <c:v>45342</c:v>
                </c:pt>
                <c:pt idx="357">
                  <c:v>45343</c:v>
                </c:pt>
                <c:pt idx="358">
                  <c:v>45344</c:v>
                </c:pt>
                <c:pt idx="359">
                  <c:v>45345</c:v>
                </c:pt>
                <c:pt idx="360">
                  <c:v>45346</c:v>
                </c:pt>
                <c:pt idx="361">
                  <c:v>45347</c:v>
                </c:pt>
                <c:pt idx="362">
                  <c:v>45348</c:v>
                </c:pt>
                <c:pt idx="363">
                  <c:v>45349</c:v>
                </c:pt>
              </c:numCache>
            </c:numRef>
          </c:xVal>
          <c:yVal>
            <c:numRef>
              <c:f>'Chart Data'!$D$2:$D$365</c:f>
              <c:numCache>
                <c:formatCode>0</c:formatCode>
                <c:ptCount val="364"/>
                <c:pt idx="0">
                  <c:v>15.13077</c:v>
                </c:pt>
                <c:pt idx="1">
                  <c:v>15.836370000000001</c:v>
                </c:pt>
                <c:pt idx="2">
                  <c:v>15.359389999999999</c:v>
                </c:pt>
                <c:pt idx="3">
                  <c:v>15.372629999999999</c:v>
                </c:pt>
                <c:pt idx="4">
                  <c:v>16.473369999999999</c:v>
                </c:pt>
                <c:pt idx="5">
                  <c:v>16.87574</c:v>
                </c:pt>
                <c:pt idx="6">
                  <c:v>15.763529999999999</c:v>
                </c:pt>
                <c:pt idx="7">
                  <c:v>15.59638</c:v>
                </c:pt>
                <c:pt idx="8">
                  <c:v>15.084860000000001</c:v>
                </c:pt>
                <c:pt idx="9">
                  <c:v>14.01233</c:v>
                </c:pt>
                <c:pt idx="10">
                  <c:v>13.345230000000001</c:v>
                </c:pt>
                <c:pt idx="11">
                  <c:v>13.306710000000001</c:v>
                </c:pt>
                <c:pt idx="12">
                  <c:v>14.28097</c:v>
                </c:pt>
                <c:pt idx="13">
                  <c:v>13.41583</c:v>
                </c:pt>
                <c:pt idx="14">
                  <c:v>12.574859999999999</c:v>
                </c:pt>
                <c:pt idx="15">
                  <c:v>11.378830000000001</c:v>
                </c:pt>
                <c:pt idx="16">
                  <c:v>12.28144</c:v>
                </c:pt>
                <c:pt idx="17">
                  <c:v>12.52256</c:v>
                </c:pt>
                <c:pt idx="18">
                  <c:v>13.020060000000001</c:v>
                </c:pt>
                <c:pt idx="19">
                  <c:v>12.18957</c:v>
                </c:pt>
                <c:pt idx="20">
                  <c:v>10.79233</c:v>
                </c:pt>
                <c:pt idx="21">
                  <c:v>11.164870000000001</c:v>
                </c:pt>
                <c:pt idx="22">
                  <c:v>11.24953</c:v>
                </c:pt>
                <c:pt idx="23">
                  <c:v>10.82025</c:v>
                </c:pt>
                <c:pt idx="24">
                  <c:v>10.345560000000001</c:v>
                </c:pt>
                <c:pt idx="25">
                  <c:v>10.6089</c:v>
                </c:pt>
                <c:pt idx="26">
                  <c:v>11.28543</c:v>
                </c:pt>
                <c:pt idx="27">
                  <c:v>10.806520000000001</c:v>
                </c:pt>
                <c:pt idx="28">
                  <c:v>11.01591</c:v>
                </c:pt>
                <c:pt idx="29">
                  <c:v>11.46073</c:v>
                </c:pt>
                <c:pt idx="30">
                  <c:v>10.43984</c:v>
                </c:pt>
                <c:pt idx="31">
                  <c:v>10.61289</c:v>
                </c:pt>
                <c:pt idx="32">
                  <c:v>12.650969999999999</c:v>
                </c:pt>
                <c:pt idx="33">
                  <c:v>13.950139999999999</c:v>
                </c:pt>
                <c:pt idx="34">
                  <c:v>12.62895</c:v>
                </c:pt>
                <c:pt idx="35">
                  <c:v>12.010590000000001</c:v>
                </c:pt>
                <c:pt idx="36">
                  <c:v>11.14831</c:v>
                </c:pt>
                <c:pt idx="37">
                  <c:v>10.888719999999999</c:v>
                </c:pt>
                <c:pt idx="38">
                  <c:v>11.139250000000001</c:v>
                </c:pt>
                <c:pt idx="39">
                  <c:v>11.37358</c:v>
                </c:pt>
                <c:pt idx="40">
                  <c:v>11.571630000000001</c:v>
                </c:pt>
                <c:pt idx="41">
                  <c:v>11.171749999999999</c:v>
                </c:pt>
                <c:pt idx="42">
                  <c:v>10.901160000000001</c:v>
                </c:pt>
                <c:pt idx="43">
                  <c:v>10.14396</c:v>
                </c:pt>
                <c:pt idx="44">
                  <c:v>10.152659999999999</c:v>
                </c:pt>
                <c:pt idx="45">
                  <c:v>10.21367</c:v>
                </c:pt>
                <c:pt idx="46">
                  <c:v>11.0464</c:v>
                </c:pt>
                <c:pt idx="47">
                  <c:v>10.567920000000001</c:v>
                </c:pt>
                <c:pt idx="48">
                  <c:v>10.23382</c:v>
                </c:pt>
                <c:pt idx="49">
                  <c:v>10.41588</c:v>
                </c:pt>
                <c:pt idx="50">
                  <c:v>10.00094</c:v>
                </c:pt>
                <c:pt idx="51">
                  <c:v>10.03078</c:v>
                </c:pt>
                <c:pt idx="52">
                  <c:v>10.57883</c:v>
                </c:pt>
                <c:pt idx="53">
                  <c:v>11.3157</c:v>
                </c:pt>
                <c:pt idx="54">
                  <c:v>10.81738</c:v>
                </c:pt>
                <c:pt idx="55">
                  <c:v>9.5969800000000003</c:v>
                </c:pt>
                <c:pt idx="56">
                  <c:v>9.3748900000000006</c:v>
                </c:pt>
                <c:pt idx="57">
                  <c:v>9.5160400000000003</c:v>
                </c:pt>
                <c:pt idx="58">
                  <c:v>10.08474</c:v>
                </c:pt>
                <c:pt idx="59">
                  <c:v>9.4944299999999995</c:v>
                </c:pt>
                <c:pt idx="60">
                  <c:v>9.1041899999999991</c:v>
                </c:pt>
                <c:pt idx="61">
                  <c:v>8.9651499999999995</c:v>
                </c:pt>
                <c:pt idx="62">
                  <c:v>8.4219399999999993</c:v>
                </c:pt>
                <c:pt idx="63">
                  <c:v>8.5922199999999993</c:v>
                </c:pt>
                <c:pt idx="64">
                  <c:v>8.4658999999999995</c:v>
                </c:pt>
                <c:pt idx="65">
                  <c:v>7.9553200000000004</c:v>
                </c:pt>
                <c:pt idx="66">
                  <c:v>7.6865500000000004</c:v>
                </c:pt>
                <c:pt idx="67">
                  <c:v>7.6590800000000003</c:v>
                </c:pt>
                <c:pt idx="68">
                  <c:v>7.6393300000000002</c:v>
                </c:pt>
                <c:pt idx="69">
                  <c:v>7.2017899999999999</c:v>
                </c:pt>
                <c:pt idx="70">
                  <c:v>7.2556399999999996</c:v>
                </c:pt>
                <c:pt idx="71">
                  <c:v>7.0605099999999998</c:v>
                </c:pt>
                <c:pt idx="72">
                  <c:v>6.8891799999999996</c:v>
                </c:pt>
                <c:pt idx="73">
                  <c:v>7.0576999999999996</c:v>
                </c:pt>
                <c:pt idx="74">
                  <c:v>7.53735</c:v>
                </c:pt>
                <c:pt idx="75">
                  <c:v>7.48583</c:v>
                </c:pt>
                <c:pt idx="76">
                  <c:v>7.2711499999999996</c:v>
                </c:pt>
                <c:pt idx="77">
                  <c:v>7.4118300000000001</c:v>
                </c:pt>
                <c:pt idx="78">
                  <c:v>7.3956600000000003</c:v>
                </c:pt>
                <c:pt idx="79">
                  <c:v>7.8822099999999997</c:v>
                </c:pt>
                <c:pt idx="80">
                  <c:v>7.6773300000000004</c:v>
                </c:pt>
                <c:pt idx="81">
                  <c:v>8.2074499999999997</c:v>
                </c:pt>
                <c:pt idx="82">
                  <c:v>8.1838499999999996</c:v>
                </c:pt>
                <c:pt idx="83">
                  <c:v>7.4384199999999998</c:v>
                </c:pt>
                <c:pt idx="84">
                  <c:v>7.0883200000000004</c:v>
                </c:pt>
                <c:pt idx="85">
                  <c:v>6.83955</c:v>
                </c:pt>
                <c:pt idx="86">
                  <c:v>6.7432100000000004</c:v>
                </c:pt>
                <c:pt idx="87">
                  <c:v>6.9325799999999997</c:v>
                </c:pt>
                <c:pt idx="88">
                  <c:v>6.8230300000000002</c:v>
                </c:pt>
                <c:pt idx="89">
                  <c:v>6.4042899999999996</c:v>
                </c:pt>
                <c:pt idx="90">
                  <c:v>5.9111000000000002</c:v>
                </c:pt>
                <c:pt idx="91">
                  <c:v>5.8021900000000004</c:v>
                </c:pt>
                <c:pt idx="92">
                  <c:v>5.9148800000000001</c:v>
                </c:pt>
                <c:pt idx="93">
                  <c:v>5.7259500000000001</c:v>
                </c:pt>
                <c:pt idx="94">
                  <c:v>5.5832600000000001</c:v>
                </c:pt>
                <c:pt idx="95">
                  <c:v>5.8235299999999999</c:v>
                </c:pt>
                <c:pt idx="96">
                  <c:v>5.7735399999999997</c:v>
                </c:pt>
                <c:pt idx="97">
                  <c:v>5.4519700000000002</c:v>
                </c:pt>
                <c:pt idx="98">
                  <c:v>5.4770799999999999</c:v>
                </c:pt>
                <c:pt idx="99">
                  <c:v>5.3735499999999998</c:v>
                </c:pt>
                <c:pt idx="100">
                  <c:v>5.3245699999999996</c:v>
                </c:pt>
                <c:pt idx="101">
                  <c:v>5.3209200000000001</c:v>
                </c:pt>
                <c:pt idx="102">
                  <c:v>5.6622300000000001</c:v>
                </c:pt>
                <c:pt idx="103">
                  <c:v>5.6289300000000004</c:v>
                </c:pt>
                <c:pt idx="104">
                  <c:v>5.2928100000000002</c:v>
                </c:pt>
                <c:pt idx="105">
                  <c:v>5.2524100000000002</c:v>
                </c:pt>
                <c:pt idx="106">
                  <c:v>5.1529699999999998</c:v>
                </c:pt>
                <c:pt idx="107">
                  <c:v>5.1660199999999996</c:v>
                </c:pt>
                <c:pt idx="108">
                  <c:v>5.1830100000000003</c:v>
                </c:pt>
                <c:pt idx="109">
                  <c:v>5.4474999999999998</c:v>
                </c:pt>
                <c:pt idx="110">
                  <c:v>5.4641400000000004</c:v>
                </c:pt>
                <c:pt idx="111">
                  <c:v>5.0580100000000003</c:v>
                </c:pt>
                <c:pt idx="112">
                  <c:v>5.0553800000000004</c:v>
                </c:pt>
                <c:pt idx="113">
                  <c:v>4.99268</c:v>
                </c:pt>
                <c:pt idx="114">
                  <c:v>5.0398300000000003</c:v>
                </c:pt>
                <c:pt idx="115">
                  <c:v>5.1258699999999999</c:v>
                </c:pt>
                <c:pt idx="116">
                  <c:v>5.4683900000000003</c:v>
                </c:pt>
                <c:pt idx="117">
                  <c:v>5.3570700000000002</c:v>
                </c:pt>
                <c:pt idx="118">
                  <c:v>4.9971699999999997</c:v>
                </c:pt>
                <c:pt idx="119">
                  <c:v>5.0344899999999999</c:v>
                </c:pt>
                <c:pt idx="120">
                  <c:v>5.0180199999999999</c:v>
                </c:pt>
                <c:pt idx="121">
                  <c:v>5.0189899999999996</c:v>
                </c:pt>
                <c:pt idx="122">
                  <c:v>5.0611600000000001</c:v>
                </c:pt>
                <c:pt idx="123">
                  <c:v>5.36965</c:v>
                </c:pt>
                <c:pt idx="124">
                  <c:v>5.4757899999999999</c:v>
                </c:pt>
                <c:pt idx="125">
                  <c:v>5.1563800000000004</c:v>
                </c:pt>
                <c:pt idx="126">
                  <c:v>5.0856899999999996</c:v>
                </c:pt>
                <c:pt idx="127">
                  <c:v>5.0307899999999997</c:v>
                </c:pt>
                <c:pt idx="128">
                  <c:v>5.17197</c:v>
                </c:pt>
                <c:pt idx="129">
                  <c:v>5.3829900000000004</c:v>
                </c:pt>
                <c:pt idx="130">
                  <c:v>5.5653800000000002</c:v>
                </c:pt>
                <c:pt idx="131">
                  <c:v>5.4707100000000004</c:v>
                </c:pt>
                <c:pt idx="132">
                  <c:v>5.1583399999999999</c:v>
                </c:pt>
                <c:pt idx="133">
                  <c:v>5.1607099999999999</c:v>
                </c:pt>
                <c:pt idx="134">
                  <c:v>5.1644199999999998</c:v>
                </c:pt>
                <c:pt idx="135">
                  <c:v>5.2378200000000001</c:v>
                </c:pt>
                <c:pt idx="136">
                  <c:v>5.4272999999999998</c:v>
                </c:pt>
                <c:pt idx="137">
                  <c:v>5.6198800000000002</c:v>
                </c:pt>
                <c:pt idx="138">
                  <c:v>5.6012000000000004</c:v>
                </c:pt>
                <c:pt idx="139">
                  <c:v>5.2916600000000003</c:v>
                </c:pt>
                <c:pt idx="140">
                  <c:v>5.2585300000000004</c:v>
                </c:pt>
                <c:pt idx="141">
                  <c:v>5.2761300000000002</c:v>
                </c:pt>
                <c:pt idx="142">
                  <c:v>5.17957</c:v>
                </c:pt>
                <c:pt idx="143">
                  <c:v>5.1878399999999996</c:v>
                </c:pt>
                <c:pt idx="144">
                  <c:v>5.4755900000000004</c:v>
                </c:pt>
                <c:pt idx="145">
                  <c:v>5.5026000000000002</c:v>
                </c:pt>
                <c:pt idx="146">
                  <c:v>5.1385100000000001</c:v>
                </c:pt>
                <c:pt idx="147">
                  <c:v>5.1763899999999996</c:v>
                </c:pt>
                <c:pt idx="148">
                  <c:v>5.1761299999999997</c:v>
                </c:pt>
                <c:pt idx="149">
                  <c:v>5.2901699999999998</c:v>
                </c:pt>
                <c:pt idx="150">
                  <c:v>5.3847500000000004</c:v>
                </c:pt>
                <c:pt idx="151">
                  <c:v>5.58087</c:v>
                </c:pt>
                <c:pt idx="152">
                  <c:v>5.6025099999999997</c:v>
                </c:pt>
                <c:pt idx="153">
                  <c:v>5.3417399999999997</c:v>
                </c:pt>
                <c:pt idx="154">
                  <c:v>5.3214300000000003</c:v>
                </c:pt>
                <c:pt idx="155">
                  <c:v>5.2699100000000003</c:v>
                </c:pt>
                <c:pt idx="156">
                  <c:v>5.38103</c:v>
                </c:pt>
                <c:pt idx="157">
                  <c:v>5.2915700000000001</c:v>
                </c:pt>
                <c:pt idx="158">
                  <c:v>5.5072999999999999</c:v>
                </c:pt>
                <c:pt idx="159">
                  <c:v>5.6394000000000002</c:v>
                </c:pt>
                <c:pt idx="160">
                  <c:v>5.3496800000000002</c:v>
                </c:pt>
                <c:pt idx="161">
                  <c:v>5.6850699999999996</c:v>
                </c:pt>
                <c:pt idx="162">
                  <c:v>5.6276200000000003</c:v>
                </c:pt>
                <c:pt idx="163">
                  <c:v>5.4310999999999998</c:v>
                </c:pt>
                <c:pt idx="164">
                  <c:v>5.5461</c:v>
                </c:pt>
                <c:pt idx="165">
                  <c:v>5.8688900000000004</c:v>
                </c:pt>
                <c:pt idx="166">
                  <c:v>5.8748199999999997</c:v>
                </c:pt>
                <c:pt idx="167">
                  <c:v>5.5586000000000002</c:v>
                </c:pt>
                <c:pt idx="168">
                  <c:v>5.4785399999999997</c:v>
                </c:pt>
                <c:pt idx="169">
                  <c:v>5.3454300000000003</c:v>
                </c:pt>
                <c:pt idx="170">
                  <c:v>5.2786</c:v>
                </c:pt>
                <c:pt idx="171">
                  <c:v>5.2815099999999999</c:v>
                </c:pt>
                <c:pt idx="172">
                  <c:v>5.6059900000000003</c:v>
                </c:pt>
                <c:pt idx="173">
                  <c:v>5.5650399999999998</c:v>
                </c:pt>
                <c:pt idx="174">
                  <c:v>5.2849599999999999</c:v>
                </c:pt>
                <c:pt idx="175">
                  <c:v>5.35534</c:v>
                </c:pt>
                <c:pt idx="176">
                  <c:v>5.3242500000000001</c:v>
                </c:pt>
                <c:pt idx="177">
                  <c:v>5.3291500000000003</c:v>
                </c:pt>
                <c:pt idx="178">
                  <c:v>5.4699600000000004</c:v>
                </c:pt>
                <c:pt idx="179">
                  <c:v>5.8166500000000001</c:v>
                </c:pt>
                <c:pt idx="180">
                  <c:v>5.8518299999999996</c:v>
                </c:pt>
                <c:pt idx="181">
                  <c:v>5.74078</c:v>
                </c:pt>
                <c:pt idx="182">
                  <c:v>5.8574900000000003</c:v>
                </c:pt>
                <c:pt idx="183">
                  <c:v>6.1236300000000004</c:v>
                </c:pt>
                <c:pt idx="184">
                  <c:v>6.1863000000000001</c:v>
                </c:pt>
                <c:pt idx="185">
                  <c:v>6.1715200000000001</c:v>
                </c:pt>
                <c:pt idx="186">
                  <c:v>6.5694699999999999</c:v>
                </c:pt>
                <c:pt idx="187">
                  <c:v>6.4625199999999996</c:v>
                </c:pt>
                <c:pt idx="188">
                  <c:v>6.2093400000000001</c:v>
                </c:pt>
                <c:pt idx="189">
                  <c:v>6.0483700000000002</c:v>
                </c:pt>
                <c:pt idx="190">
                  <c:v>5.8078500000000002</c:v>
                </c:pt>
                <c:pt idx="191">
                  <c:v>5.7054</c:v>
                </c:pt>
                <c:pt idx="192">
                  <c:v>5.6404800000000002</c:v>
                </c:pt>
                <c:pt idx="193">
                  <c:v>5.8853200000000001</c:v>
                </c:pt>
                <c:pt idx="194">
                  <c:v>5.8409300000000002</c:v>
                </c:pt>
                <c:pt idx="195">
                  <c:v>5.5477999999999996</c:v>
                </c:pt>
                <c:pt idx="196">
                  <c:v>5.5608000000000004</c:v>
                </c:pt>
                <c:pt idx="197">
                  <c:v>5.5274999999999999</c:v>
                </c:pt>
                <c:pt idx="198">
                  <c:v>5.5682400000000003</c:v>
                </c:pt>
                <c:pt idx="199">
                  <c:v>5.7273100000000001</c:v>
                </c:pt>
                <c:pt idx="200">
                  <c:v>6.0769299999999999</c:v>
                </c:pt>
                <c:pt idx="201">
                  <c:v>6.1709699999999996</c:v>
                </c:pt>
                <c:pt idx="202">
                  <c:v>5.9390299999999998</c:v>
                </c:pt>
                <c:pt idx="203">
                  <c:v>5.9159800000000002</c:v>
                </c:pt>
                <c:pt idx="204">
                  <c:v>6.1056499999999998</c:v>
                </c:pt>
                <c:pt idx="205">
                  <c:v>6.0452399999999997</c:v>
                </c:pt>
                <c:pt idx="206">
                  <c:v>6.0223599999999999</c:v>
                </c:pt>
                <c:pt idx="207">
                  <c:v>6.4115900000000003</c:v>
                </c:pt>
                <c:pt idx="208">
                  <c:v>6.5860799999999999</c:v>
                </c:pt>
                <c:pt idx="209">
                  <c:v>6.6085700000000003</c:v>
                </c:pt>
                <c:pt idx="210">
                  <c:v>6.6802900000000003</c:v>
                </c:pt>
                <c:pt idx="211">
                  <c:v>6.6014699999999999</c:v>
                </c:pt>
                <c:pt idx="212">
                  <c:v>6.5509300000000001</c:v>
                </c:pt>
                <c:pt idx="213">
                  <c:v>6.7253100000000003</c:v>
                </c:pt>
                <c:pt idx="214">
                  <c:v>7.14262</c:v>
                </c:pt>
                <c:pt idx="215">
                  <c:v>7.0826599999999997</c:v>
                </c:pt>
                <c:pt idx="216">
                  <c:v>6.6119700000000003</c:v>
                </c:pt>
                <c:pt idx="217">
                  <c:v>6.5141900000000001</c:v>
                </c:pt>
                <c:pt idx="218">
                  <c:v>6.41744</c:v>
                </c:pt>
                <c:pt idx="219">
                  <c:v>6.38002</c:v>
                </c:pt>
                <c:pt idx="220">
                  <c:v>6.60053</c:v>
                </c:pt>
                <c:pt idx="221">
                  <c:v>7.1428200000000004</c:v>
                </c:pt>
                <c:pt idx="222">
                  <c:v>7.2652599999999996</c:v>
                </c:pt>
                <c:pt idx="223">
                  <c:v>6.7959800000000001</c:v>
                </c:pt>
                <c:pt idx="224">
                  <c:v>6.5923400000000001</c:v>
                </c:pt>
                <c:pt idx="225">
                  <c:v>6.6145699999999996</c:v>
                </c:pt>
                <c:pt idx="226">
                  <c:v>6.6827199999999998</c:v>
                </c:pt>
                <c:pt idx="227">
                  <c:v>6.5988499999999997</c:v>
                </c:pt>
                <c:pt idx="228">
                  <c:v>6.9537599999999999</c:v>
                </c:pt>
                <c:pt idx="229">
                  <c:v>6.7119099999999996</c:v>
                </c:pt>
                <c:pt idx="230">
                  <c:v>6.6830100000000003</c:v>
                </c:pt>
                <c:pt idx="231">
                  <c:v>7.2882199999999999</c:v>
                </c:pt>
                <c:pt idx="232">
                  <c:v>7.4637700000000002</c:v>
                </c:pt>
                <c:pt idx="233">
                  <c:v>7.7103700000000002</c:v>
                </c:pt>
                <c:pt idx="234">
                  <c:v>8.1406799999999997</c:v>
                </c:pt>
                <c:pt idx="235">
                  <c:v>8.4387399999999992</c:v>
                </c:pt>
                <c:pt idx="236">
                  <c:v>9.2766400000000004</c:v>
                </c:pt>
                <c:pt idx="237">
                  <c:v>9.2763299999999997</c:v>
                </c:pt>
                <c:pt idx="238">
                  <c:v>9.1309000000000005</c:v>
                </c:pt>
                <c:pt idx="239">
                  <c:v>9.03904</c:v>
                </c:pt>
                <c:pt idx="240">
                  <c:v>9.0608199999999997</c:v>
                </c:pt>
                <c:pt idx="241">
                  <c:v>9.0468799999999998</c:v>
                </c:pt>
                <c:pt idx="242">
                  <c:v>9.8041999999999998</c:v>
                </c:pt>
                <c:pt idx="243">
                  <c:v>9.2752999999999997</c:v>
                </c:pt>
                <c:pt idx="244">
                  <c:v>9.3563500000000008</c:v>
                </c:pt>
                <c:pt idx="245">
                  <c:v>9.5842200000000002</c:v>
                </c:pt>
                <c:pt idx="246">
                  <c:v>10.18675</c:v>
                </c:pt>
                <c:pt idx="247">
                  <c:v>10.65474</c:v>
                </c:pt>
                <c:pt idx="248">
                  <c:v>11.76843</c:v>
                </c:pt>
                <c:pt idx="249">
                  <c:v>13.879200000000001</c:v>
                </c:pt>
                <c:pt idx="250">
                  <c:v>11.898680000000001</c:v>
                </c:pt>
                <c:pt idx="251">
                  <c:v>11.904159999999999</c:v>
                </c:pt>
                <c:pt idx="252">
                  <c:v>11.948309999999999</c:v>
                </c:pt>
                <c:pt idx="253">
                  <c:v>12.48969</c:v>
                </c:pt>
                <c:pt idx="254">
                  <c:v>12.85141</c:v>
                </c:pt>
                <c:pt idx="255">
                  <c:v>13.57498</c:v>
                </c:pt>
                <c:pt idx="256">
                  <c:v>13.54888</c:v>
                </c:pt>
                <c:pt idx="257">
                  <c:v>13.30744</c:v>
                </c:pt>
                <c:pt idx="258">
                  <c:v>13.606680000000001</c:v>
                </c:pt>
                <c:pt idx="259">
                  <c:v>13.358140000000001</c:v>
                </c:pt>
                <c:pt idx="260">
                  <c:v>13.559430000000001</c:v>
                </c:pt>
                <c:pt idx="261">
                  <c:v>13.68441</c:v>
                </c:pt>
                <c:pt idx="262">
                  <c:v>14.373810000000001</c:v>
                </c:pt>
                <c:pt idx="263">
                  <c:v>15.491849999999999</c:v>
                </c:pt>
                <c:pt idx="264">
                  <c:v>13.6495</c:v>
                </c:pt>
                <c:pt idx="265">
                  <c:v>13.421099999999999</c:v>
                </c:pt>
                <c:pt idx="266">
                  <c:v>13.62623</c:v>
                </c:pt>
                <c:pt idx="267">
                  <c:v>14.00665</c:v>
                </c:pt>
                <c:pt idx="268">
                  <c:v>15.28811</c:v>
                </c:pt>
                <c:pt idx="269">
                  <c:v>15.417999999999999</c:v>
                </c:pt>
                <c:pt idx="270">
                  <c:v>15.69965</c:v>
                </c:pt>
                <c:pt idx="271">
                  <c:v>15.690379999999999</c:v>
                </c:pt>
                <c:pt idx="272">
                  <c:v>16.718959999999999</c:v>
                </c:pt>
                <c:pt idx="273">
                  <c:v>16.73471</c:v>
                </c:pt>
                <c:pt idx="274">
                  <c:v>18.07254</c:v>
                </c:pt>
                <c:pt idx="275">
                  <c:v>18.04044</c:v>
                </c:pt>
                <c:pt idx="276">
                  <c:v>19.462319999999998</c:v>
                </c:pt>
                <c:pt idx="277">
                  <c:v>19.998750000000001</c:v>
                </c:pt>
                <c:pt idx="278">
                  <c:v>20.737770000000001</c:v>
                </c:pt>
                <c:pt idx="279">
                  <c:v>21.114920000000001</c:v>
                </c:pt>
                <c:pt idx="280">
                  <c:v>21.05095</c:v>
                </c:pt>
                <c:pt idx="281">
                  <c:v>20.244399999999999</c:v>
                </c:pt>
                <c:pt idx="282">
                  <c:v>21.103999999999999</c:v>
                </c:pt>
                <c:pt idx="283">
                  <c:v>21.91413</c:v>
                </c:pt>
                <c:pt idx="284">
                  <c:v>21.508150000000001</c:v>
                </c:pt>
                <c:pt idx="285">
                  <c:v>19.903770000000002</c:v>
                </c:pt>
                <c:pt idx="286">
                  <c:v>17.806819999999998</c:v>
                </c:pt>
                <c:pt idx="287">
                  <c:v>17.100190000000001</c:v>
                </c:pt>
                <c:pt idx="288">
                  <c:v>16.374140000000001</c:v>
                </c:pt>
                <c:pt idx="289">
                  <c:v>16.15485</c:v>
                </c:pt>
                <c:pt idx="290">
                  <c:v>16.47261</c:v>
                </c:pt>
                <c:pt idx="291">
                  <c:v>17.084869999999999</c:v>
                </c:pt>
                <c:pt idx="292">
                  <c:v>17.269439999999999</c:v>
                </c:pt>
                <c:pt idx="293">
                  <c:v>17.50113</c:v>
                </c:pt>
                <c:pt idx="294">
                  <c:v>16.80724</c:v>
                </c:pt>
                <c:pt idx="295">
                  <c:v>15.44929</c:v>
                </c:pt>
                <c:pt idx="296">
                  <c:v>15.47594</c:v>
                </c:pt>
                <c:pt idx="297">
                  <c:v>15.794219999999999</c:v>
                </c:pt>
                <c:pt idx="298">
                  <c:v>15.863049999999999</c:v>
                </c:pt>
                <c:pt idx="299">
                  <c:v>15.12936</c:v>
                </c:pt>
                <c:pt idx="300">
                  <c:v>14.56423</c:v>
                </c:pt>
                <c:pt idx="301">
                  <c:v>14.408989999999999</c:v>
                </c:pt>
                <c:pt idx="302">
                  <c:v>14.92981</c:v>
                </c:pt>
                <c:pt idx="303">
                  <c:v>14.87391</c:v>
                </c:pt>
                <c:pt idx="304">
                  <c:v>14.04279</c:v>
                </c:pt>
                <c:pt idx="305">
                  <c:v>13.42488</c:v>
                </c:pt>
                <c:pt idx="306">
                  <c:v>14.864319999999999</c:v>
                </c:pt>
                <c:pt idx="307">
                  <c:v>14.77688</c:v>
                </c:pt>
                <c:pt idx="308">
                  <c:v>14.59613</c:v>
                </c:pt>
                <c:pt idx="309">
                  <c:v>14.1304</c:v>
                </c:pt>
                <c:pt idx="310">
                  <c:v>14.056290000000001</c:v>
                </c:pt>
                <c:pt idx="311">
                  <c:v>15.649929999999999</c:v>
                </c:pt>
                <c:pt idx="312">
                  <c:v>16.139559999999999</c:v>
                </c:pt>
                <c:pt idx="313">
                  <c:v>16.43038</c:v>
                </c:pt>
                <c:pt idx="314">
                  <c:v>18.037210000000002</c:v>
                </c:pt>
                <c:pt idx="315">
                  <c:v>18.879370000000002</c:v>
                </c:pt>
                <c:pt idx="316">
                  <c:v>20.083379999999998</c:v>
                </c:pt>
                <c:pt idx="317">
                  <c:v>20.90455</c:v>
                </c:pt>
                <c:pt idx="318">
                  <c:v>22.273409999999998</c:v>
                </c:pt>
                <c:pt idx="319">
                  <c:v>22.933730000000001</c:v>
                </c:pt>
                <c:pt idx="320">
                  <c:v>23.197900000000001</c:v>
                </c:pt>
                <c:pt idx="321">
                  <c:v>22.78199</c:v>
                </c:pt>
                <c:pt idx="322">
                  <c:v>22.772290000000002</c:v>
                </c:pt>
                <c:pt idx="323">
                  <c:v>21.935110000000002</c:v>
                </c:pt>
                <c:pt idx="324">
                  <c:v>19.670280000000002</c:v>
                </c:pt>
                <c:pt idx="325">
                  <c:v>21.814959999999999</c:v>
                </c:pt>
                <c:pt idx="326">
                  <c:v>22.555900000000001</c:v>
                </c:pt>
                <c:pt idx="327">
                  <c:v>22.142479999999999</c:v>
                </c:pt>
                <c:pt idx="328">
                  <c:v>21.391729999999999</c:v>
                </c:pt>
                <c:pt idx="329">
                  <c:v>18.827069999999999</c:v>
                </c:pt>
                <c:pt idx="330">
                  <c:v>17.460450000000002</c:v>
                </c:pt>
                <c:pt idx="331">
                  <c:v>17.63006</c:v>
                </c:pt>
                <c:pt idx="332">
                  <c:v>17.890270000000001</c:v>
                </c:pt>
                <c:pt idx="333">
                  <c:v>17.604099999999999</c:v>
                </c:pt>
                <c:pt idx="334">
                  <c:v>16.188659999999999</c:v>
                </c:pt>
                <c:pt idx="335">
                  <c:v>16.513200000000001</c:v>
                </c:pt>
                <c:pt idx="336">
                  <c:v>16.37961</c:v>
                </c:pt>
                <c:pt idx="337">
                  <c:v>15.767390000000001</c:v>
                </c:pt>
                <c:pt idx="338">
                  <c:v>15.140219999999999</c:v>
                </c:pt>
                <c:pt idx="339">
                  <c:v>15.997680000000001</c:v>
                </c:pt>
                <c:pt idx="340">
                  <c:v>16.321429999999999</c:v>
                </c:pt>
                <c:pt idx="341">
                  <c:v>15.66028</c:v>
                </c:pt>
                <c:pt idx="342">
                  <c:v>15.50746</c:v>
                </c:pt>
                <c:pt idx="343">
                  <c:v>15.502140000000001</c:v>
                </c:pt>
                <c:pt idx="344">
                  <c:v>14.65371</c:v>
                </c:pt>
                <c:pt idx="345">
                  <c:v>14.27098</c:v>
                </c:pt>
                <c:pt idx="346">
                  <c:v>14.327389999999999</c:v>
                </c:pt>
                <c:pt idx="347">
                  <c:v>14.4747</c:v>
                </c:pt>
                <c:pt idx="348">
                  <c:v>13.9483</c:v>
                </c:pt>
                <c:pt idx="349">
                  <c:v>13.304029999999999</c:v>
                </c:pt>
                <c:pt idx="350">
                  <c:v>12.9894</c:v>
                </c:pt>
                <c:pt idx="351">
                  <c:v>12.07024</c:v>
                </c:pt>
                <c:pt idx="352">
                  <c:v>11.614549999999999</c:v>
                </c:pt>
                <c:pt idx="353">
                  <c:v>11.78304</c:v>
                </c:pt>
                <c:pt idx="354">
                  <c:v>11.497719999999999</c:v>
                </c:pt>
                <c:pt idx="355">
                  <c:v>10.729889999999999</c:v>
                </c:pt>
                <c:pt idx="356">
                  <c:v>10.485099999999999</c:v>
                </c:pt>
                <c:pt idx="357">
                  <c:v>10.393079999999999</c:v>
                </c:pt>
                <c:pt idx="358">
                  <c:v>10.62119</c:v>
                </c:pt>
                <c:pt idx="359">
                  <c:v>10.04989</c:v>
                </c:pt>
                <c:pt idx="360">
                  <c:v>11.586309999999999</c:v>
                </c:pt>
                <c:pt idx="361">
                  <c:v>13.007379999999999</c:v>
                </c:pt>
                <c:pt idx="362">
                  <c:v>12.995950000000001</c:v>
                </c:pt>
                <c:pt idx="363">
                  <c:v>12.10408</c:v>
                </c:pt>
              </c:numCache>
            </c:numRef>
          </c:yVal>
          <c:smooth val="1"/>
          <c:extLst>
            <c:ext xmlns:c16="http://schemas.microsoft.com/office/drawing/2014/chart" uri="{C3380CC4-5D6E-409C-BE32-E72D297353CC}">
              <c16:uniqueId val="{00000001-468E-5F4F-8C15-52B8AED37A09}"/>
            </c:ext>
          </c:extLst>
        </c:ser>
        <c:dLbls>
          <c:showLegendKey val="0"/>
          <c:showVal val="0"/>
          <c:showCatName val="0"/>
          <c:showSerName val="0"/>
          <c:showPercent val="0"/>
          <c:showBubbleSize val="0"/>
        </c:dLbls>
        <c:axId val="48650112"/>
        <c:axId val="48672768"/>
      </c:scatterChart>
      <c:valAx>
        <c:axId val="48672768"/>
        <c:scaling>
          <c:orientation val="minMax"/>
          <c:max val="30"/>
          <c:min val="0"/>
        </c:scaling>
        <c:delete val="0"/>
        <c:axPos val="l"/>
        <c:majorGridlines>
          <c:spPr>
            <a:ln w="9525">
              <a:solidFill>
                <a:srgbClr val="DDE1D9"/>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650">
                <a:solidFill>
                  <a:srgbClr val="333333"/>
                </a:solidFill>
                <a:latin typeface="Times New Roman"/>
                <a:ea typeface="Times New Roman"/>
                <a:cs typeface="Times New Roman"/>
              </a:defRPr>
            </a:pPr>
            <a:endParaRPr lang="en-PT"/>
          </a:p>
        </c:txPr>
        <c:crossAx val="48650112"/>
        <c:crosses val="autoZero"/>
        <c:crossBetween val="midCat"/>
        <c:majorUnit val="5"/>
      </c:valAx>
      <c:valAx>
        <c:axId val="48650112"/>
        <c:scaling>
          <c:orientation val="minMax"/>
          <c:max val="45349"/>
          <c:min val="44985"/>
        </c:scaling>
        <c:delete val="0"/>
        <c:axPos val="b"/>
        <c:numFmt formatCode="General" sourceLinked="1"/>
        <c:majorTickMark val="none"/>
        <c:minorTickMark val="none"/>
        <c:tickLblPos val="none"/>
        <c:spPr>
          <a:ln w="9525">
            <a:solidFill>
              <a:srgbClr val="BBC2BB"/>
            </a:solidFill>
          </a:ln>
        </c:spPr>
        <c:txPr>
          <a:bodyPr anchorCtr="1"/>
          <a:lstStyle/>
          <a:p>
            <a:pPr>
              <a:defRPr sz="1650">
                <a:solidFill>
                  <a:srgbClr val="000000"/>
                </a:solidFill>
                <a:latin typeface="Times New Roman"/>
                <a:ea typeface="Times New Roman"/>
                <a:cs typeface="Times New Roman"/>
              </a:defRPr>
            </a:pPr>
            <a:endParaRPr lang="en-PT"/>
          </a:p>
        </c:txPr>
        <c:crossAx val="48672768"/>
        <c:crosses val="autoZero"/>
        <c:crossBetween val="midCat"/>
        <c:majorUnit val="60"/>
      </c:valAx>
      <c:spPr>
        <a:solidFill>
          <a:srgbClr val="FFFFFF"/>
        </a:solidFill>
        <a:ln w="0">
          <a:noFill/>
        </a:ln>
      </c:spPr>
    </c:plotArea>
    <c:legend>
      <c:legendPos val="t"/>
      <c:overlay val="0"/>
      <c:txPr>
        <a:bodyPr anchorCtr="1"/>
        <a:lstStyle/>
        <a:p>
          <a:pPr>
            <a:defRPr sz="1800">
              <a:solidFill>
                <a:srgbClr val="000000"/>
              </a:solidFill>
              <a:latin typeface="Times New Roman"/>
              <a:ea typeface="Times New Roman"/>
              <a:cs typeface="Times New Roman"/>
            </a:defRPr>
          </a:pPr>
          <a:endParaRPr lang="en-PT"/>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1"/>
        <c:ser>
          <c:idx val="0"/>
          <c:order val="0"/>
          <c:tx>
            <c:v>Actual demand</c:v>
          </c:tx>
          <c:spPr>
            <a:ln w="28575">
              <a:solidFill>
                <a:srgbClr val="1F4E79"/>
              </a:solidFill>
              <a:prstDash val="solid"/>
            </a:ln>
          </c:spPr>
          <c:marker>
            <c:symbol val="none"/>
          </c:marker>
          <c:xVal>
            <c:numRef>
              <c:f>'Chart Data'!$A$2:$A$97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Data'!$B$2:$B$97</c:f>
              <c:numCache>
                <c:formatCode>0</c:formatCode>
                <c:ptCount val="96"/>
                <c:pt idx="0">
                  <c:v>145.81700000000001</c:v>
                </c:pt>
                <c:pt idx="1">
                  <c:v>152.55000000000001</c:v>
                </c:pt>
                <c:pt idx="2">
                  <c:v>144.82</c:v>
                </c:pt>
                <c:pt idx="3">
                  <c:v>143.239</c:v>
                </c:pt>
                <c:pt idx="4">
                  <c:v>184.24</c:v>
                </c:pt>
                <c:pt idx="5">
                  <c:v>176.17599999999999</c:v>
                </c:pt>
                <c:pt idx="6">
                  <c:v>187.452</c:v>
                </c:pt>
                <c:pt idx="7">
                  <c:v>185.02799999999999</c:v>
                </c:pt>
                <c:pt idx="8">
                  <c:v>177.88</c:v>
                </c:pt>
                <c:pt idx="9">
                  <c:v>174.172</c:v>
                </c:pt>
                <c:pt idx="10">
                  <c:v>165.864</c:v>
                </c:pt>
                <c:pt idx="11">
                  <c:v>171.3</c:v>
                </c:pt>
                <c:pt idx="12">
                  <c:v>173.352</c:v>
                </c:pt>
                <c:pt idx="13">
                  <c:v>163.34</c:v>
                </c:pt>
                <c:pt idx="14">
                  <c:v>171.05099999999999</c:v>
                </c:pt>
                <c:pt idx="15">
                  <c:v>177.303</c:v>
                </c:pt>
                <c:pt idx="16">
                  <c:v>185.33500000000001</c:v>
                </c:pt>
                <c:pt idx="17">
                  <c:v>182.61199999999999</c:v>
                </c:pt>
                <c:pt idx="18">
                  <c:v>181.71799999999999</c:v>
                </c:pt>
                <c:pt idx="19">
                  <c:v>187.26499999999999</c:v>
                </c:pt>
                <c:pt idx="20">
                  <c:v>183.291</c:v>
                </c:pt>
                <c:pt idx="21">
                  <c:v>189.30500000000001</c:v>
                </c:pt>
                <c:pt idx="22">
                  <c:v>193.041</c:v>
                </c:pt>
                <c:pt idx="23">
                  <c:v>188.32499999999999</c:v>
                </c:pt>
                <c:pt idx="24">
                  <c:v>174.47900000000001</c:v>
                </c:pt>
                <c:pt idx="25">
                  <c:v>162.52600000000001</c:v>
                </c:pt>
                <c:pt idx="26">
                  <c:v>163.779</c:v>
                </c:pt>
                <c:pt idx="27">
                  <c:v>166.416</c:v>
                </c:pt>
                <c:pt idx="28">
                  <c:v>159.81200000000001</c:v>
                </c:pt>
                <c:pt idx="29">
                  <c:v>143.14500000000001</c:v>
                </c:pt>
                <c:pt idx="30">
                  <c:v>147.01400000000001</c:v>
                </c:pt>
                <c:pt idx="31">
                  <c:v>130.08799999999999</c:v>
                </c:pt>
                <c:pt idx="32">
                  <c:v>123.864</c:v>
                </c:pt>
                <c:pt idx="33">
                  <c:v>111.369</c:v>
                </c:pt>
                <c:pt idx="34">
                  <c:v>100.146</c:v>
                </c:pt>
                <c:pt idx="35">
                  <c:v>91.344999999999999</c:v>
                </c:pt>
                <c:pt idx="36">
                  <c:v>103.815</c:v>
                </c:pt>
                <c:pt idx="37">
                  <c:v>93.218999999999994</c:v>
                </c:pt>
                <c:pt idx="38">
                  <c:v>88.635000000000005</c:v>
                </c:pt>
                <c:pt idx="39">
                  <c:v>93.248000000000005</c:v>
                </c:pt>
                <c:pt idx="40">
                  <c:v>67.200999999999993</c:v>
                </c:pt>
                <c:pt idx="41">
                  <c:v>67.257000000000005</c:v>
                </c:pt>
                <c:pt idx="42">
                  <c:v>71.902000000000001</c:v>
                </c:pt>
                <c:pt idx="43">
                  <c:v>73.099000000000004</c:v>
                </c:pt>
                <c:pt idx="44">
                  <c:v>118.43899999999999</c:v>
                </c:pt>
                <c:pt idx="45">
                  <c:v>121.124</c:v>
                </c:pt>
                <c:pt idx="46">
                  <c:v>102.021</c:v>
                </c:pt>
                <c:pt idx="47">
                  <c:v>92.463999999999999</c:v>
                </c:pt>
                <c:pt idx="48">
                  <c:v>86.695999999999998</c:v>
                </c:pt>
                <c:pt idx="49">
                  <c:v>80.072999999999993</c:v>
                </c:pt>
                <c:pt idx="50">
                  <c:v>80.325999999999993</c:v>
                </c:pt>
                <c:pt idx="51">
                  <c:v>82.352999999999994</c:v>
                </c:pt>
                <c:pt idx="52">
                  <c:v>84.402000000000001</c:v>
                </c:pt>
                <c:pt idx="53">
                  <c:v>85.287999999999997</c:v>
                </c:pt>
                <c:pt idx="54">
                  <c:v>79.070999999999998</c:v>
                </c:pt>
                <c:pt idx="55">
                  <c:v>76.25</c:v>
                </c:pt>
                <c:pt idx="56">
                  <c:v>87.667000000000002</c:v>
                </c:pt>
                <c:pt idx="57">
                  <c:v>90.724000000000004</c:v>
                </c:pt>
                <c:pt idx="58">
                  <c:v>87.227000000000004</c:v>
                </c:pt>
                <c:pt idx="59">
                  <c:v>83.363</c:v>
                </c:pt>
                <c:pt idx="60">
                  <c:v>78.959000000000003</c:v>
                </c:pt>
                <c:pt idx="61">
                  <c:v>78.542000000000002</c:v>
                </c:pt>
                <c:pt idx="62">
                  <c:v>86.042000000000002</c:v>
                </c:pt>
                <c:pt idx="63">
                  <c:v>89.415999999999997</c:v>
                </c:pt>
                <c:pt idx="64">
                  <c:v>92.474000000000004</c:v>
                </c:pt>
                <c:pt idx="65">
                  <c:v>90.097999999999999</c:v>
                </c:pt>
                <c:pt idx="66">
                  <c:v>110.69799999999999</c:v>
                </c:pt>
                <c:pt idx="67">
                  <c:v>137.22999999999999</c:v>
                </c:pt>
                <c:pt idx="68">
                  <c:v>130.465</c:v>
                </c:pt>
                <c:pt idx="69">
                  <c:v>142.74600000000001</c:v>
                </c:pt>
                <c:pt idx="70">
                  <c:v>143.28399999999999</c:v>
                </c:pt>
                <c:pt idx="71">
                  <c:v>163.74700000000001</c:v>
                </c:pt>
                <c:pt idx="72">
                  <c:v>177.74100000000001</c:v>
                </c:pt>
                <c:pt idx="73">
                  <c:v>177.88800000000001</c:v>
                </c:pt>
                <c:pt idx="74">
                  <c:v>170.47</c:v>
                </c:pt>
                <c:pt idx="75">
                  <c:v>172.93600000000001</c:v>
                </c:pt>
                <c:pt idx="76">
                  <c:v>170.14</c:v>
                </c:pt>
                <c:pt idx="77">
                  <c:v>178.79499999999999</c:v>
                </c:pt>
                <c:pt idx="78">
                  <c:v>191.595</c:v>
                </c:pt>
                <c:pt idx="79">
                  <c:v>195.23599999999999</c:v>
                </c:pt>
                <c:pt idx="80">
                  <c:v>187.52199999999999</c:v>
                </c:pt>
                <c:pt idx="81">
                  <c:v>183.53200000000001</c:v>
                </c:pt>
                <c:pt idx="82">
                  <c:v>194.44900000000001</c:v>
                </c:pt>
                <c:pt idx="83">
                  <c:v>183.82499999999999</c:v>
                </c:pt>
                <c:pt idx="84">
                  <c:v>170.679</c:v>
                </c:pt>
                <c:pt idx="85">
                  <c:v>185.327</c:v>
                </c:pt>
                <c:pt idx="86">
                  <c:v>178.679</c:v>
                </c:pt>
                <c:pt idx="87">
                  <c:v>188.04499999999999</c:v>
                </c:pt>
                <c:pt idx="88">
                  <c:v>183.62200000000001</c:v>
                </c:pt>
                <c:pt idx="89">
                  <c:v>181.601</c:v>
                </c:pt>
                <c:pt idx="90">
                  <c:v>174.41300000000001</c:v>
                </c:pt>
                <c:pt idx="91">
                  <c:v>189.95500000000001</c:v>
                </c:pt>
                <c:pt idx="92">
                  <c:v>206.72</c:v>
                </c:pt>
                <c:pt idx="93">
                  <c:v>196.85499999999999</c:v>
                </c:pt>
                <c:pt idx="94">
                  <c:v>188.762</c:v>
                </c:pt>
                <c:pt idx="95">
                  <c:v>176.79</c:v>
                </c:pt>
              </c:numCache>
            </c:numRef>
          </c:yVal>
          <c:smooth val="1"/>
          <c:extLst>
            <c:ext xmlns:c16="http://schemas.microsoft.com/office/drawing/2014/chart" uri="{C3380CC4-5D6E-409C-BE32-E72D297353CC}">
              <c16:uniqueId val="{00000000-BB69-E748-81DE-F148666D1903}"/>
            </c:ext>
          </c:extLst>
        </c:ser>
        <c:ser>
          <c:idx val="1"/>
          <c:order val="1"/>
          <c:tx>
            <c:v>A forecast</c:v>
          </c:tx>
          <c:spPr>
            <a:ln w="28575">
              <a:solidFill>
                <a:srgbClr val="C00000"/>
              </a:solidFill>
              <a:prstDash val="dash"/>
            </a:ln>
          </c:spPr>
          <c:marker>
            <c:symbol val="none"/>
          </c:marker>
          <c:xVal>
            <c:numRef>
              <c:f>'Chart Data'!$C$2:$C$97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Data'!$D$2:$D$97</c:f>
              <c:numCache>
                <c:formatCode>0</c:formatCode>
                <c:ptCount val="96"/>
                <c:pt idx="0">
                  <c:v>131.10988</c:v>
                </c:pt>
                <c:pt idx="1">
                  <c:v>125.99541000000001</c:v>
                </c:pt>
                <c:pt idx="2">
                  <c:v>123.58529</c:v>
                </c:pt>
                <c:pt idx="3">
                  <c:v>129.86084</c:v>
                </c:pt>
                <c:pt idx="4">
                  <c:v>155.48281</c:v>
                </c:pt>
                <c:pt idx="5">
                  <c:v>151.58942999999999</c:v>
                </c:pt>
                <c:pt idx="6">
                  <c:v>158.16078999999999</c:v>
                </c:pt>
                <c:pt idx="7">
                  <c:v>152.33610999999999</c:v>
                </c:pt>
                <c:pt idx="8">
                  <c:v>142.25161</c:v>
                </c:pt>
                <c:pt idx="9">
                  <c:v>136.32907</c:v>
                </c:pt>
                <c:pt idx="10">
                  <c:v>133.66580999999999</c:v>
                </c:pt>
                <c:pt idx="11">
                  <c:v>131.31252000000001</c:v>
                </c:pt>
                <c:pt idx="12">
                  <c:v>129.21851000000001</c:v>
                </c:pt>
                <c:pt idx="13">
                  <c:v>128.637</c:v>
                </c:pt>
                <c:pt idx="14">
                  <c:v>126.75563</c:v>
                </c:pt>
                <c:pt idx="15">
                  <c:v>125.15922</c:v>
                </c:pt>
                <c:pt idx="16">
                  <c:v>132.97369</c:v>
                </c:pt>
                <c:pt idx="17">
                  <c:v>133.17976999999999</c:v>
                </c:pt>
                <c:pt idx="18">
                  <c:v>133.35598999999999</c:v>
                </c:pt>
                <c:pt idx="19">
                  <c:v>130.62214</c:v>
                </c:pt>
                <c:pt idx="20">
                  <c:v>133.98982000000001</c:v>
                </c:pt>
                <c:pt idx="21">
                  <c:v>138.5266</c:v>
                </c:pt>
                <c:pt idx="22">
                  <c:v>139.16095000000001</c:v>
                </c:pt>
                <c:pt idx="23">
                  <c:v>133.48353</c:v>
                </c:pt>
                <c:pt idx="24">
                  <c:v>130.07696000000001</c:v>
                </c:pt>
                <c:pt idx="25">
                  <c:v>131.21217999999999</c:v>
                </c:pt>
                <c:pt idx="26">
                  <c:v>131.59889999999999</c:v>
                </c:pt>
                <c:pt idx="27">
                  <c:v>127.77669</c:v>
                </c:pt>
                <c:pt idx="28">
                  <c:v>123.27307</c:v>
                </c:pt>
                <c:pt idx="29">
                  <c:v>120.52978</c:v>
                </c:pt>
                <c:pt idx="30">
                  <c:v>116.46294</c:v>
                </c:pt>
                <c:pt idx="31">
                  <c:v>114.67751</c:v>
                </c:pt>
                <c:pt idx="32">
                  <c:v>112.59417000000001</c:v>
                </c:pt>
                <c:pt idx="33">
                  <c:v>109.73721999999999</c:v>
                </c:pt>
                <c:pt idx="34">
                  <c:v>106.50434</c:v>
                </c:pt>
                <c:pt idx="35">
                  <c:v>102.67567</c:v>
                </c:pt>
                <c:pt idx="36">
                  <c:v>99.010540000000006</c:v>
                </c:pt>
                <c:pt idx="37">
                  <c:v>95.62312</c:v>
                </c:pt>
                <c:pt idx="38">
                  <c:v>95.834220000000002</c:v>
                </c:pt>
                <c:pt idx="39">
                  <c:v>94.096919999999997</c:v>
                </c:pt>
                <c:pt idx="40">
                  <c:v>77.846429999999998</c:v>
                </c:pt>
                <c:pt idx="41">
                  <c:v>78.295389999999998</c:v>
                </c:pt>
                <c:pt idx="42">
                  <c:v>78.879329999999996</c:v>
                </c:pt>
                <c:pt idx="43">
                  <c:v>81.129140000000007</c:v>
                </c:pt>
                <c:pt idx="44">
                  <c:v>101.6647</c:v>
                </c:pt>
                <c:pt idx="45">
                  <c:v>99.260400000000004</c:v>
                </c:pt>
                <c:pt idx="46">
                  <c:v>91.032349999999994</c:v>
                </c:pt>
                <c:pt idx="47">
                  <c:v>88.173869999999994</c:v>
                </c:pt>
                <c:pt idx="48">
                  <c:v>86.147009999999995</c:v>
                </c:pt>
                <c:pt idx="49">
                  <c:v>82.859189999999998</c:v>
                </c:pt>
                <c:pt idx="50">
                  <c:v>82.084800000000001</c:v>
                </c:pt>
                <c:pt idx="51">
                  <c:v>81.994500000000002</c:v>
                </c:pt>
                <c:pt idx="52">
                  <c:v>79.728269999999995</c:v>
                </c:pt>
                <c:pt idx="53">
                  <c:v>79.395179999999996</c:v>
                </c:pt>
                <c:pt idx="54">
                  <c:v>79.450739999999996</c:v>
                </c:pt>
                <c:pt idx="55">
                  <c:v>79.142129999999995</c:v>
                </c:pt>
                <c:pt idx="56">
                  <c:v>80.266679999999994</c:v>
                </c:pt>
                <c:pt idx="57">
                  <c:v>80.756730000000005</c:v>
                </c:pt>
                <c:pt idx="58">
                  <c:v>82.309849999999997</c:v>
                </c:pt>
                <c:pt idx="59">
                  <c:v>81.829149999999998</c:v>
                </c:pt>
                <c:pt idx="60">
                  <c:v>82.575059999999993</c:v>
                </c:pt>
                <c:pt idx="61">
                  <c:v>86.948980000000006</c:v>
                </c:pt>
                <c:pt idx="62">
                  <c:v>92.919700000000006</c:v>
                </c:pt>
                <c:pt idx="63">
                  <c:v>94.67098</c:v>
                </c:pt>
                <c:pt idx="64">
                  <c:v>98.767330000000001</c:v>
                </c:pt>
                <c:pt idx="65">
                  <c:v>105.13732</c:v>
                </c:pt>
                <c:pt idx="66">
                  <c:v>111.11306</c:v>
                </c:pt>
                <c:pt idx="67">
                  <c:v>117.45659000000001</c:v>
                </c:pt>
                <c:pt idx="68">
                  <c:v>121.56236</c:v>
                </c:pt>
                <c:pt idx="69">
                  <c:v>124.08382</c:v>
                </c:pt>
                <c:pt idx="70">
                  <c:v>126.33642</c:v>
                </c:pt>
                <c:pt idx="71">
                  <c:v>132.23976999999999</c:v>
                </c:pt>
                <c:pt idx="72">
                  <c:v>136.87495000000001</c:v>
                </c:pt>
                <c:pt idx="73">
                  <c:v>137.41918000000001</c:v>
                </c:pt>
                <c:pt idx="74">
                  <c:v>134.53188</c:v>
                </c:pt>
                <c:pt idx="75">
                  <c:v>133.68988999999999</c:v>
                </c:pt>
                <c:pt idx="76">
                  <c:v>141.39048</c:v>
                </c:pt>
                <c:pt idx="77">
                  <c:v>143.26782</c:v>
                </c:pt>
                <c:pt idx="78">
                  <c:v>144.57402999999999</c:v>
                </c:pt>
                <c:pt idx="79">
                  <c:v>143.23905999999999</c:v>
                </c:pt>
                <c:pt idx="80">
                  <c:v>145.18709999999999</c:v>
                </c:pt>
                <c:pt idx="81">
                  <c:v>139.89376999999999</c:v>
                </c:pt>
                <c:pt idx="82">
                  <c:v>138.06522000000001</c:v>
                </c:pt>
                <c:pt idx="83">
                  <c:v>132.96961999999999</c:v>
                </c:pt>
                <c:pt idx="84">
                  <c:v>129.81639000000001</c:v>
                </c:pt>
                <c:pt idx="85">
                  <c:v>133.05257</c:v>
                </c:pt>
                <c:pt idx="86">
                  <c:v>141.98911000000001</c:v>
                </c:pt>
                <c:pt idx="87">
                  <c:v>146.7551</c:v>
                </c:pt>
                <c:pt idx="88">
                  <c:v>140.92067</c:v>
                </c:pt>
                <c:pt idx="89">
                  <c:v>137.55757</c:v>
                </c:pt>
                <c:pt idx="90">
                  <c:v>133.19861</c:v>
                </c:pt>
                <c:pt idx="91">
                  <c:v>143.86456999999999</c:v>
                </c:pt>
                <c:pt idx="92">
                  <c:v>151.89997</c:v>
                </c:pt>
                <c:pt idx="93">
                  <c:v>145.41179</c:v>
                </c:pt>
                <c:pt idx="94">
                  <c:v>137.68870000000001</c:v>
                </c:pt>
                <c:pt idx="95">
                  <c:v>131.09134</c:v>
                </c:pt>
              </c:numCache>
            </c:numRef>
          </c:yVal>
          <c:smooth val="1"/>
          <c:extLst>
            <c:ext xmlns:c16="http://schemas.microsoft.com/office/drawing/2014/chart" uri="{C3380CC4-5D6E-409C-BE32-E72D297353CC}">
              <c16:uniqueId val="{00000001-BB69-E748-81DE-F148666D1903}"/>
            </c:ext>
          </c:extLst>
        </c:ser>
        <c:dLbls>
          <c:showLegendKey val="0"/>
          <c:showVal val="0"/>
          <c:showCatName val="0"/>
          <c:showSerName val="0"/>
          <c:showPercent val="0"/>
          <c:showBubbleSize val="0"/>
        </c:dLbls>
        <c:axId val="48650112"/>
        <c:axId val="48672768"/>
      </c:scatterChart>
      <c:valAx>
        <c:axId val="48672768"/>
        <c:scaling>
          <c:orientation val="minMax"/>
          <c:max val="250"/>
          <c:min val="0"/>
        </c:scaling>
        <c:delete val="0"/>
        <c:axPos val="l"/>
        <c:majorGridlines>
          <c:spPr>
            <a:ln w="9525">
              <a:solidFill>
                <a:srgbClr val="DDE1D9"/>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650">
                <a:solidFill>
                  <a:srgbClr val="333333"/>
                </a:solidFill>
                <a:latin typeface="Times New Roman"/>
                <a:ea typeface="Times New Roman"/>
                <a:cs typeface="Times New Roman"/>
              </a:defRPr>
            </a:pPr>
            <a:endParaRPr lang="en-PT"/>
          </a:p>
        </c:txPr>
        <c:crossAx val="48650112"/>
        <c:crosses val="autoZero"/>
        <c:crossBetween val="midCat"/>
        <c:majorUnit val="50"/>
      </c:valAx>
      <c:valAx>
        <c:axId val="48650112"/>
        <c:scaling>
          <c:orientation val="minMax"/>
          <c:max val="24"/>
          <c:min val="0"/>
        </c:scaling>
        <c:delete val="0"/>
        <c:axPos val="b"/>
        <c:numFmt formatCode="General" sourceLinked="1"/>
        <c:majorTickMark val="none"/>
        <c:minorTickMark val="none"/>
        <c:tickLblPos val="nextTo"/>
        <c:spPr>
          <a:ln w="9525">
            <a:solidFill>
              <a:srgbClr val="BBC2BB"/>
            </a:solidFill>
          </a:ln>
        </c:spPr>
        <c:txPr>
          <a:bodyPr anchorCtr="1"/>
          <a:lstStyle/>
          <a:p>
            <a:pPr>
              <a:defRPr sz="1650">
                <a:solidFill>
                  <a:srgbClr val="333333"/>
                </a:solidFill>
                <a:latin typeface="Times New Roman"/>
                <a:ea typeface="Times New Roman"/>
                <a:cs typeface="Times New Roman"/>
              </a:defRPr>
            </a:pPr>
            <a:endParaRPr lang="en-PT"/>
          </a:p>
        </c:txPr>
        <c:crossAx val="48672768"/>
        <c:crosses val="autoZero"/>
        <c:crossBetween val="midCat"/>
        <c:majorUnit val="4"/>
      </c:valAx>
      <c:spPr>
        <a:solidFill>
          <a:srgbClr val="FFFFFF"/>
        </a:solidFill>
        <a:ln w="0">
          <a:noFill/>
        </a:ln>
      </c:spPr>
    </c:plotArea>
    <c:legend>
      <c:legendPos val="b"/>
      <c:overlay val="0"/>
      <c:txPr>
        <a:bodyPr anchorCtr="1"/>
        <a:lstStyle/>
        <a:p>
          <a:pPr>
            <a:defRPr sz="1800">
              <a:solidFill>
                <a:srgbClr val="000000"/>
              </a:solidFill>
              <a:latin typeface="Times New Roman"/>
              <a:ea typeface="Times New Roman"/>
              <a:cs typeface="Times New Roman"/>
            </a:defRPr>
          </a:pPr>
          <a:endParaRPr lang="en-PT"/>
        </a:p>
      </c:txPr>
    </c:legend>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1"/>
        <c:ser>
          <c:idx val="0"/>
          <c:order val="0"/>
          <c:tx>
            <c:v>Actual demand</c:v>
          </c:tx>
          <c:spPr>
            <a:ln w="28575">
              <a:solidFill>
                <a:srgbClr val="1F4E79"/>
              </a:solidFill>
              <a:prstDash val="solid"/>
            </a:ln>
          </c:spPr>
          <c:marker>
            <c:symbol val="none"/>
          </c:marker>
          <c:xVal>
            <c:numRef>
              <c:f>'Chart Data'!$A$2:$A$97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Data'!$B$2:$B$97</c:f>
              <c:numCache>
                <c:formatCode>0</c:formatCode>
                <c:ptCount val="96"/>
                <c:pt idx="0">
                  <c:v>69.093999999999994</c:v>
                </c:pt>
                <c:pt idx="1">
                  <c:v>72.102000000000004</c:v>
                </c:pt>
                <c:pt idx="2">
                  <c:v>99.875</c:v>
                </c:pt>
                <c:pt idx="3">
                  <c:v>86.183999999999997</c:v>
                </c:pt>
                <c:pt idx="4">
                  <c:v>69.858000000000004</c:v>
                </c:pt>
                <c:pt idx="5">
                  <c:v>58.02</c:v>
                </c:pt>
                <c:pt idx="6">
                  <c:v>53.073999999999998</c:v>
                </c:pt>
                <c:pt idx="7">
                  <c:v>52.564999999999998</c:v>
                </c:pt>
                <c:pt idx="8">
                  <c:v>47.786999999999999</c:v>
                </c:pt>
                <c:pt idx="9">
                  <c:v>49.404000000000003</c:v>
                </c:pt>
                <c:pt idx="10">
                  <c:v>46.131</c:v>
                </c:pt>
                <c:pt idx="11">
                  <c:v>44.731000000000002</c:v>
                </c:pt>
                <c:pt idx="12">
                  <c:v>49.506</c:v>
                </c:pt>
                <c:pt idx="13">
                  <c:v>49.484000000000002</c:v>
                </c:pt>
                <c:pt idx="14">
                  <c:v>47.116999999999997</c:v>
                </c:pt>
                <c:pt idx="15">
                  <c:v>50.067</c:v>
                </c:pt>
                <c:pt idx="16">
                  <c:v>58.447000000000003</c:v>
                </c:pt>
                <c:pt idx="17">
                  <c:v>58.503</c:v>
                </c:pt>
                <c:pt idx="18">
                  <c:v>58.298999999999999</c:v>
                </c:pt>
                <c:pt idx="19">
                  <c:v>59.997999999999998</c:v>
                </c:pt>
                <c:pt idx="20">
                  <c:v>55.401000000000003</c:v>
                </c:pt>
                <c:pt idx="21">
                  <c:v>51.691000000000003</c:v>
                </c:pt>
                <c:pt idx="22">
                  <c:v>47.963999999999999</c:v>
                </c:pt>
                <c:pt idx="23">
                  <c:v>48.460999999999999</c:v>
                </c:pt>
                <c:pt idx="24">
                  <c:v>46.244999999999997</c:v>
                </c:pt>
                <c:pt idx="25">
                  <c:v>48.104999999999997</c:v>
                </c:pt>
                <c:pt idx="26">
                  <c:v>44.447000000000003</c:v>
                </c:pt>
                <c:pt idx="27">
                  <c:v>46.228000000000002</c:v>
                </c:pt>
                <c:pt idx="28">
                  <c:v>41.878</c:v>
                </c:pt>
                <c:pt idx="29">
                  <c:v>40.090000000000003</c:v>
                </c:pt>
                <c:pt idx="30">
                  <c:v>40.036999999999999</c:v>
                </c:pt>
                <c:pt idx="31">
                  <c:v>37.960999999999999</c:v>
                </c:pt>
                <c:pt idx="32">
                  <c:v>38.871000000000002</c:v>
                </c:pt>
                <c:pt idx="33">
                  <c:v>42.780999999999999</c:v>
                </c:pt>
                <c:pt idx="34">
                  <c:v>39.264000000000003</c:v>
                </c:pt>
                <c:pt idx="35">
                  <c:v>38.159999999999997</c:v>
                </c:pt>
                <c:pt idx="36">
                  <c:v>38.781999999999996</c:v>
                </c:pt>
                <c:pt idx="37">
                  <c:v>41.061999999999998</c:v>
                </c:pt>
                <c:pt idx="38">
                  <c:v>42.722999999999999</c:v>
                </c:pt>
                <c:pt idx="39">
                  <c:v>49.670999999999999</c:v>
                </c:pt>
                <c:pt idx="40">
                  <c:v>52.902999999999999</c:v>
                </c:pt>
                <c:pt idx="41">
                  <c:v>42.511000000000003</c:v>
                </c:pt>
                <c:pt idx="42">
                  <c:v>38.360999999999997</c:v>
                </c:pt>
                <c:pt idx="43">
                  <c:v>39</c:v>
                </c:pt>
                <c:pt idx="44">
                  <c:v>42.082999999999998</c:v>
                </c:pt>
                <c:pt idx="45">
                  <c:v>43.801000000000002</c:v>
                </c:pt>
                <c:pt idx="46">
                  <c:v>43.613999999999997</c:v>
                </c:pt>
                <c:pt idx="47">
                  <c:v>42.872999999999998</c:v>
                </c:pt>
                <c:pt idx="48">
                  <c:v>43.5</c:v>
                </c:pt>
                <c:pt idx="49">
                  <c:v>39.963999999999999</c:v>
                </c:pt>
                <c:pt idx="50">
                  <c:v>36.048999999999999</c:v>
                </c:pt>
                <c:pt idx="51">
                  <c:v>36.090000000000003</c:v>
                </c:pt>
                <c:pt idx="52">
                  <c:v>35.503</c:v>
                </c:pt>
                <c:pt idx="53">
                  <c:v>36.353000000000002</c:v>
                </c:pt>
                <c:pt idx="54">
                  <c:v>35.124000000000002</c:v>
                </c:pt>
                <c:pt idx="55">
                  <c:v>35.994999999999997</c:v>
                </c:pt>
                <c:pt idx="56">
                  <c:v>36.26</c:v>
                </c:pt>
                <c:pt idx="57">
                  <c:v>35.201999999999998</c:v>
                </c:pt>
                <c:pt idx="58">
                  <c:v>38.634</c:v>
                </c:pt>
                <c:pt idx="59">
                  <c:v>40.997</c:v>
                </c:pt>
                <c:pt idx="60">
                  <c:v>44.127000000000002</c:v>
                </c:pt>
                <c:pt idx="61">
                  <c:v>40.857999999999997</c:v>
                </c:pt>
                <c:pt idx="62">
                  <c:v>42.305</c:v>
                </c:pt>
                <c:pt idx="63">
                  <c:v>46.838999999999999</c:v>
                </c:pt>
                <c:pt idx="64">
                  <c:v>51.381999999999998</c:v>
                </c:pt>
                <c:pt idx="65">
                  <c:v>52.837000000000003</c:v>
                </c:pt>
                <c:pt idx="66">
                  <c:v>47.954000000000001</c:v>
                </c:pt>
                <c:pt idx="67">
                  <c:v>52.819000000000003</c:v>
                </c:pt>
                <c:pt idx="68">
                  <c:v>58.829000000000001</c:v>
                </c:pt>
                <c:pt idx="69">
                  <c:v>57.197000000000003</c:v>
                </c:pt>
                <c:pt idx="70">
                  <c:v>56.859000000000002</c:v>
                </c:pt>
                <c:pt idx="71">
                  <c:v>56.781999999999996</c:v>
                </c:pt>
                <c:pt idx="72">
                  <c:v>67.355999999999995</c:v>
                </c:pt>
                <c:pt idx="73">
                  <c:v>68.581999999999994</c:v>
                </c:pt>
                <c:pt idx="74">
                  <c:v>72.325000000000003</c:v>
                </c:pt>
                <c:pt idx="75">
                  <c:v>68.882999999999996</c:v>
                </c:pt>
                <c:pt idx="76">
                  <c:v>79.084999999999994</c:v>
                </c:pt>
                <c:pt idx="77">
                  <c:v>77.875</c:v>
                </c:pt>
                <c:pt idx="78">
                  <c:v>76.373000000000005</c:v>
                </c:pt>
                <c:pt idx="79">
                  <c:v>74.725999999999999</c:v>
                </c:pt>
                <c:pt idx="80">
                  <c:v>78.713999999999999</c:v>
                </c:pt>
                <c:pt idx="81">
                  <c:v>71.745999999999995</c:v>
                </c:pt>
                <c:pt idx="82">
                  <c:v>71.756</c:v>
                </c:pt>
                <c:pt idx="83">
                  <c:v>85.974999999999994</c:v>
                </c:pt>
                <c:pt idx="84">
                  <c:v>85.5</c:v>
                </c:pt>
                <c:pt idx="85">
                  <c:v>76.926000000000002</c:v>
                </c:pt>
                <c:pt idx="86">
                  <c:v>64.031999999999996</c:v>
                </c:pt>
                <c:pt idx="87">
                  <c:v>61.24</c:v>
                </c:pt>
                <c:pt idx="88">
                  <c:v>67.066999999999993</c:v>
                </c:pt>
                <c:pt idx="89">
                  <c:v>60.71</c:v>
                </c:pt>
                <c:pt idx="90">
                  <c:v>54.976999999999997</c:v>
                </c:pt>
                <c:pt idx="91">
                  <c:v>54</c:v>
                </c:pt>
                <c:pt idx="92">
                  <c:v>56.555999999999997</c:v>
                </c:pt>
                <c:pt idx="93">
                  <c:v>61.606000000000002</c:v>
                </c:pt>
                <c:pt idx="94">
                  <c:v>64.433999999999997</c:v>
                </c:pt>
                <c:pt idx="95">
                  <c:v>70.716999999999999</c:v>
                </c:pt>
              </c:numCache>
            </c:numRef>
          </c:yVal>
          <c:smooth val="1"/>
          <c:extLst>
            <c:ext xmlns:c16="http://schemas.microsoft.com/office/drawing/2014/chart" uri="{C3380CC4-5D6E-409C-BE32-E72D297353CC}">
              <c16:uniqueId val="{00000000-64BD-A947-AA09-5821921FB828}"/>
            </c:ext>
          </c:extLst>
        </c:ser>
        <c:ser>
          <c:idx val="1"/>
          <c:order val="1"/>
          <c:tx>
            <c:v>A forecast</c:v>
          </c:tx>
          <c:spPr>
            <a:ln w="28575">
              <a:solidFill>
                <a:srgbClr val="C00000"/>
              </a:solidFill>
              <a:prstDash val="dash"/>
            </a:ln>
          </c:spPr>
          <c:marker>
            <c:symbol val="none"/>
          </c:marker>
          <c:xVal>
            <c:numRef>
              <c:f>'Chart Data'!$C$2:$C$97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Data'!$D$2:$D$97</c:f>
              <c:numCache>
                <c:formatCode>0</c:formatCode>
                <c:ptCount val="96"/>
                <c:pt idx="0">
                  <c:v>80.357889999999998</c:v>
                </c:pt>
                <c:pt idx="1">
                  <c:v>81.575320000000005</c:v>
                </c:pt>
                <c:pt idx="2">
                  <c:v>103.84529999999999</c:v>
                </c:pt>
                <c:pt idx="3">
                  <c:v>92.096469999999997</c:v>
                </c:pt>
                <c:pt idx="4">
                  <c:v>78.523179999999996</c:v>
                </c:pt>
                <c:pt idx="5">
                  <c:v>67.023219999999995</c:v>
                </c:pt>
                <c:pt idx="6">
                  <c:v>60.527520000000003</c:v>
                </c:pt>
                <c:pt idx="7">
                  <c:v>58.876530000000002</c:v>
                </c:pt>
                <c:pt idx="8">
                  <c:v>59.811909999999997</c:v>
                </c:pt>
                <c:pt idx="9">
                  <c:v>58.866930000000004</c:v>
                </c:pt>
                <c:pt idx="10">
                  <c:v>57.593420000000002</c:v>
                </c:pt>
                <c:pt idx="11">
                  <c:v>56.331290000000003</c:v>
                </c:pt>
                <c:pt idx="12">
                  <c:v>59.49362</c:v>
                </c:pt>
                <c:pt idx="13">
                  <c:v>59.494599999999998</c:v>
                </c:pt>
                <c:pt idx="14">
                  <c:v>58.239260000000002</c:v>
                </c:pt>
                <c:pt idx="15">
                  <c:v>59.353250000000003</c:v>
                </c:pt>
                <c:pt idx="16">
                  <c:v>63.39911</c:v>
                </c:pt>
                <c:pt idx="17">
                  <c:v>62.439059999999998</c:v>
                </c:pt>
                <c:pt idx="18">
                  <c:v>62.522849999999998</c:v>
                </c:pt>
                <c:pt idx="19">
                  <c:v>61.285510000000002</c:v>
                </c:pt>
                <c:pt idx="20">
                  <c:v>59.94538</c:v>
                </c:pt>
                <c:pt idx="21">
                  <c:v>58.229170000000003</c:v>
                </c:pt>
                <c:pt idx="22">
                  <c:v>56.764980000000001</c:v>
                </c:pt>
                <c:pt idx="23">
                  <c:v>55.903770000000002</c:v>
                </c:pt>
                <c:pt idx="24">
                  <c:v>55.27216</c:v>
                </c:pt>
                <c:pt idx="25">
                  <c:v>54.507739999999998</c:v>
                </c:pt>
                <c:pt idx="26">
                  <c:v>53.024619999999999</c:v>
                </c:pt>
                <c:pt idx="27">
                  <c:v>52.216540000000002</c:v>
                </c:pt>
                <c:pt idx="28">
                  <c:v>51.228479999999998</c:v>
                </c:pt>
                <c:pt idx="29">
                  <c:v>51.833469999999998</c:v>
                </c:pt>
                <c:pt idx="30">
                  <c:v>51.323169999999998</c:v>
                </c:pt>
                <c:pt idx="31">
                  <c:v>51.235790000000001</c:v>
                </c:pt>
                <c:pt idx="32">
                  <c:v>51.003259999999997</c:v>
                </c:pt>
                <c:pt idx="33">
                  <c:v>49.57349</c:v>
                </c:pt>
                <c:pt idx="34">
                  <c:v>48.609529999999999</c:v>
                </c:pt>
                <c:pt idx="35">
                  <c:v>49.678829999999998</c:v>
                </c:pt>
                <c:pt idx="36">
                  <c:v>49.041600000000003</c:v>
                </c:pt>
                <c:pt idx="37">
                  <c:v>49.645580000000002</c:v>
                </c:pt>
                <c:pt idx="38">
                  <c:v>51.661470000000001</c:v>
                </c:pt>
                <c:pt idx="39">
                  <c:v>51.922440000000002</c:v>
                </c:pt>
                <c:pt idx="40">
                  <c:v>54.14067</c:v>
                </c:pt>
                <c:pt idx="41">
                  <c:v>53.063450000000003</c:v>
                </c:pt>
                <c:pt idx="42">
                  <c:v>51.936239999999998</c:v>
                </c:pt>
                <c:pt idx="43">
                  <c:v>52.319040000000001</c:v>
                </c:pt>
                <c:pt idx="44">
                  <c:v>51.479259999999996</c:v>
                </c:pt>
                <c:pt idx="45">
                  <c:v>50.899389999999997</c:v>
                </c:pt>
                <c:pt idx="46">
                  <c:v>49.737050000000004</c:v>
                </c:pt>
                <c:pt idx="47">
                  <c:v>50.04318</c:v>
                </c:pt>
                <c:pt idx="48">
                  <c:v>50.028640000000003</c:v>
                </c:pt>
                <c:pt idx="49">
                  <c:v>50.122929999999997</c:v>
                </c:pt>
                <c:pt idx="50">
                  <c:v>50.225639999999999</c:v>
                </c:pt>
                <c:pt idx="51">
                  <c:v>48.955260000000003</c:v>
                </c:pt>
                <c:pt idx="52">
                  <c:v>50.134</c:v>
                </c:pt>
                <c:pt idx="53">
                  <c:v>49.457030000000003</c:v>
                </c:pt>
                <c:pt idx="54">
                  <c:v>48.826830000000001</c:v>
                </c:pt>
                <c:pt idx="55">
                  <c:v>48.678019999999997</c:v>
                </c:pt>
                <c:pt idx="56">
                  <c:v>49.683369999999996</c:v>
                </c:pt>
                <c:pt idx="57">
                  <c:v>51.693919999999999</c:v>
                </c:pt>
                <c:pt idx="58">
                  <c:v>53.40164</c:v>
                </c:pt>
                <c:pt idx="59">
                  <c:v>54.374209999999998</c:v>
                </c:pt>
                <c:pt idx="60">
                  <c:v>53.622509999999998</c:v>
                </c:pt>
                <c:pt idx="61">
                  <c:v>56.150979999999997</c:v>
                </c:pt>
                <c:pt idx="62">
                  <c:v>58.911169999999998</c:v>
                </c:pt>
                <c:pt idx="63">
                  <c:v>61.678260000000002</c:v>
                </c:pt>
                <c:pt idx="64">
                  <c:v>62.530079999999998</c:v>
                </c:pt>
                <c:pt idx="65">
                  <c:v>64.268289999999993</c:v>
                </c:pt>
                <c:pt idx="66">
                  <c:v>66.640659999999997</c:v>
                </c:pt>
                <c:pt idx="67">
                  <c:v>68.510639999999995</c:v>
                </c:pt>
                <c:pt idx="68">
                  <c:v>69.222859999999997</c:v>
                </c:pt>
                <c:pt idx="69">
                  <c:v>69.245769999999993</c:v>
                </c:pt>
                <c:pt idx="70">
                  <c:v>71.292760000000001</c:v>
                </c:pt>
                <c:pt idx="71">
                  <c:v>73.539529999999999</c:v>
                </c:pt>
                <c:pt idx="72">
                  <c:v>77.382649999999998</c:v>
                </c:pt>
                <c:pt idx="73">
                  <c:v>80.892679999999999</c:v>
                </c:pt>
                <c:pt idx="74">
                  <c:v>84.508949999999999</c:v>
                </c:pt>
                <c:pt idx="75">
                  <c:v>83.069299999999998</c:v>
                </c:pt>
                <c:pt idx="76">
                  <c:v>84.146749999999997</c:v>
                </c:pt>
                <c:pt idx="77">
                  <c:v>83.028689999999997</c:v>
                </c:pt>
                <c:pt idx="78">
                  <c:v>82.963570000000004</c:v>
                </c:pt>
                <c:pt idx="79">
                  <c:v>79.974329999999995</c:v>
                </c:pt>
                <c:pt idx="80">
                  <c:v>82.738810000000001</c:v>
                </c:pt>
                <c:pt idx="81">
                  <c:v>78.794340000000005</c:v>
                </c:pt>
                <c:pt idx="82">
                  <c:v>80.556280000000001</c:v>
                </c:pt>
                <c:pt idx="83">
                  <c:v>92.841009999999997</c:v>
                </c:pt>
                <c:pt idx="84">
                  <c:v>89.785769999999999</c:v>
                </c:pt>
                <c:pt idx="85">
                  <c:v>81.454279999999997</c:v>
                </c:pt>
                <c:pt idx="86">
                  <c:v>75.574979999999996</c:v>
                </c:pt>
                <c:pt idx="87">
                  <c:v>75.847570000000005</c:v>
                </c:pt>
                <c:pt idx="88">
                  <c:v>71.066749999999999</c:v>
                </c:pt>
                <c:pt idx="89">
                  <c:v>66.358239999999995</c:v>
                </c:pt>
                <c:pt idx="90">
                  <c:v>63.616109999999999</c:v>
                </c:pt>
                <c:pt idx="91">
                  <c:v>61.250329999999998</c:v>
                </c:pt>
                <c:pt idx="92">
                  <c:v>63.468870000000003</c:v>
                </c:pt>
                <c:pt idx="93">
                  <c:v>67.323580000000007</c:v>
                </c:pt>
                <c:pt idx="94">
                  <c:v>74.537499999999994</c:v>
                </c:pt>
                <c:pt idx="95">
                  <c:v>78.09675</c:v>
                </c:pt>
              </c:numCache>
            </c:numRef>
          </c:yVal>
          <c:smooth val="1"/>
          <c:extLst>
            <c:ext xmlns:c16="http://schemas.microsoft.com/office/drawing/2014/chart" uri="{C3380CC4-5D6E-409C-BE32-E72D297353CC}">
              <c16:uniqueId val="{00000001-64BD-A947-AA09-5821921FB828}"/>
            </c:ext>
          </c:extLst>
        </c:ser>
        <c:dLbls>
          <c:showLegendKey val="0"/>
          <c:showVal val="0"/>
          <c:showCatName val="0"/>
          <c:showSerName val="0"/>
          <c:showPercent val="0"/>
          <c:showBubbleSize val="0"/>
        </c:dLbls>
        <c:axId val="48650112"/>
        <c:axId val="48672768"/>
      </c:scatterChart>
      <c:valAx>
        <c:axId val="48672768"/>
        <c:scaling>
          <c:orientation val="minMax"/>
          <c:max val="125"/>
          <c:min val="0"/>
        </c:scaling>
        <c:delete val="0"/>
        <c:axPos val="l"/>
        <c:majorGridlines>
          <c:spPr>
            <a:ln w="9525">
              <a:solidFill>
                <a:srgbClr val="DDE1D9"/>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650">
                <a:solidFill>
                  <a:srgbClr val="333333"/>
                </a:solidFill>
                <a:latin typeface="Times New Roman"/>
                <a:ea typeface="Times New Roman"/>
                <a:cs typeface="Times New Roman"/>
              </a:defRPr>
            </a:pPr>
            <a:endParaRPr lang="en-PT"/>
          </a:p>
        </c:txPr>
        <c:crossAx val="48650112"/>
        <c:crosses val="autoZero"/>
        <c:crossBetween val="midCat"/>
        <c:majorUnit val="25"/>
      </c:valAx>
      <c:valAx>
        <c:axId val="48650112"/>
        <c:scaling>
          <c:orientation val="minMax"/>
          <c:max val="24"/>
          <c:min val="0"/>
        </c:scaling>
        <c:delete val="0"/>
        <c:axPos val="b"/>
        <c:numFmt formatCode="General" sourceLinked="1"/>
        <c:majorTickMark val="none"/>
        <c:minorTickMark val="none"/>
        <c:tickLblPos val="nextTo"/>
        <c:spPr>
          <a:ln w="9525">
            <a:solidFill>
              <a:srgbClr val="BBC2BB"/>
            </a:solidFill>
          </a:ln>
        </c:spPr>
        <c:txPr>
          <a:bodyPr anchorCtr="1"/>
          <a:lstStyle/>
          <a:p>
            <a:pPr>
              <a:defRPr sz="1650">
                <a:solidFill>
                  <a:srgbClr val="333333"/>
                </a:solidFill>
                <a:latin typeface="Times New Roman"/>
                <a:ea typeface="Times New Roman"/>
                <a:cs typeface="Times New Roman"/>
              </a:defRPr>
            </a:pPr>
            <a:endParaRPr lang="en-PT"/>
          </a:p>
        </c:txPr>
        <c:crossAx val="48672768"/>
        <c:crosses val="autoZero"/>
        <c:crossBetween val="midCat"/>
        <c:majorUnit val="4"/>
      </c:valAx>
      <c:spPr>
        <a:solidFill>
          <a:srgbClr val="FFFFFF"/>
        </a:solidFill>
        <a:ln w="0">
          <a:noFill/>
        </a:ln>
      </c:spPr>
    </c:plotArea>
    <c:legend>
      <c:legendPos val="b"/>
      <c:overlay val="0"/>
      <c:txPr>
        <a:bodyPr anchorCtr="1"/>
        <a:lstStyle/>
        <a:p>
          <a:pPr>
            <a:defRPr sz="1800">
              <a:solidFill>
                <a:srgbClr val="000000"/>
              </a:solidFill>
              <a:latin typeface="Times New Roman"/>
              <a:ea typeface="Times New Roman"/>
              <a:cs typeface="Times New Roman"/>
            </a:defRPr>
          </a:pPr>
          <a:endParaRPr lang="en-PT"/>
        </a:p>
      </c:txPr>
    </c:legend>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col"/>
        <c:grouping val="clustered"/>
        <c:varyColors val="0"/>
        <c:ser>
          <c:idx val="0"/>
          <c:order val="0"/>
          <c:tx>
            <c:v>Point forecast (MWh)</c:v>
          </c:tx>
          <c:spPr>
            <a:solidFill>
              <a:srgbClr val="C00000"/>
            </a:solidFill>
          </c:spPr>
          <c:invertIfNegative val="1"/>
          <c:dPt>
            <c:idx val="0"/>
            <c:invertIfNegative val="0"/>
            <c:bubble3D val="0"/>
            <c:extLst>
              <c:ext xmlns:c16="http://schemas.microsoft.com/office/drawing/2014/chart" uri="{C3380CC4-5D6E-409C-BE32-E72D297353CC}">
                <c16:uniqueId val="{00000001-F2AA-9C41-B6A3-9A480E53F817}"/>
              </c:ext>
            </c:extLst>
          </c:dPt>
          <c:dPt>
            <c:idx val="1"/>
            <c:invertIfNegative val="0"/>
            <c:bubble3D val="0"/>
            <c:spPr>
              <a:solidFill>
                <a:srgbClr val="4472C4"/>
              </a:solidFill>
            </c:spPr>
            <c:extLst>
              <c:ext xmlns:c16="http://schemas.microsoft.com/office/drawing/2014/chart" uri="{C3380CC4-5D6E-409C-BE32-E72D297353CC}">
                <c16:uniqueId val="{00000003-F2AA-9C41-B6A3-9A480E53F817}"/>
              </c:ext>
            </c:extLst>
          </c:dPt>
          <c:dLbls>
            <c:spPr>
              <a:noFill/>
              <a:ln>
                <a:noFill/>
              </a:ln>
              <a:effectLst/>
            </c:spPr>
            <c:txPr>
              <a:bodyPr anchorCtr="1"/>
              <a:lstStyle/>
              <a:p>
                <a:pPr>
                  <a:defRPr sz="1800">
                    <a:solidFill>
                      <a:srgbClr val="000000"/>
                    </a:solidFill>
                    <a:latin typeface="Times New Roman"/>
                    <a:ea typeface="Times New Roman"/>
                    <a:cs typeface="Times New Roman"/>
                  </a:defRPr>
                </a:pPr>
                <a:endParaRPr lang="en-P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Approach A</c:v>
                </c:pt>
                <c:pt idx="1">
                  <c:v>Approach B</c:v>
                </c:pt>
              </c:strCache>
            </c:strRef>
          </c:cat>
          <c:val>
            <c:numRef>
              <c:f>'Chart Data'!$B$2:$B$3</c:f>
              <c:numCache>
                <c:formatCode>0.000</c:formatCode>
                <c:ptCount val="2"/>
                <c:pt idx="0">
                  <c:v>13.015000000000001</c:v>
                </c:pt>
                <c:pt idx="1">
                  <c:v>12.012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F2AA-9C41-B6A3-9A480E53F817}"/>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BBC2BB"/>
            </a:solidFill>
          </a:ln>
        </c:spPr>
        <c:txPr>
          <a:bodyPr anchorCtr="1"/>
          <a:lstStyle/>
          <a:p>
            <a:pPr>
              <a:defRPr sz="1650">
                <a:solidFill>
                  <a:srgbClr val="333333"/>
                </a:solidFill>
                <a:latin typeface="Times New Roman"/>
                <a:ea typeface="Times New Roman"/>
                <a:cs typeface="Times New Roman"/>
              </a:defRPr>
            </a:pPr>
            <a:endParaRPr lang="en-PT"/>
          </a:p>
        </c:txPr>
        <c:crossAx val="48672768"/>
        <c:crosses val="autoZero"/>
        <c:auto val="1"/>
        <c:lblAlgn val="ctr"/>
        <c:lblOffset val="100"/>
        <c:noMultiLvlLbl val="1"/>
      </c:catAx>
      <c:valAx>
        <c:axId val="48672768"/>
        <c:scaling>
          <c:orientation val="minMax"/>
          <c:max val="16"/>
          <c:min val="0"/>
        </c:scaling>
        <c:delete val="0"/>
        <c:axPos val="l"/>
        <c:majorGridlines>
          <c:spPr>
            <a:ln w="9525">
              <a:solidFill>
                <a:srgbClr val="DDE1D9"/>
              </a:solidFill>
            </a:ln>
          </c:spPr>
        </c:majorGridlines>
        <c:numFmt formatCode="0.000" sourceLinked="1"/>
        <c:majorTickMark val="none"/>
        <c:minorTickMark val="none"/>
        <c:tickLblPos val="nextTo"/>
        <c:spPr>
          <a:ln w="9525">
            <a:solidFill>
              <a:srgbClr val="D4D4D4"/>
            </a:solidFill>
            <a:prstDash val="solid"/>
          </a:ln>
        </c:spPr>
        <c:txPr>
          <a:bodyPr anchorCtr="1"/>
          <a:lstStyle/>
          <a:p>
            <a:pPr>
              <a:defRPr sz="1650">
                <a:solidFill>
                  <a:srgbClr val="333333"/>
                </a:solidFill>
                <a:latin typeface="Times New Roman"/>
                <a:ea typeface="Times New Roman"/>
                <a:cs typeface="Times New Roman"/>
              </a:defRPr>
            </a:pPr>
            <a:endParaRPr lang="en-PT"/>
          </a:p>
        </c:txPr>
        <c:crossAx val="48650112"/>
        <c:crosses val="autoZero"/>
        <c:crossBetween val="between"/>
        <c:majorUnit val="4"/>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col"/>
        <c:grouping val="clustered"/>
        <c:varyColors val="0"/>
        <c:ser>
          <c:idx val="0"/>
          <c:order val="0"/>
          <c:tx>
            <c:v>Validation WAPE (%)</c:v>
          </c:tx>
          <c:spPr>
            <a:solidFill>
              <a:srgbClr val="C00000"/>
            </a:solidFill>
          </c:spPr>
          <c:invertIfNegative val="1"/>
          <c:dLbls>
            <c:spPr>
              <a:noFill/>
              <a:ln>
                <a:noFill/>
              </a:ln>
              <a:effectLst/>
            </c:spPr>
            <c:txPr>
              <a:bodyPr anchorCtr="1"/>
              <a:lstStyle/>
              <a:p>
                <a:pPr>
                  <a:defRPr sz="1800">
                    <a:solidFill>
                      <a:srgbClr val="000000"/>
                    </a:solidFill>
                    <a:latin typeface="Times New Roman"/>
                    <a:ea typeface="Times New Roman"/>
                    <a:cs typeface="Times New Roman"/>
                  </a:defRPr>
                </a:pPr>
                <a:endParaRPr lang="en-P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History</c:v>
                </c:pt>
                <c:pt idx="1">
                  <c:v>+ Weather</c:v>
                </c:pt>
                <c:pt idx="2">
                  <c:v>+ Building</c:v>
                </c:pt>
                <c:pt idx="3">
                  <c:v>+ Heating</c:v>
                </c:pt>
                <c:pt idx="4">
                  <c:v>+ Recent</c:v>
                </c:pt>
                <c:pt idx="5">
                  <c:v>Recent + PV</c:v>
                </c:pt>
              </c:strCache>
            </c:strRef>
          </c:cat>
          <c:val>
            <c:numRef>
              <c:f>'Chart Data'!$B$2:$B$7</c:f>
              <c:numCache>
                <c:formatCode>0.00</c:formatCode>
                <c:ptCount val="6"/>
                <c:pt idx="0">
                  <c:v>16.1447</c:v>
                </c:pt>
                <c:pt idx="1">
                  <c:v>15.321300000000001</c:v>
                </c:pt>
                <c:pt idx="2">
                  <c:v>15.2821</c:v>
                </c:pt>
                <c:pt idx="3">
                  <c:v>15.2232</c:v>
                </c:pt>
                <c:pt idx="4">
                  <c:v>14.127599999999999</c:v>
                </c:pt>
                <c:pt idx="5">
                  <c:v>14.142300000000001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5A5-D841-BA19-28FEF7928ED9}"/>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BBC2BB"/>
            </a:solidFill>
          </a:ln>
        </c:spPr>
        <c:txPr>
          <a:bodyPr anchorCtr="1"/>
          <a:lstStyle/>
          <a:p>
            <a:pPr>
              <a:defRPr sz="1650">
                <a:solidFill>
                  <a:srgbClr val="333333"/>
                </a:solidFill>
                <a:latin typeface="Times New Roman"/>
                <a:ea typeface="Times New Roman"/>
                <a:cs typeface="Times New Roman"/>
              </a:defRPr>
            </a:pPr>
            <a:endParaRPr lang="en-PT"/>
          </a:p>
        </c:txPr>
        <c:crossAx val="48672768"/>
        <c:crosses val="autoZero"/>
        <c:auto val="1"/>
        <c:lblAlgn val="ctr"/>
        <c:lblOffset val="100"/>
        <c:noMultiLvlLbl val="1"/>
      </c:catAx>
      <c:valAx>
        <c:axId val="48672768"/>
        <c:scaling>
          <c:orientation val="minMax"/>
          <c:max val="20"/>
          <c:min val="0"/>
        </c:scaling>
        <c:delete val="0"/>
        <c:axPos val="l"/>
        <c:majorGridlines>
          <c:spPr>
            <a:ln w="9525">
              <a:solidFill>
                <a:srgbClr val="DDE1D9"/>
              </a:solidFill>
            </a:ln>
          </c:spPr>
        </c:majorGridlines>
        <c:numFmt formatCode="0.00" sourceLinked="1"/>
        <c:majorTickMark val="none"/>
        <c:minorTickMark val="none"/>
        <c:tickLblPos val="nextTo"/>
        <c:spPr>
          <a:ln w="9525">
            <a:solidFill>
              <a:srgbClr val="D4D4D4"/>
            </a:solidFill>
            <a:prstDash val="solid"/>
          </a:ln>
        </c:spPr>
        <c:txPr>
          <a:bodyPr anchorCtr="1"/>
          <a:lstStyle/>
          <a:p>
            <a:pPr>
              <a:defRPr sz="1650">
                <a:solidFill>
                  <a:srgbClr val="333333"/>
                </a:solidFill>
                <a:latin typeface="Times New Roman"/>
                <a:ea typeface="Times New Roman"/>
                <a:cs typeface="Times New Roman"/>
              </a:defRPr>
            </a:pPr>
            <a:endParaRPr lang="en-PT"/>
          </a:p>
        </c:txPr>
        <c:crossAx val="48650112"/>
        <c:crosses val="autoZero"/>
        <c:crossBetween val="between"/>
        <c:majorUnit val="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1"/>
        <c:ser>
          <c:idx val="0"/>
          <c:order val="0"/>
          <c:tx>
            <c:v>Actual demand</c:v>
          </c:tx>
          <c:spPr>
            <a:ln w="28575">
              <a:solidFill>
                <a:srgbClr val="1F4E79"/>
              </a:solidFill>
              <a:prstDash val="solid"/>
            </a:ln>
          </c:spPr>
          <c:marker>
            <c:symbol val="none"/>
          </c:marker>
          <c:xVal>
            <c:numRef>
              <c:f>'Chart Data'!$A$2:$A$97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Data'!$B$2:$B$97</c:f>
              <c:numCache>
                <c:formatCode>0</c:formatCode>
                <c:ptCount val="96"/>
                <c:pt idx="0">
                  <c:v>128.893</c:v>
                </c:pt>
                <c:pt idx="1">
                  <c:v>117.645</c:v>
                </c:pt>
                <c:pt idx="2">
                  <c:v>112.753</c:v>
                </c:pt>
                <c:pt idx="3">
                  <c:v>123.828</c:v>
                </c:pt>
                <c:pt idx="4">
                  <c:v>153.95699999999999</c:v>
                </c:pt>
                <c:pt idx="5">
                  <c:v>152.727</c:v>
                </c:pt>
                <c:pt idx="6">
                  <c:v>146.209</c:v>
                </c:pt>
                <c:pt idx="7">
                  <c:v>138.02199999999999</c:v>
                </c:pt>
                <c:pt idx="8">
                  <c:v>123.28400000000001</c:v>
                </c:pt>
                <c:pt idx="9">
                  <c:v>129.286</c:v>
                </c:pt>
                <c:pt idx="10">
                  <c:v>118.61199999999999</c:v>
                </c:pt>
                <c:pt idx="11">
                  <c:v>111.596</c:v>
                </c:pt>
                <c:pt idx="12">
                  <c:v>111.702</c:v>
                </c:pt>
                <c:pt idx="13">
                  <c:v>122.55800000000001</c:v>
                </c:pt>
                <c:pt idx="14">
                  <c:v>126.39700000000001</c:v>
                </c:pt>
                <c:pt idx="15">
                  <c:v>121.313</c:v>
                </c:pt>
                <c:pt idx="16">
                  <c:v>131.23500000000001</c:v>
                </c:pt>
                <c:pt idx="17">
                  <c:v>136.67500000000001</c:v>
                </c:pt>
                <c:pt idx="18">
                  <c:v>130.66800000000001</c:v>
                </c:pt>
                <c:pt idx="19">
                  <c:v>131.92699999999999</c:v>
                </c:pt>
                <c:pt idx="20">
                  <c:v>137.59100000000001</c:v>
                </c:pt>
                <c:pt idx="21">
                  <c:v>142.714</c:v>
                </c:pt>
                <c:pt idx="22">
                  <c:v>141.83000000000001</c:v>
                </c:pt>
                <c:pt idx="23">
                  <c:v>149.851</c:v>
                </c:pt>
                <c:pt idx="24">
                  <c:v>138.113</c:v>
                </c:pt>
                <c:pt idx="25">
                  <c:v>139.107</c:v>
                </c:pt>
                <c:pt idx="26">
                  <c:v>143.98400000000001</c:v>
                </c:pt>
                <c:pt idx="27">
                  <c:v>142.12700000000001</c:v>
                </c:pt>
                <c:pt idx="28">
                  <c:v>140.56899999999999</c:v>
                </c:pt>
                <c:pt idx="29">
                  <c:v>132.465</c:v>
                </c:pt>
                <c:pt idx="30">
                  <c:v>127.87</c:v>
                </c:pt>
                <c:pt idx="31">
                  <c:v>128.82900000000001</c:v>
                </c:pt>
                <c:pt idx="32">
                  <c:v>117.98</c:v>
                </c:pt>
                <c:pt idx="33">
                  <c:v>115.705</c:v>
                </c:pt>
                <c:pt idx="34">
                  <c:v>96.905000000000001</c:v>
                </c:pt>
                <c:pt idx="35">
                  <c:v>85.4</c:v>
                </c:pt>
                <c:pt idx="36">
                  <c:v>100.577</c:v>
                </c:pt>
                <c:pt idx="37">
                  <c:v>101.16500000000001</c:v>
                </c:pt>
                <c:pt idx="38">
                  <c:v>92.028000000000006</c:v>
                </c:pt>
                <c:pt idx="39">
                  <c:v>83.093999999999994</c:v>
                </c:pt>
                <c:pt idx="40">
                  <c:v>57.259</c:v>
                </c:pt>
                <c:pt idx="41">
                  <c:v>64.019000000000005</c:v>
                </c:pt>
                <c:pt idx="42">
                  <c:v>68.477999999999994</c:v>
                </c:pt>
                <c:pt idx="43">
                  <c:v>73.022999999999996</c:v>
                </c:pt>
                <c:pt idx="44">
                  <c:v>115.53</c:v>
                </c:pt>
                <c:pt idx="45">
                  <c:v>111.73099999999999</c:v>
                </c:pt>
                <c:pt idx="46">
                  <c:v>100.88800000000001</c:v>
                </c:pt>
                <c:pt idx="47">
                  <c:v>94.704999999999998</c:v>
                </c:pt>
                <c:pt idx="48">
                  <c:v>94.436999999999998</c:v>
                </c:pt>
                <c:pt idx="49">
                  <c:v>85.427999999999997</c:v>
                </c:pt>
                <c:pt idx="50">
                  <c:v>72.774000000000001</c:v>
                </c:pt>
                <c:pt idx="51">
                  <c:v>76.884</c:v>
                </c:pt>
                <c:pt idx="52">
                  <c:v>72.703999999999994</c:v>
                </c:pt>
                <c:pt idx="53">
                  <c:v>74.38</c:v>
                </c:pt>
                <c:pt idx="54">
                  <c:v>72.962000000000003</c:v>
                </c:pt>
                <c:pt idx="55">
                  <c:v>74.406000000000006</c:v>
                </c:pt>
                <c:pt idx="56">
                  <c:v>68.346000000000004</c:v>
                </c:pt>
                <c:pt idx="57">
                  <c:v>74.744</c:v>
                </c:pt>
                <c:pt idx="58">
                  <c:v>86.313000000000002</c:v>
                </c:pt>
                <c:pt idx="59">
                  <c:v>80.590999999999994</c:v>
                </c:pt>
                <c:pt idx="60">
                  <c:v>77.968000000000004</c:v>
                </c:pt>
                <c:pt idx="61">
                  <c:v>85.253</c:v>
                </c:pt>
                <c:pt idx="62">
                  <c:v>80.194000000000003</c:v>
                </c:pt>
                <c:pt idx="63">
                  <c:v>92.869</c:v>
                </c:pt>
                <c:pt idx="64">
                  <c:v>107.224</c:v>
                </c:pt>
                <c:pt idx="65">
                  <c:v>105.279</c:v>
                </c:pt>
                <c:pt idx="66">
                  <c:v>108.52</c:v>
                </c:pt>
                <c:pt idx="67">
                  <c:v>118.31699999999999</c:v>
                </c:pt>
                <c:pt idx="68">
                  <c:v>124.947</c:v>
                </c:pt>
                <c:pt idx="69">
                  <c:v>131.17500000000001</c:v>
                </c:pt>
                <c:pt idx="70">
                  <c:v>131.828</c:v>
                </c:pt>
                <c:pt idx="71">
                  <c:v>153.578</c:v>
                </c:pt>
                <c:pt idx="72">
                  <c:v>158.24199999999999</c:v>
                </c:pt>
                <c:pt idx="73">
                  <c:v>144.11500000000001</c:v>
                </c:pt>
                <c:pt idx="74">
                  <c:v>145.345</c:v>
                </c:pt>
                <c:pt idx="75">
                  <c:v>144.31100000000001</c:v>
                </c:pt>
                <c:pt idx="76">
                  <c:v>134.87700000000001</c:v>
                </c:pt>
                <c:pt idx="77">
                  <c:v>147.09299999999999</c:v>
                </c:pt>
                <c:pt idx="78">
                  <c:v>155.02199999999999</c:v>
                </c:pt>
                <c:pt idx="79">
                  <c:v>143.256</c:v>
                </c:pt>
                <c:pt idx="80">
                  <c:v>150.607</c:v>
                </c:pt>
                <c:pt idx="81">
                  <c:v>141.43700000000001</c:v>
                </c:pt>
                <c:pt idx="82">
                  <c:v>135.09399999999999</c:v>
                </c:pt>
                <c:pt idx="83">
                  <c:v>139.006</c:v>
                </c:pt>
                <c:pt idx="84">
                  <c:v>139.56</c:v>
                </c:pt>
                <c:pt idx="85">
                  <c:v>143.41900000000001</c:v>
                </c:pt>
                <c:pt idx="86">
                  <c:v>150.834</c:v>
                </c:pt>
                <c:pt idx="87">
                  <c:v>135.161</c:v>
                </c:pt>
                <c:pt idx="88">
                  <c:v>126.992</c:v>
                </c:pt>
                <c:pt idx="89">
                  <c:v>126.236</c:v>
                </c:pt>
                <c:pt idx="90">
                  <c:v>121.11499999999999</c:v>
                </c:pt>
                <c:pt idx="91">
                  <c:v>130.44300000000001</c:v>
                </c:pt>
                <c:pt idx="92">
                  <c:v>151.46</c:v>
                </c:pt>
                <c:pt idx="93">
                  <c:v>138.94300000000001</c:v>
                </c:pt>
                <c:pt idx="94">
                  <c:v>143.04400000000001</c:v>
                </c:pt>
                <c:pt idx="95">
                  <c:v>134.79400000000001</c:v>
                </c:pt>
              </c:numCache>
            </c:numRef>
          </c:yVal>
          <c:smooth val="1"/>
          <c:extLst>
            <c:ext xmlns:c16="http://schemas.microsoft.com/office/drawing/2014/chart" uri="{C3380CC4-5D6E-409C-BE32-E72D297353CC}">
              <c16:uniqueId val="{00000000-029B-534C-BA8B-0AF477C3EFE4}"/>
            </c:ext>
          </c:extLst>
        </c:ser>
        <c:ser>
          <c:idx val="1"/>
          <c:order val="1"/>
          <c:tx>
            <c:v>A forecast</c:v>
          </c:tx>
          <c:spPr>
            <a:ln w="28575">
              <a:solidFill>
                <a:srgbClr val="C00000"/>
              </a:solidFill>
              <a:prstDash val="dash"/>
            </a:ln>
          </c:spPr>
          <c:marker>
            <c:symbol val="none"/>
          </c:marker>
          <c:xVal>
            <c:numRef>
              <c:f>'Chart Data'!$C$2:$C$97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Data'!$D$2:$D$97</c:f>
              <c:numCache>
                <c:formatCode>0</c:formatCode>
                <c:ptCount val="96"/>
                <c:pt idx="0">
                  <c:v>135.6454</c:v>
                </c:pt>
                <c:pt idx="1">
                  <c:v>132.00031000000001</c:v>
                </c:pt>
                <c:pt idx="2">
                  <c:v>128.72397000000001</c:v>
                </c:pt>
                <c:pt idx="3">
                  <c:v>132.49476000000001</c:v>
                </c:pt>
                <c:pt idx="4">
                  <c:v>154.33268000000001</c:v>
                </c:pt>
                <c:pt idx="5">
                  <c:v>153.16103000000001</c:v>
                </c:pt>
                <c:pt idx="6">
                  <c:v>154.20415</c:v>
                </c:pt>
                <c:pt idx="7">
                  <c:v>145.42778999999999</c:v>
                </c:pt>
                <c:pt idx="8">
                  <c:v>141.01734999999999</c:v>
                </c:pt>
                <c:pt idx="9">
                  <c:v>137.01101</c:v>
                </c:pt>
                <c:pt idx="10">
                  <c:v>132.18109000000001</c:v>
                </c:pt>
                <c:pt idx="11">
                  <c:v>130.10292999999999</c:v>
                </c:pt>
                <c:pt idx="12">
                  <c:v>132.22058000000001</c:v>
                </c:pt>
                <c:pt idx="13">
                  <c:v>134.66718</c:v>
                </c:pt>
                <c:pt idx="14">
                  <c:v>132.3546</c:v>
                </c:pt>
                <c:pt idx="15">
                  <c:v>131.57757000000001</c:v>
                </c:pt>
                <c:pt idx="16">
                  <c:v>137.14702</c:v>
                </c:pt>
                <c:pt idx="17">
                  <c:v>139.36824999999999</c:v>
                </c:pt>
                <c:pt idx="18">
                  <c:v>142.06173000000001</c:v>
                </c:pt>
                <c:pt idx="19">
                  <c:v>143.40278000000001</c:v>
                </c:pt>
                <c:pt idx="20">
                  <c:v>145.95087000000001</c:v>
                </c:pt>
                <c:pt idx="21">
                  <c:v>145.16567000000001</c:v>
                </c:pt>
                <c:pt idx="22">
                  <c:v>144.61548999999999</c:v>
                </c:pt>
                <c:pt idx="23">
                  <c:v>147.57162</c:v>
                </c:pt>
                <c:pt idx="24">
                  <c:v>143.13952</c:v>
                </c:pt>
                <c:pt idx="25">
                  <c:v>141.02528000000001</c:v>
                </c:pt>
                <c:pt idx="26">
                  <c:v>140.583</c:v>
                </c:pt>
                <c:pt idx="27">
                  <c:v>137.92320000000001</c:v>
                </c:pt>
                <c:pt idx="28">
                  <c:v>138.66013000000001</c:v>
                </c:pt>
                <c:pt idx="29">
                  <c:v>130.66542999999999</c:v>
                </c:pt>
                <c:pt idx="30">
                  <c:v>124.56901999999999</c:v>
                </c:pt>
                <c:pt idx="31">
                  <c:v>121.07332</c:v>
                </c:pt>
                <c:pt idx="32">
                  <c:v>114.4465</c:v>
                </c:pt>
                <c:pt idx="33">
                  <c:v>110.8553</c:v>
                </c:pt>
                <c:pt idx="34">
                  <c:v>106.99839</c:v>
                </c:pt>
                <c:pt idx="35">
                  <c:v>103.5517</c:v>
                </c:pt>
                <c:pt idx="36">
                  <c:v>101.67337000000001</c:v>
                </c:pt>
                <c:pt idx="37">
                  <c:v>99.007959999999997</c:v>
                </c:pt>
                <c:pt idx="38">
                  <c:v>97.454059999999998</c:v>
                </c:pt>
                <c:pt idx="39">
                  <c:v>98.335549999999998</c:v>
                </c:pt>
                <c:pt idx="40">
                  <c:v>84.371769999999998</c:v>
                </c:pt>
                <c:pt idx="41">
                  <c:v>84.854939999999999</c:v>
                </c:pt>
                <c:pt idx="42">
                  <c:v>85.033500000000004</c:v>
                </c:pt>
                <c:pt idx="43">
                  <c:v>84.658450000000002</c:v>
                </c:pt>
                <c:pt idx="44">
                  <c:v>96.037480000000002</c:v>
                </c:pt>
                <c:pt idx="45">
                  <c:v>97.493319999999997</c:v>
                </c:pt>
                <c:pt idx="46">
                  <c:v>90.423680000000004</c:v>
                </c:pt>
                <c:pt idx="47">
                  <c:v>88.898880000000005</c:v>
                </c:pt>
                <c:pt idx="48">
                  <c:v>87.989429999999999</c:v>
                </c:pt>
                <c:pt idx="49">
                  <c:v>84.614980000000003</c:v>
                </c:pt>
                <c:pt idx="50">
                  <c:v>83.266760000000005</c:v>
                </c:pt>
                <c:pt idx="51">
                  <c:v>83.565759999999997</c:v>
                </c:pt>
                <c:pt idx="52">
                  <c:v>84.039510000000007</c:v>
                </c:pt>
                <c:pt idx="53">
                  <c:v>84.276079999999993</c:v>
                </c:pt>
                <c:pt idx="54">
                  <c:v>84.754249999999999</c:v>
                </c:pt>
                <c:pt idx="55">
                  <c:v>85.673910000000006</c:v>
                </c:pt>
                <c:pt idx="56">
                  <c:v>86.620379999999997</c:v>
                </c:pt>
                <c:pt idx="57">
                  <c:v>86.913880000000006</c:v>
                </c:pt>
                <c:pt idx="58">
                  <c:v>88.107810000000001</c:v>
                </c:pt>
                <c:pt idx="59">
                  <c:v>89.062790000000007</c:v>
                </c:pt>
                <c:pt idx="60">
                  <c:v>89.298829999999995</c:v>
                </c:pt>
                <c:pt idx="61">
                  <c:v>93.876540000000006</c:v>
                </c:pt>
                <c:pt idx="62">
                  <c:v>97.606459999999998</c:v>
                </c:pt>
                <c:pt idx="63">
                  <c:v>103.32974</c:v>
                </c:pt>
                <c:pt idx="64">
                  <c:v>109.20363</c:v>
                </c:pt>
                <c:pt idx="65">
                  <c:v>117.95675</c:v>
                </c:pt>
                <c:pt idx="66">
                  <c:v>126.99845999999999</c:v>
                </c:pt>
                <c:pt idx="67">
                  <c:v>134.49618000000001</c:v>
                </c:pt>
                <c:pt idx="68">
                  <c:v>141.1438</c:v>
                </c:pt>
                <c:pt idx="69">
                  <c:v>142.44999999999999</c:v>
                </c:pt>
                <c:pt idx="70">
                  <c:v>142.51275999999999</c:v>
                </c:pt>
                <c:pt idx="71">
                  <c:v>147.28038000000001</c:v>
                </c:pt>
                <c:pt idx="72">
                  <c:v>151.44353000000001</c:v>
                </c:pt>
                <c:pt idx="73">
                  <c:v>149.25048000000001</c:v>
                </c:pt>
                <c:pt idx="74">
                  <c:v>147.93639999999999</c:v>
                </c:pt>
                <c:pt idx="75">
                  <c:v>146.68471</c:v>
                </c:pt>
                <c:pt idx="76">
                  <c:v>152.59058999999999</c:v>
                </c:pt>
                <c:pt idx="77">
                  <c:v>154.51687000000001</c:v>
                </c:pt>
                <c:pt idx="78">
                  <c:v>157.12970000000001</c:v>
                </c:pt>
                <c:pt idx="79">
                  <c:v>157.06003999999999</c:v>
                </c:pt>
                <c:pt idx="80">
                  <c:v>153.89723000000001</c:v>
                </c:pt>
                <c:pt idx="81">
                  <c:v>151.4195</c:v>
                </c:pt>
                <c:pt idx="82">
                  <c:v>150.30568</c:v>
                </c:pt>
                <c:pt idx="83">
                  <c:v>144.32803000000001</c:v>
                </c:pt>
                <c:pt idx="84">
                  <c:v>146.75184999999999</c:v>
                </c:pt>
                <c:pt idx="85">
                  <c:v>154.14510000000001</c:v>
                </c:pt>
                <c:pt idx="86">
                  <c:v>157.7251</c:v>
                </c:pt>
                <c:pt idx="87">
                  <c:v>159.34103999999999</c:v>
                </c:pt>
                <c:pt idx="88">
                  <c:v>153.67889</c:v>
                </c:pt>
                <c:pt idx="89">
                  <c:v>151.12279000000001</c:v>
                </c:pt>
                <c:pt idx="90">
                  <c:v>144.69479000000001</c:v>
                </c:pt>
                <c:pt idx="91">
                  <c:v>156.44256999999999</c:v>
                </c:pt>
                <c:pt idx="92">
                  <c:v>163.37052</c:v>
                </c:pt>
                <c:pt idx="93">
                  <c:v>155.19547</c:v>
                </c:pt>
                <c:pt idx="94">
                  <c:v>150.99679</c:v>
                </c:pt>
                <c:pt idx="95">
                  <c:v>144.87429</c:v>
                </c:pt>
              </c:numCache>
            </c:numRef>
          </c:yVal>
          <c:smooth val="1"/>
          <c:extLst>
            <c:ext xmlns:c16="http://schemas.microsoft.com/office/drawing/2014/chart" uri="{C3380CC4-5D6E-409C-BE32-E72D297353CC}">
              <c16:uniqueId val="{00000001-029B-534C-BA8B-0AF477C3EFE4}"/>
            </c:ext>
          </c:extLst>
        </c:ser>
        <c:dLbls>
          <c:showLegendKey val="0"/>
          <c:showVal val="0"/>
          <c:showCatName val="0"/>
          <c:showSerName val="0"/>
          <c:showPercent val="0"/>
          <c:showBubbleSize val="0"/>
        </c:dLbls>
        <c:axId val="48650112"/>
        <c:axId val="48672768"/>
      </c:scatterChart>
      <c:valAx>
        <c:axId val="48672768"/>
        <c:scaling>
          <c:orientation val="minMax"/>
          <c:max val="250"/>
          <c:min val="0"/>
        </c:scaling>
        <c:delete val="0"/>
        <c:axPos val="l"/>
        <c:majorGridlines>
          <c:spPr>
            <a:ln w="9525">
              <a:solidFill>
                <a:srgbClr val="DDE1D9"/>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650">
                <a:solidFill>
                  <a:srgbClr val="333333"/>
                </a:solidFill>
                <a:latin typeface="Times New Roman"/>
                <a:ea typeface="Times New Roman"/>
                <a:cs typeface="Times New Roman"/>
              </a:defRPr>
            </a:pPr>
            <a:endParaRPr lang="en-PT"/>
          </a:p>
        </c:txPr>
        <c:crossAx val="48650112"/>
        <c:crosses val="autoZero"/>
        <c:crossBetween val="midCat"/>
        <c:majorUnit val="50"/>
      </c:valAx>
      <c:valAx>
        <c:axId val="48650112"/>
        <c:scaling>
          <c:orientation val="minMax"/>
          <c:max val="24"/>
          <c:min val="0"/>
        </c:scaling>
        <c:delete val="0"/>
        <c:axPos val="b"/>
        <c:numFmt formatCode="General" sourceLinked="1"/>
        <c:majorTickMark val="none"/>
        <c:minorTickMark val="none"/>
        <c:tickLblPos val="nextTo"/>
        <c:spPr>
          <a:ln w="9525">
            <a:solidFill>
              <a:srgbClr val="BBC2BB"/>
            </a:solidFill>
          </a:ln>
        </c:spPr>
        <c:txPr>
          <a:bodyPr anchorCtr="1"/>
          <a:lstStyle/>
          <a:p>
            <a:pPr>
              <a:defRPr sz="1650">
                <a:solidFill>
                  <a:srgbClr val="333333"/>
                </a:solidFill>
                <a:latin typeface="Times New Roman"/>
                <a:ea typeface="Times New Roman"/>
                <a:cs typeface="Times New Roman"/>
              </a:defRPr>
            </a:pPr>
            <a:endParaRPr lang="en-PT"/>
          </a:p>
        </c:txPr>
        <c:crossAx val="48672768"/>
        <c:crosses val="autoZero"/>
        <c:crossBetween val="midCat"/>
        <c:majorUnit val="4"/>
      </c:valAx>
      <c:spPr>
        <a:solidFill>
          <a:srgbClr val="FFFFFF"/>
        </a:solidFill>
        <a:ln w="0">
          <a:noFill/>
        </a:ln>
      </c:spPr>
    </c:plotArea>
    <c:legend>
      <c:legendPos val="b"/>
      <c:overlay val="0"/>
      <c:txPr>
        <a:bodyPr anchorCtr="1"/>
        <a:lstStyle/>
        <a:p>
          <a:pPr>
            <a:defRPr sz="1800">
              <a:solidFill>
                <a:srgbClr val="000000"/>
              </a:solidFill>
              <a:latin typeface="Times New Roman"/>
              <a:ea typeface="Times New Roman"/>
              <a:cs typeface="Times New Roman"/>
            </a:defRPr>
          </a:pPr>
          <a:endParaRPr lang="en-PT"/>
        </a:p>
      </c:txPr>
    </c:legend>
    <c:plotVisOnly val="1"/>
    <c:dispBlanksAs val="zero"/>
    <c:showDLblsOverMax val="1"/>
  </c:chart>
  <c:spPr>
    <a:solidFill>
      <a:srgbClr val="FFFFFF"/>
    </a:solid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1"/>
        <c:ser>
          <c:idx val="0"/>
          <c:order val="0"/>
          <c:tx>
            <c:v>Forecast minus actual (kWh/15 min)</c:v>
          </c:tx>
          <c:spPr>
            <a:ln w="28575">
              <a:solidFill>
                <a:srgbClr val="4472C4"/>
              </a:solidFill>
              <a:prstDash val="solid"/>
            </a:ln>
          </c:spPr>
          <c:marker>
            <c:symbol val="none"/>
          </c:marker>
          <c:xVal>
            <c:numRef>
              <c:f>'Chart Data'!$A$2:$A$97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Data'!$B$2:$B$97</c:f>
              <c:numCache>
                <c:formatCode>0</c:formatCode>
                <c:ptCount val="96"/>
                <c:pt idx="0">
                  <c:v>6.7523999999999997</c:v>
                </c:pt>
                <c:pt idx="1">
                  <c:v>14.355309999999999</c:v>
                </c:pt>
                <c:pt idx="2">
                  <c:v>15.970969999999999</c:v>
                </c:pt>
                <c:pt idx="3">
                  <c:v>8.66676</c:v>
                </c:pt>
                <c:pt idx="4">
                  <c:v>0.37568000000000001</c:v>
                </c:pt>
                <c:pt idx="5">
                  <c:v>0.43403000000000003</c:v>
                </c:pt>
                <c:pt idx="6">
                  <c:v>7.9951499999999998</c:v>
                </c:pt>
                <c:pt idx="7">
                  <c:v>7.4057899999999997</c:v>
                </c:pt>
                <c:pt idx="8">
                  <c:v>17.733350000000002</c:v>
                </c:pt>
                <c:pt idx="9">
                  <c:v>7.7250100000000002</c:v>
                </c:pt>
                <c:pt idx="10">
                  <c:v>13.569089999999999</c:v>
                </c:pt>
                <c:pt idx="11">
                  <c:v>18.506930000000001</c:v>
                </c:pt>
                <c:pt idx="12">
                  <c:v>20.51858</c:v>
                </c:pt>
                <c:pt idx="13">
                  <c:v>12.10918</c:v>
                </c:pt>
                <c:pt idx="14">
                  <c:v>5.9576000000000002</c:v>
                </c:pt>
                <c:pt idx="15">
                  <c:v>10.264570000000001</c:v>
                </c:pt>
                <c:pt idx="16">
                  <c:v>5.9120200000000001</c:v>
                </c:pt>
                <c:pt idx="17">
                  <c:v>2.6932499999999999</c:v>
                </c:pt>
                <c:pt idx="18">
                  <c:v>11.39373</c:v>
                </c:pt>
                <c:pt idx="19">
                  <c:v>11.47578</c:v>
                </c:pt>
                <c:pt idx="20">
                  <c:v>8.3598700000000008</c:v>
                </c:pt>
                <c:pt idx="21">
                  <c:v>2.45167</c:v>
                </c:pt>
                <c:pt idx="22">
                  <c:v>2.7854899999999998</c:v>
                </c:pt>
                <c:pt idx="23">
                  <c:v>-2.2793800000000002</c:v>
                </c:pt>
                <c:pt idx="24">
                  <c:v>5.0265199999999997</c:v>
                </c:pt>
                <c:pt idx="25">
                  <c:v>1.91828</c:v>
                </c:pt>
                <c:pt idx="26">
                  <c:v>-3.4009999999999998</c:v>
                </c:pt>
                <c:pt idx="27">
                  <c:v>-4.2038000000000002</c:v>
                </c:pt>
                <c:pt idx="28">
                  <c:v>-1.9088700000000001</c:v>
                </c:pt>
                <c:pt idx="29">
                  <c:v>-1.7995699999999999</c:v>
                </c:pt>
                <c:pt idx="30">
                  <c:v>-3.30098</c:v>
                </c:pt>
                <c:pt idx="31">
                  <c:v>-7.7556799999999999</c:v>
                </c:pt>
                <c:pt idx="32">
                  <c:v>-3.5335000000000001</c:v>
                </c:pt>
                <c:pt idx="33">
                  <c:v>-4.8497000000000003</c:v>
                </c:pt>
                <c:pt idx="34">
                  <c:v>10.093389999999999</c:v>
                </c:pt>
                <c:pt idx="35">
                  <c:v>18.151700000000002</c:v>
                </c:pt>
                <c:pt idx="36">
                  <c:v>1.0963700000000001</c:v>
                </c:pt>
                <c:pt idx="37">
                  <c:v>-2.1570399999999998</c:v>
                </c:pt>
                <c:pt idx="38">
                  <c:v>5.4260599999999997</c:v>
                </c:pt>
                <c:pt idx="39">
                  <c:v>15.24155</c:v>
                </c:pt>
                <c:pt idx="40">
                  <c:v>27.112770000000001</c:v>
                </c:pt>
                <c:pt idx="41">
                  <c:v>20.835940000000001</c:v>
                </c:pt>
                <c:pt idx="42">
                  <c:v>16.555499999999999</c:v>
                </c:pt>
                <c:pt idx="43">
                  <c:v>11.635450000000001</c:v>
                </c:pt>
                <c:pt idx="44">
                  <c:v>-19.492519999999999</c:v>
                </c:pt>
                <c:pt idx="45">
                  <c:v>-14.237679999999999</c:v>
                </c:pt>
                <c:pt idx="46">
                  <c:v>-10.464320000000001</c:v>
                </c:pt>
                <c:pt idx="47">
                  <c:v>-5.8061199999999999</c:v>
                </c:pt>
                <c:pt idx="48">
                  <c:v>-6.4475699999999998</c:v>
                </c:pt>
                <c:pt idx="49">
                  <c:v>-0.81301999999999996</c:v>
                </c:pt>
                <c:pt idx="50">
                  <c:v>10.492760000000001</c:v>
                </c:pt>
                <c:pt idx="51">
                  <c:v>6.6817599999999997</c:v>
                </c:pt>
                <c:pt idx="52">
                  <c:v>11.335509999999999</c:v>
                </c:pt>
                <c:pt idx="53">
                  <c:v>9.8960799999999995</c:v>
                </c:pt>
                <c:pt idx="54">
                  <c:v>11.792249999999999</c:v>
                </c:pt>
                <c:pt idx="55">
                  <c:v>11.267910000000001</c:v>
                </c:pt>
                <c:pt idx="56">
                  <c:v>18.274380000000001</c:v>
                </c:pt>
                <c:pt idx="57">
                  <c:v>12.169879999999999</c:v>
                </c:pt>
                <c:pt idx="58">
                  <c:v>1.79481</c:v>
                </c:pt>
                <c:pt idx="59">
                  <c:v>8.4717900000000004</c:v>
                </c:pt>
                <c:pt idx="60">
                  <c:v>11.330830000000001</c:v>
                </c:pt>
                <c:pt idx="61">
                  <c:v>8.6235400000000002</c:v>
                </c:pt>
                <c:pt idx="62">
                  <c:v>17.412459999999999</c:v>
                </c:pt>
                <c:pt idx="63">
                  <c:v>10.460739999999999</c:v>
                </c:pt>
                <c:pt idx="64">
                  <c:v>1.97963</c:v>
                </c:pt>
                <c:pt idx="65">
                  <c:v>12.67775</c:v>
                </c:pt>
                <c:pt idx="66">
                  <c:v>18.478459999999998</c:v>
                </c:pt>
                <c:pt idx="67">
                  <c:v>16.179179999999999</c:v>
                </c:pt>
                <c:pt idx="68">
                  <c:v>16.1968</c:v>
                </c:pt>
                <c:pt idx="69">
                  <c:v>11.275</c:v>
                </c:pt>
                <c:pt idx="70">
                  <c:v>10.684760000000001</c:v>
                </c:pt>
                <c:pt idx="71">
                  <c:v>-6.2976200000000002</c:v>
                </c:pt>
                <c:pt idx="72">
                  <c:v>-6.79847</c:v>
                </c:pt>
                <c:pt idx="73">
                  <c:v>5.1354800000000003</c:v>
                </c:pt>
                <c:pt idx="74">
                  <c:v>2.5914000000000001</c:v>
                </c:pt>
                <c:pt idx="75">
                  <c:v>2.37371</c:v>
                </c:pt>
                <c:pt idx="76">
                  <c:v>17.71359</c:v>
                </c:pt>
                <c:pt idx="77">
                  <c:v>7.42387</c:v>
                </c:pt>
                <c:pt idx="78">
                  <c:v>2.1076999999999999</c:v>
                </c:pt>
                <c:pt idx="79">
                  <c:v>13.804040000000001</c:v>
                </c:pt>
                <c:pt idx="80">
                  <c:v>3.2902300000000002</c:v>
                </c:pt>
                <c:pt idx="81">
                  <c:v>9.9824999999999999</c:v>
                </c:pt>
                <c:pt idx="82">
                  <c:v>15.211679999999999</c:v>
                </c:pt>
                <c:pt idx="83">
                  <c:v>5.3220299999999998</c:v>
                </c:pt>
                <c:pt idx="84">
                  <c:v>7.1918499999999996</c:v>
                </c:pt>
                <c:pt idx="85">
                  <c:v>10.726100000000001</c:v>
                </c:pt>
                <c:pt idx="86">
                  <c:v>6.8910999999999998</c:v>
                </c:pt>
                <c:pt idx="87">
                  <c:v>24.180040000000002</c:v>
                </c:pt>
                <c:pt idx="88">
                  <c:v>26.686889999999998</c:v>
                </c:pt>
                <c:pt idx="89">
                  <c:v>24.886790000000001</c:v>
                </c:pt>
                <c:pt idx="90">
                  <c:v>23.579789999999999</c:v>
                </c:pt>
                <c:pt idx="91">
                  <c:v>25.999569999999999</c:v>
                </c:pt>
                <c:pt idx="92">
                  <c:v>11.91052</c:v>
                </c:pt>
                <c:pt idx="93">
                  <c:v>16.252469999999999</c:v>
                </c:pt>
                <c:pt idx="94">
                  <c:v>7.9527900000000002</c:v>
                </c:pt>
                <c:pt idx="95">
                  <c:v>10.08029</c:v>
                </c:pt>
              </c:numCache>
            </c:numRef>
          </c:yVal>
          <c:smooth val="1"/>
          <c:extLst>
            <c:ext xmlns:c16="http://schemas.microsoft.com/office/drawing/2014/chart" uri="{C3380CC4-5D6E-409C-BE32-E72D297353CC}">
              <c16:uniqueId val="{00000000-6E51-404D-B436-45431276FD73}"/>
            </c:ext>
          </c:extLst>
        </c:ser>
        <c:dLbls>
          <c:showLegendKey val="0"/>
          <c:showVal val="0"/>
          <c:showCatName val="0"/>
          <c:showSerName val="0"/>
          <c:showPercent val="0"/>
          <c:showBubbleSize val="0"/>
        </c:dLbls>
        <c:axId val="48650112"/>
        <c:axId val="48672768"/>
      </c:scatterChart>
      <c:valAx>
        <c:axId val="48672768"/>
        <c:scaling>
          <c:orientation val="minMax"/>
          <c:max val="40"/>
          <c:min val="-40"/>
        </c:scaling>
        <c:delete val="0"/>
        <c:axPos val="l"/>
        <c:majorGridlines>
          <c:spPr>
            <a:ln w="9525">
              <a:solidFill>
                <a:srgbClr val="DDE1D9"/>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650">
                <a:solidFill>
                  <a:srgbClr val="333333"/>
                </a:solidFill>
                <a:latin typeface="Times New Roman"/>
                <a:ea typeface="Times New Roman"/>
                <a:cs typeface="Times New Roman"/>
              </a:defRPr>
            </a:pPr>
            <a:endParaRPr lang="en-PT"/>
          </a:p>
        </c:txPr>
        <c:crossAx val="48650112"/>
        <c:crosses val="autoZero"/>
        <c:crossBetween val="midCat"/>
        <c:majorUnit val="20"/>
      </c:valAx>
      <c:valAx>
        <c:axId val="48650112"/>
        <c:scaling>
          <c:orientation val="minMax"/>
          <c:max val="24"/>
          <c:min val="0"/>
        </c:scaling>
        <c:delete val="0"/>
        <c:axPos val="b"/>
        <c:numFmt formatCode="General" sourceLinked="1"/>
        <c:majorTickMark val="none"/>
        <c:minorTickMark val="none"/>
        <c:tickLblPos val="nextTo"/>
        <c:spPr>
          <a:ln w="9525">
            <a:solidFill>
              <a:srgbClr val="BBC2BB"/>
            </a:solidFill>
          </a:ln>
        </c:spPr>
        <c:txPr>
          <a:bodyPr anchorCtr="1"/>
          <a:lstStyle/>
          <a:p>
            <a:pPr>
              <a:defRPr sz="1650">
                <a:solidFill>
                  <a:srgbClr val="333333"/>
                </a:solidFill>
                <a:latin typeface="Times New Roman"/>
                <a:ea typeface="Times New Roman"/>
                <a:cs typeface="Times New Roman"/>
              </a:defRPr>
            </a:pPr>
            <a:endParaRPr lang="en-PT"/>
          </a:p>
        </c:txPr>
        <c:crossAx val="48672768"/>
        <c:crosses val="autoZero"/>
        <c:crossBetween val="midCat"/>
        <c:majorUnit val="4"/>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1"/>
        <c:ser>
          <c:idx val="0"/>
          <c:order val="0"/>
          <c:tx>
            <c:v>A demand forecast</c:v>
          </c:tx>
          <c:spPr>
            <a:ln w="28575">
              <a:solidFill>
                <a:srgbClr val="C00000"/>
              </a:solidFill>
              <a:prstDash val="solid"/>
            </a:ln>
          </c:spPr>
          <c:marker>
            <c:symbol val="none"/>
          </c:marker>
          <c:xVal>
            <c:numRef>
              <c:f>'Chart Data'!$A$2:$A$97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Data'!$B$2:$B$97</c:f>
              <c:numCache>
                <c:formatCode>0</c:formatCode>
                <c:ptCount val="96"/>
                <c:pt idx="0">
                  <c:v>146.84969599999999</c:v>
                </c:pt>
                <c:pt idx="1">
                  <c:v>141.572981</c:v>
                </c:pt>
                <c:pt idx="2">
                  <c:v>138.30681300000001</c:v>
                </c:pt>
                <c:pt idx="3">
                  <c:v>146.18653699999999</c:v>
                </c:pt>
                <c:pt idx="4">
                  <c:v>172.941259</c:v>
                </c:pt>
                <c:pt idx="5">
                  <c:v>170.14398499999999</c:v>
                </c:pt>
                <c:pt idx="6">
                  <c:v>167.51760999999999</c:v>
                </c:pt>
                <c:pt idx="7">
                  <c:v>159.36721399999999</c:v>
                </c:pt>
                <c:pt idx="8">
                  <c:v>151.275023</c:v>
                </c:pt>
                <c:pt idx="9">
                  <c:v>148.429056</c:v>
                </c:pt>
                <c:pt idx="10">
                  <c:v>142.85611</c:v>
                </c:pt>
                <c:pt idx="11">
                  <c:v>141.01582200000001</c:v>
                </c:pt>
                <c:pt idx="12">
                  <c:v>140.791145</c:v>
                </c:pt>
                <c:pt idx="13">
                  <c:v>142.16813400000001</c:v>
                </c:pt>
                <c:pt idx="14">
                  <c:v>142.86006</c:v>
                </c:pt>
                <c:pt idx="15">
                  <c:v>141.97071600000001</c:v>
                </c:pt>
                <c:pt idx="16">
                  <c:v>146.13370699999999</c:v>
                </c:pt>
                <c:pt idx="17">
                  <c:v>148.167495</c:v>
                </c:pt>
                <c:pt idx="18">
                  <c:v>149.01315600000001</c:v>
                </c:pt>
                <c:pt idx="19">
                  <c:v>150.203203</c:v>
                </c:pt>
                <c:pt idx="20">
                  <c:v>154.05567500000001</c:v>
                </c:pt>
                <c:pt idx="21">
                  <c:v>153.16323299999999</c:v>
                </c:pt>
                <c:pt idx="22">
                  <c:v>154.37314799999999</c:v>
                </c:pt>
                <c:pt idx="23">
                  <c:v>155.874987</c:v>
                </c:pt>
                <c:pt idx="24">
                  <c:v>152.180396</c:v>
                </c:pt>
                <c:pt idx="25">
                  <c:v>151.07572099999999</c:v>
                </c:pt>
                <c:pt idx="26">
                  <c:v>152.14450199999999</c:v>
                </c:pt>
                <c:pt idx="27">
                  <c:v>147.79187999999999</c:v>
                </c:pt>
                <c:pt idx="28">
                  <c:v>146.434777</c:v>
                </c:pt>
                <c:pt idx="29">
                  <c:v>139.24741900000001</c:v>
                </c:pt>
                <c:pt idx="30">
                  <c:v>135.20990499999999</c:v>
                </c:pt>
                <c:pt idx="31">
                  <c:v>131.107608</c:v>
                </c:pt>
                <c:pt idx="32">
                  <c:v>126.478854</c:v>
                </c:pt>
                <c:pt idx="33">
                  <c:v>123.353638</c:v>
                </c:pt>
                <c:pt idx="34">
                  <c:v>117.654943</c:v>
                </c:pt>
                <c:pt idx="35">
                  <c:v>111.979947</c:v>
                </c:pt>
                <c:pt idx="36">
                  <c:v>106.767127</c:v>
                </c:pt>
                <c:pt idx="37">
                  <c:v>103.196107</c:v>
                </c:pt>
                <c:pt idx="38">
                  <c:v>100.372927</c:v>
                </c:pt>
                <c:pt idx="39">
                  <c:v>98.412327000000005</c:v>
                </c:pt>
                <c:pt idx="40">
                  <c:v>91.326769999999996</c:v>
                </c:pt>
                <c:pt idx="41">
                  <c:v>92.392004</c:v>
                </c:pt>
                <c:pt idx="42">
                  <c:v>93.512848000000005</c:v>
                </c:pt>
                <c:pt idx="43">
                  <c:v>92.832532</c:v>
                </c:pt>
                <c:pt idx="44">
                  <c:v>111.828445</c:v>
                </c:pt>
                <c:pt idx="45">
                  <c:v>110.89442699999999</c:v>
                </c:pt>
                <c:pt idx="46">
                  <c:v>105.853565</c:v>
                </c:pt>
                <c:pt idx="47">
                  <c:v>101.64552</c:v>
                </c:pt>
                <c:pt idx="48">
                  <c:v>98.520765999999995</c:v>
                </c:pt>
                <c:pt idx="49">
                  <c:v>93.815764000000001</c:v>
                </c:pt>
                <c:pt idx="50">
                  <c:v>92.824962999999997</c:v>
                </c:pt>
                <c:pt idx="51">
                  <c:v>94.126945000000006</c:v>
                </c:pt>
                <c:pt idx="52">
                  <c:v>94.276272000000006</c:v>
                </c:pt>
                <c:pt idx="53">
                  <c:v>95.019048999999995</c:v>
                </c:pt>
                <c:pt idx="54">
                  <c:v>96.098045999999997</c:v>
                </c:pt>
                <c:pt idx="55">
                  <c:v>99.298314000000005</c:v>
                </c:pt>
                <c:pt idx="56">
                  <c:v>101.103049</c:v>
                </c:pt>
                <c:pt idx="57">
                  <c:v>100.116469</c:v>
                </c:pt>
                <c:pt idx="58">
                  <c:v>101.713414</c:v>
                </c:pt>
                <c:pt idx="59">
                  <c:v>104.177818</c:v>
                </c:pt>
                <c:pt idx="60">
                  <c:v>103.12099000000001</c:v>
                </c:pt>
                <c:pt idx="61">
                  <c:v>107.463266</c:v>
                </c:pt>
                <c:pt idx="62">
                  <c:v>111.040289</c:v>
                </c:pt>
                <c:pt idx="63">
                  <c:v>114.882007</c:v>
                </c:pt>
                <c:pt idx="64">
                  <c:v>119.279866</c:v>
                </c:pt>
                <c:pt idx="65">
                  <c:v>128.65199799999999</c:v>
                </c:pt>
                <c:pt idx="66">
                  <c:v>136.91718800000001</c:v>
                </c:pt>
                <c:pt idx="67">
                  <c:v>143.442351</c:v>
                </c:pt>
                <c:pt idx="68">
                  <c:v>146.306838</c:v>
                </c:pt>
                <c:pt idx="69">
                  <c:v>148.15202300000001</c:v>
                </c:pt>
                <c:pt idx="70">
                  <c:v>148.358566</c:v>
                </c:pt>
                <c:pt idx="71">
                  <c:v>156.573984</c:v>
                </c:pt>
                <c:pt idx="72">
                  <c:v>157.41891899999999</c:v>
                </c:pt>
                <c:pt idx="73">
                  <c:v>154.967108</c:v>
                </c:pt>
                <c:pt idx="74">
                  <c:v>154.89722</c:v>
                </c:pt>
                <c:pt idx="75">
                  <c:v>154.462411</c:v>
                </c:pt>
                <c:pt idx="76">
                  <c:v>162.16803300000001</c:v>
                </c:pt>
                <c:pt idx="77">
                  <c:v>164.61481499999999</c:v>
                </c:pt>
                <c:pt idx="78">
                  <c:v>165.97584800000001</c:v>
                </c:pt>
                <c:pt idx="79">
                  <c:v>164.80568</c:v>
                </c:pt>
                <c:pt idx="80">
                  <c:v>163.88114899999999</c:v>
                </c:pt>
                <c:pt idx="81">
                  <c:v>160.93210300000001</c:v>
                </c:pt>
                <c:pt idx="82">
                  <c:v>158.46183500000001</c:v>
                </c:pt>
                <c:pt idx="83">
                  <c:v>155.804081</c:v>
                </c:pt>
                <c:pt idx="84">
                  <c:v>155.54435000000001</c:v>
                </c:pt>
                <c:pt idx="85">
                  <c:v>162.208011</c:v>
                </c:pt>
                <c:pt idx="86">
                  <c:v>167.21943400000001</c:v>
                </c:pt>
                <c:pt idx="87">
                  <c:v>167.847995</c:v>
                </c:pt>
                <c:pt idx="88">
                  <c:v>160.77779000000001</c:v>
                </c:pt>
                <c:pt idx="89">
                  <c:v>156.98054400000001</c:v>
                </c:pt>
                <c:pt idx="90">
                  <c:v>150.67337000000001</c:v>
                </c:pt>
                <c:pt idx="91">
                  <c:v>160.10254800000001</c:v>
                </c:pt>
                <c:pt idx="92">
                  <c:v>167.12337400000001</c:v>
                </c:pt>
                <c:pt idx="93">
                  <c:v>160.64574400000001</c:v>
                </c:pt>
                <c:pt idx="94">
                  <c:v>154.344334</c:v>
                </c:pt>
                <c:pt idx="95">
                  <c:v>148.84078199999999</c:v>
                </c:pt>
              </c:numCache>
            </c:numRef>
          </c:yVal>
          <c:smooth val="1"/>
          <c:extLst>
            <c:ext xmlns:c16="http://schemas.microsoft.com/office/drawing/2014/chart" uri="{C3380CC4-5D6E-409C-BE32-E72D297353CC}">
              <c16:uniqueId val="{00000000-25DA-3A4E-8F9A-C73310C88AEB}"/>
            </c:ext>
          </c:extLst>
        </c:ser>
        <c:ser>
          <c:idx val="1"/>
          <c:order val="1"/>
          <c:tx>
            <c:v>P80 purchase quantity</c:v>
          </c:tx>
          <c:spPr>
            <a:ln w="28575">
              <a:solidFill>
                <a:srgbClr val="4472C4"/>
              </a:solidFill>
              <a:prstDash val="dash"/>
            </a:ln>
          </c:spPr>
          <c:marker>
            <c:symbol val="none"/>
          </c:marker>
          <c:xVal>
            <c:numRef>
              <c:f>'Chart Data'!$C$2:$C$97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Data'!$D$2:$D$97</c:f>
              <c:numCache>
                <c:formatCode>0</c:formatCode>
                <c:ptCount val="96"/>
                <c:pt idx="0">
                  <c:v>173.98023699999999</c:v>
                </c:pt>
                <c:pt idx="1">
                  <c:v>167.74019999999999</c:v>
                </c:pt>
                <c:pt idx="2">
                  <c:v>163.870746</c:v>
                </c:pt>
                <c:pt idx="3">
                  <c:v>173.195472</c:v>
                </c:pt>
                <c:pt idx="4">
                  <c:v>204.88681600000001</c:v>
                </c:pt>
                <c:pt idx="5">
                  <c:v>201.574195</c:v>
                </c:pt>
                <c:pt idx="6">
                  <c:v>198.46391800000001</c:v>
                </c:pt>
                <c:pt idx="7">
                  <c:v>188.816103</c:v>
                </c:pt>
                <c:pt idx="8">
                  <c:v>179.22093100000001</c:v>
                </c:pt>
                <c:pt idx="9">
                  <c:v>175.84953100000001</c:v>
                </c:pt>
                <c:pt idx="10">
                  <c:v>169.258995</c:v>
                </c:pt>
                <c:pt idx="11">
                  <c:v>167.080129</c:v>
                </c:pt>
                <c:pt idx="12">
                  <c:v>166.813952</c:v>
                </c:pt>
                <c:pt idx="13">
                  <c:v>168.44528199999999</c:v>
                </c:pt>
                <c:pt idx="14">
                  <c:v>169.26366400000001</c:v>
                </c:pt>
                <c:pt idx="15">
                  <c:v>168.211399</c:v>
                </c:pt>
                <c:pt idx="16">
                  <c:v>173.13301300000001</c:v>
                </c:pt>
                <c:pt idx="17">
                  <c:v>175.53975500000001</c:v>
                </c:pt>
                <c:pt idx="18">
                  <c:v>176.54137499999999</c:v>
                </c:pt>
                <c:pt idx="19">
                  <c:v>177.950942</c:v>
                </c:pt>
                <c:pt idx="20">
                  <c:v>182.51837499999999</c:v>
                </c:pt>
                <c:pt idx="21">
                  <c:v>181.45984200000001</c:v>
                </c:pt>
                <c:pt idx="22">
                  <c:v>182.89493400000001</c:v>
                </c:pt>
                <c:pt idx="23">
                  <c:v>184.676278</c:v>
                </c:pt>
                <c:pt idx="24">
                  <c:v>180.29413099999999</c:v>
                </c:pt>
                <c:pt idx="25">
                  <c:v>178.98468500000001</c:v>
                </c:pt>
                <c:pt idx="26">
                  <c:v>180.25158200000001</c:v>
                </c:pt>
                <c:pt idx="27">
                  <c:v>175.09524200000001</c:v>
                </c:pt>
                <c:pt idx="28">
                  <c:v>173.48921100000001</c:v>
                </c:pt>
                <c:pt idx="29">
                  <c:v>164.98508899999999</c:v>
                </c:pt>
                <c:pt idx="30">
                  <c:v>160.197802</c:v>
                </c:pt>
                <c:pt idx="31">
                  <c:v>155.33605499999999</c:v>
                </c:pt>
                <c:pt idx="32">
                  <c:v>149.853038</c:v>
                </c:pt>
                <c:pt idx="33">
                  <c:v>146.15528499999999</c:v>
                </c:pt>
                <c:pt idx="34">
                  <c:v>139.414074</c:v>
                </c:pt>
                <c:pt idx="35">
                  <c:v>132.70358300000001</c:v>
                </c:pt>
                <c:pt idx="36">
                  <c:v>117.857084</c:v>
                </c:pt>
                <c:pt idx="37">
                  <c:v>113.915206</c:v>
                </c:pt>
                <c:pt idx="38">
                  <c:v>110.79593800000001</c:v>
                </c:pt>
                <c:pt idx="39">
                  <c:v>108.629902</c:v>
                </c:pt>
                <c:pt idx="40">
                  <c:v>100.802712</c:v>
                </c:pt>
                <c:pt idx="41">
                  <c:v>101.978922</c:v>
                </c:pt>
                <c:pt idx="42">
                  <c:v>103.217045</c:v>
                </c:pt>
                <c:pt idx="43">
                  <c:v>102.46544400000001</c:v>
                </c:pt>
                <c:pt idx="44">
                  <c:v>123.445685</c:v>
                </c:pt>
                <c:pt idx="45">
                  <c:v>122.413873</c:v>
                </c:pt>
                <c:pt idx="46">
                  <c:v>116.848457</c:v>
                </c:pt>
                <c:pt idx="47">
                  <c:v>112.202721</c:v>
                </c:pt>
                <c:pt idx="48">
                  <c:v>108.74970399999999</c:v>
                </c:pt>
                <c:pt idx="49">
                  <c:v>103.55170099999999</c:v>
                </c:pt>
                <c:pt idx="50">
                  <c:v>102.457082</c:v>
                </c:pt>
                <c:pt idx="51">
                  <c:v>103.895489</c:v>
                </c:pt>
                <c:pt idx="52">
                  <c:v>104.060462</c:v>
                </c:pt>
                <c:pt idx="53">
                  <c:v>104.881069</c:v>
                </c:pt>
                <c:pt idx="54">
                  <c:v>106.073126</c:v>
                </c:pt>
                <c:pt idx="55">
                  <c:v>109.608724</c:v>
                </c:pt>
                <c:pt idx="56">
                  <c:v>111.602947</c:v>
                </c:pt>
                <c:pt idx="57">
                  <c:v>110.512608</c:v>
                </c:pt>
                <c:pt idx="58">
                  <c:v>112.27778600000001</c:v>
                </c:pt>
                <c:pt idx="59">
                  <c:v>114.99833099999999</c:v>
                </c:pt>
                <c:pt idx="60">
                  <c:v>113.83237099999999</c:v>
                </c:pt>
                <c:pt idx="61">
                  <c:v>118.625664</c:v>
                </c:pt>
                <c:pt idx="62">
                  <c:v>122.57491400000001</c:v>
                </c:pt>
                <c:pt idx="63">
                  <c:v>126.820093</c:v>
                </c:pt>
                <c:pt idx="64">
                  <c:v>131.68145999999999</c:v>
                </c:pt>
                <c:pt idx="65">
                  <c:v>142.03013899999999</c:v>
                </c:pt>
                <c:pt idx="66">
                  <c:v>151.168578</c:v>
                </c:pt>
                <c:pt idx="67">
                  <c:v>158.37667099999999</c:v>
                </c:pt>
                <c:pt idx="68">
                  <c:v>161.54189</c:v>
                </c:pt>
                <c:pt idx="69">
                  <c:v>163.580794</c:v>
                </c:pt>
                <c:pt idx="70">
                  <c:v>163.809021</c:v>
                </c:pt>
                <c:pt idx="71">
                  <c:v>172.88224500000001</c:v>
                </c:pt>
                <c:pt idx="72">
                  <c:v>173.81587500000001</c:v>
                </c:pt>
                <c:pt idx="73">
                  <c:v>171.10892699999999</c:v>
                </c:pt>
                <c:pt idx="74">
                  <c:v>171.03188700000001</c:v>
                </c:pt>
                <c:pt idx="75">
                  <c:v>170.55144899999999</c:v>
                </c:pt>
                <c:pt idx="76">
                  <c:v>179.06128000000001</c:v>
                </c:pt>
                <c:pt idx="77">
                  <c:v>181.76405500000001</c:v>
                </c:pt>
                <c:pt idx="78">
                  <c:v>183.26748499999999</c:v>
                </c:pt>
                <c:pt idx="79">
                  <c:v>181.97488899999999</c:v>
                </c:pt>
                <c:pt idx="80">
                  <c:v>194.15896599999999</c:v>
                </c:pt>
                <c:pt idx="81">
                  <c:v>190.668364</c:v>
                </c:pt>
                <c:pt idx="82">
                  <c:v>187.744462</c:v>
                </c:pt>
                <c:pt idx="83">
                  <c:v>184.59217599999999</c:v>
                </c:pt>
                <c:pt idx="84">
                  <c:v>184.28410600000001</c:v>
                </c:pt>
                <c:pt idx="85">
                  <c:v>192.17857699999999</c:v>
                </c:pt>
                <c:pt idx="86">
                  <c:v>198.110804</c:v>
                </c:pt>
                <c:pt idx="87">
                  <c:v>198.855175</c:v>
                </c:pt>
                <c:pt idx="88">
                  <c:v>190.485714</c:v>
                </c:pt>
                <c:pt idx="89">
                  <c:v>185.98758900000001</c:v>
                </c:pt>
                <c:pt idx="90">
                  <c:v>178.50783799999999</c:v>
                </c:pt>
                <c:pt idx="91">
                  <c:v>189.68647100000001</c:v>
                </c:pt>
                <c:pt idx="92">
                  <c:v>197.99704399999999</c:v>
                </c:pt>
                <c:pt idx="93">
                  <c:v>190.32942</c:v>
                </c:pt>
                <c:pt idx="94">
                  <c:v>182.86075700000001</c:v>
                </c:pt>
                <c:pt idx="95">
                  <c:v>176.33720500000001</c:v>
                </c:pt>
              </c:numCache>
            </c:numRef>
          </c:yVal>
          <c:smooth val="1"/>
          <c:extLst>
            <c:ext xmlns:c16="http://schemas.microsoft.com/office/drawing/2014/chart" uri="{C3380CC4-5D6E-409C-BE32-E72D297353CC}">
              <c16:uniqueId val="{00000001-25DA-3A4E-8F9A-C73310C88AEB}"/>
            </c:ext>
          </c:extLst>
        </c:ser>
        <c:dLbls>
          <c:showLegendKey val="0"/>
          <c:showVal val="0"/>
          <c:showCatName val="0"/>
          <c:showSerName val="0"/>
          <c:showPercent val="0"/>
          <c:showBubbleSize val="0"/>
        </c:dLbls>
        <c:axId val="48650112"/>
        <c:axId val="48672768"/>
      </c:scatterChart>
      <c:valAx>
        <c:axId val="48672768"/>
        <c:scaling>
          <c:orientation val="minMax"/>
          <c:max val="250"/>
          <c:min val="0"/>
        </c:scaling>
        <c:delete val="0"/>
        <c:axPos val="l"/>
        <c:majorGridlines>
          <c:spPr>
            <a:ln w="9525">
              <a:solidFill>
                <a:srgbClr val="DDE1D9"/>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650">
                <a:solidFill>
                  <a:srgbClr val="333333"/>
                </a:solidFill>
                <a:latin typeface="Times New Roman"/>
                <a:ea typeface="Times New Roman"/>
                <a:cs typeface="Times New Roman"/>
              </a:defRPr>
            </a:pPr>
            <a:endParaRPr lang="en-PT"/>
          </a:p>
        </c:txPr>
        <c:crossAx val="48650112"/>
        <c:crosses val="autoZero"/>
        <c:crossBetween val="midCat"/>
        <c:majorUnit val="50"/>
      </c:valAx>
      <c:valAx>
        <c:axId val="48650112"/>
        <c:scaling>
          <c:orientation val="minMax"/>
          <c:max val="24"/>
          <c:min val="0"/>
        </c:scaling>
        <c:delete val="0"/>
        <c:axPos val="b"/>
        <c:numFmt formatCode="General" sourceLinked="1"/>
        <c:majorTickMark val="none"/>
        <c:minorTickMark val="none"/>
        <c:tickLblPos val="nextTo"/>
        <c:spPr>
          <a:ln w="9525">
            <a:solidFill>
              <a:srgbClr val="BBC2BB"/>
            </a:solidFill>
          </a:ln>
        </c:spPr>
        <c:txPr>
          <a:bodyPr anchorCtr="1"/>
          <a:lstStyle/>
          <a:p>
            <a:pPr>
              <a:defRPr sz="1650">
                <a:solidFill>
                  <a:srgbClr val="333333"/>
                </a:solidFill>
                <a:latin typeface="Times New Roman"/>
                <a:ea typeface="Times New Roman"/>
                <a:cs typeface="Times New Roman"/>
              </a:defRPr>
            </a:pPr>
            <a:endParaRPr lang="en-PT"/>
          </a:p>
        </c:txPr>
        <c:crossAx val="48672768"/>
        <c:crosses val="autoZero"/>
        <c:crossBetween val="midCat"/>
        <c:majorUnit val="4"/>
      </c:valAx>
      <c:spPr>
        <a:solidFill>
          <a:srgbClr val="FFFFFF"/>
        </a:solidFill>
        <a:ln w="0">
          <a:noFill/>
        </a:ln>
      </c:spPr>
    </c:plotArea>
    <c:legend>
      <c:legendPos val="b"/>
      <c:overlay val="0"/>
      <c:txPr>
        <a:bodyPr anchorCtr="1"/>
        <a:lstStyle/>
        <a:p>
          <a:pPr>
            <a:defRPr sz="1800">
              <a:solidFill>
                <a:srgbClr val="000000"/>
              </a:solidFill>
              <a:latin typeface="Times New Roman"/>
              <a:ea typeface="Times New Roman"/>
              <a:cs typeface="Times New Roman"/>
            </a:defRPr>
          </a:pPr>
          <a:endParaRPr lang="en-PT"/>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Our project is Day Ahead Residential Energy Forecasting. We developed two approaches to predict next-day demand across 410 households. The delivery day uses UTC</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We tried to solve the same forecasting problem with two approaches. </a:t>
            </a:r>
            <a:endParaRPr lang="en-US" sz="1400" dirty="0">
              <a:latin typeface="Times New Roman"/>
              <a:ea typeface="Times New Roman"/>
              <a:cs typeface="Times New Roman"/>
            </a:endParaRPr>
          </a:p>
          <a:p>
            <a:endParaRPr lang="en-US" sz="1400" dirty="0">
              <a:latin typeface="Times New Roman"/>
              <a:ea typeface="Times New Roman"/>
              <a:cs typeface="Times New Roman"/>
            </a:endParaRPr>
          </a:p>
          <a:p>
            <a:r>
              <a:rPr sz="1400" dirty="0">
                <a:latin typeface="Times New Roman"/>
                <a:ea typeface="Times New Roman"/>
                <a:cs typeface="Times New Roman"/>
              </a:rPr>
              <a:t>Approach A uses predicted weather, recent demand and household information. </a:t>
            </a:r>
            <a:endParaRPr lang="en-US" sz="1400" dirty="0">
              <a:latin typeface="Times New Roman"/>
              <a:ea typeface="Times New Roman"/>
              <a:cs typeface="Times New Roman"/>
            </a:endParaRPr>
          </a:p>
          <a:p>
            <a:endParaRPr lang="en-US" sz="1400" dirty="0">
              <a:latin typeface="Times New Roman"/>
              <a:ea typeface="Times New Roman"/>
              <a:cs typeface="Times New Roman"/>
            </a:endParaRPr>
          </a:p>
          <a:p>
            <a:r>
              <a:rPr sz="1400" dirty="0">
                <a:latin typeface="Times New Roman"/>
                <a:ea typeface="Times New Roman"/>
                <a:cs typeface="Times New Roman"/>
              </a:rPr>
              <a:t>Approach B uses recurring consumption patterns through a simpler Ridge </a:t>
            </a:r>
            <a:endParaRPr lang="en-US" sz="1400" dirty="0">
              <a:latin typeface="Times New Roman"/>
              <a:ea typeface="Times New Roman"/>
              <a:cs typeface="Times New Roman"/>
            </a:endParaRPr>
          </a:p>
          <a:p>
            <a:r>
              <a:rPr sz="1400" dirty="0">
                <a:latin typeface="Times New Roman"/>
                <a:ea typeface="Times New Roman"/>
                <a:cs typeface="Times New Roman"/>
              </a:rPr>
              <a:t>regression model. Both produce household and portfolio forecasts. I will explain Approach A first, then Approach B, before comparing the results.</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Approach A uses meter history, eight weather stations and household surveys to capture demand patterns and heating context. The target is received electricity in kilowatt-hours, abbreviated kWh. Four homes lack usable Total demand history. Direct photovoltaic generation, charging schedules and actual procurement prices were unavailable.</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Approach A checks timestamps, household identifiers and energy consistency. Measured zeros and extreme readings remain. Missing demand stays missing. No totals were reconstructed. Unknown survey fields remain unknown. Homes without usable history receive separate forecasts. UTC means Coordinated Universal Time.</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A combines predicted weather, recent demand and heating information. Histogram-based gradient boosting regression combines small decision trees to learn nonlinear patterns. Squared error </a:t>
            </a:r>
            <a:r>
              <a:rPr sz="1400" dirty="0" err="1">
                <a:latin typeface="Times New Roman"/>
                <a:ea typeface="Times New Roman"/>
                <a:cs typeface="Times New Roman"/>
              </a:rPr>
              <a:t>emphasises</a:t>
            </a:r>
            <a:r>
              <a:rPr sz="1400" dirty="0">
                <a:latin typeface="Times New Roman"/>
                <a:ea typeface="Times New Roman"/>
                <a:cs typeface="Times New Roman"/>
              </a:rPr>
              <a:t> larger mistakes. L-two regularization adds a penalty to discourage overly large tree-leaf predictions. Photovoltaic, or PV, and electric vehicle, or EV, ownership remain in the model for homes without history.</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We trained chronologically, selected the configuration on validation, then refitted and froze weights before testing. Forecasts use information available at eleven in the morning, Berlin time, on the preceding day. Recent observations update inputs without retraining.</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The lines compare daily energy on identical measured households. Household mean absolute error, or MAE, improves 7.7 percent. Root mean squared error, or RMSE, improves 16.1 percent. Portfolio weighted absolute percentage error, or WAPE, improves slightly. Daily-total error worsens. The benchmark blends 75 percent previous available same-time demand with 25 percent previous-week demand. MWh means megawatt-hour.</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These curves show errors hidden by daily totals: March is underpredicted. September is overpredicted. kWh means kilowatt-hour, measured here per fifteen minutes. MWh means megawatt-hour. UTC means Coordinated Universal Time. Both curves use identical measured households.</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B removes unusable observations and duplicate timestamps, then creates a regular quarter-hour grid in Coordinated Universal Time. Gaps remain missing. Complete rows train the model. Other homes receive week, day, historical-profile or portfolio fallbacks.</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B </a:t>
            </a:r>
            <a:r>
              <a:rPr sz="1400" dirty="0" err="1">
                <a:latin typeface="Times New Roman"/>
                <a:ea typeface="Times New Roman"/>
                <a:cs typeface="Times New Roman"/>
              </a:rPr>
              <a:t>standardises</a:t>
            </a:r>
            <a:r>
              <a:rPr sz="1400" dirty="0">
                <a:latin typeface="Times New Roman"/>
                <a:ea typeface="Times New Roman"/>
                <a:cs typeface="Times New Roman"/>
              </a:rPr>
              <a:t> six demand-lag and calendar features. Ridge regression is a linear model that restrains large coefficients. Alpha, set to one, controls that penalty. Fourteen days calibrate nominal eighty-percent household intervals, separately from training. It uses the complete preceding UTC, or Coordinated Universal Time, day.</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These three-date results include B's supplied report values. Error means signed daily percentage error. Different measured households and information cutoffs prevent an overall ranking. MWh means megawatt-hour.</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Both final forecasts cover 410 homes: A predicts 13.015 megawatt-hours. B predicts 12.012. MWh means megawatt-hour. A's provisional P10-to-P90 range spans estimated demand's tenth to ninetieth percentiles. No final-day actuals were supplied, so accuracy is unknown.</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A improves household errors. B offers simplicity. A's uncertainty intervals contain measured demand in 79.0 percent of quarter-hours and 73.4 percent of days, below the eighty-percent target. We need aligned evaluations and better calibration. Procurement reductions use assumed penalties, not verified monetary savings.</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Approach A forecasts weather before forecasting energy demand. Temperature and humidity use histogram-based gradient boosting regression, which combines decision trees to learn nonlinear relationships. Validation selected the most recent available matching-hour observation for sunshine. MAE means mean absolute error: the average size of a prediction's error, regardless of direction. Temperature test error is 2.50 degrees Celsius. The temperature unit is degrees Celsius. Sunshine error is 0.167 hours of sunshine per hour, and humidity error is 8.43 percentage points. Weather inputs for energy training were produced using only observations available before each historical forecast. Hourly weather observations end two hours before issue, and absent sunshine remains unknown. Tomorrow's </a:t>
            </a:r>
            <a:r>
              <a:rPr sz="1400" dirty="0" err="1">
                <a:latin typeface="Times New Roman"/>
                <a:ea typeface="Times New Roman"/>
                <a:cs typeface="Times New Roman"/>
              </a:rPr>
              <a:t>realised</a:t>
            </a:r>
            <a:r>
              <a:rPr sz="1400" dirty="0">
                <a:latin typeface="Times New Roman"/>
                <a:ea typeface="Times New Roman"/>
                <a:cs typeface="Times New Roman"/>
              </a:rPr>
              <a:t> weather is never supplied as a model input.</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This validation study compares successive information groups on the same measured households. WAPE means weighted absolute percentage error: total absolute error divided by total actual demand, expressed as a percentage. Lower values are better. Adding predicted weather, building information and heating context reduces the error. Heating context includes heat pumps and domestic hot water, often abbreviated DHW. Recent demand </a:t>
            </a:r>
            <a:r>
              <a:rPr sz="1400" dirty="0" err="1">
                <a:latin typeface="Times New Roman"/>
                <a:ea typeface="Times New Roman"/>
                <a:cs typeface="Times New Roman"/>
              </a:rPr>
              <a:t>behaviour</a:t>
            </a:r>
            <a:r>
              <a:rPr sz="1400" dirty="0">
                <a:latin typeface="Times New Roman"/>
                <a:ea typeface="Times New Roman"/>
                <a:cs typeface="Times New Roman"/>
              </a:rPr>
              <a:t> gives a further improvement. PV means photovoltaic. Explicit photovoltaic ownership does not improve this selected configuration. This does not show that solar equipment has no physical effect: existing demand history may already capture some of that </a:t>
            </a:r>
            <a:r>
              <a:rPr sz="1400" dirty="0" err="1">
                <a:latin typeface="Times New Roman"/>
                <a:ea typeface="Times New Roman"/>
                <a:cs typeface="Times New Roman"/>
              </a:rPr>
              <a:t>behaviour</a:t>
            </a:r>
            <a:r>
              <a:rPr sz="1400" dirty="0">
                <a:latin typeface="Times New Roman"/>
                <a:ea typeface="Times New Roman"/>
                <a:cs typeface="Times New Roman"/>
              </a:rPr>
              <a:t>. These are predictive comparisons, not causal energy savings. The lag-blend benchmark actually performs better on validation, so it remains a serious reference rather than an easy comparison.</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On 27 February, Approach A predicts 12.104 megawatt-hours against 11.344 observed across the same 374 measured households. MWh means megawatt-hour. The signed daily error is positive 6.70 percent, indicating overprediction overall. The upper graph shows energy during each fifteen-minute interval in kWh, meaning kilowatt-hours. The lower graph shows forecast minus actual energy: positive values mean overprediction. Negative values mean underprediction. Their changing signs show why a daily total cannot describe every interval's error. UTC means Coordinated Universal Time, used for the hour axis. Both graphs use all 96 intervals from the frozen test predictions. These forecasts were not adjusted afterwards to make the curves agree.</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Ridge is regularized linear regression: it fits a linear demand relationship while discouraging large coefficients. A household needs at least 1,344 complete training rows before calibration, equivalent to fourteen days of quarter-hour observations, although those rows need not be consecutive. The immediately preceding fourteen calibration days must all be complete, and every forecast interval needs both its day and week demand lags. A household failing these checks moves through the fallback hierarchy: previous week, previous day, historical average by quarter-hour, then the portfolio reference. That reference is the mean forecast profile of the 372 Ridge households. The final day uses 372 Ridge forecasts, eleven previous-week profiles, twenty-three historical profiles and four portfolio references. No household uses the previous-day fallback. All time slots follow UTC, meaning Coordinated Universal Time. Predictions for the four homes without usable actual demand cannot be directly validated.</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The two uncertainty methods apply to different targets. Approach A uses validation errors to estimate portfolio demand percentiles. P10 is the tenth percentile, P50 is the fiftieth percentile or median, and P90 is the ninetieth percentile. Under the estimated distribution, ten, fifty and ninety percent of demand outcomes respectively fall at or below these values. The P10-to-P90 range targets eighty-percent coverage. Daily percentiles are calibrated from daily errors separately. Adding quarter-hour percentiles does not produce the daily percentile. On measured test data, A's ranges contain actual demand in 79.0 percent of quarter-hours and 73.4 percent of days. Full-portfolio ranges are provisional, particularly for four homes without measured demand. Approach B uses the preceding fourteen days to calibrate nominal eighty-percent intervals for Ridge household quarter-hours. These do not establish a daily portfolio range. Changing demand patterns and time dependence can reduce coverage, and neither approach guarantees simultaneous coverage of every household and interval.</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The ratio compares the assumed penalty per missing kilowatt-hour with the penalty per extra kilowatt-hour. A shortage means buying less than actual demand. A surplus means buying more.</a:t>
            </a:r>
          </a:p>
          <a:p>
            <a:endParaRPr sz="1400" dirty="0">
              <a:latin typeface="Times New Roman"/>
              <a:ea typeface="Times New Roman"/>
              <a:cs typeface="Times New Roman"/>
            </a:endParaRPr>
          </a:p>
          <a:p>
            <a:r>
              <a:rPr sz="1400" dirty="0">
                <a:latin typeface="Times New Roman"/>
                <a:ea typeface="Times New Roman"/>
                <a:cs typeface="Times New Roman"/>
              </a:rPr>
              <a:t>One to one means shortage and surplus cost the same per kilowatt-hour. Two to one means shortage costs twice as much. Four to one means shortage costs four times as much. One to two means surplus costs twice as much. These are illustrative assumptions because no actual tariffs or historical procurement prices were supplied.</a:t>
            </a:r>
          </a:p>
          <a:p>
            <a:endParaRPr sz="1400" dirty="0">
              <a:latin typeface="Times New Roman"/>
              <a:ea typeface="Times New Roman"/>
              <a:cs typeface="Times New Roman"/>
            </a:endParaRPr>
          </a:p>
          <a:p>
            <a:r>
              <a:rPr sz="1400" dirty="0">
                <a:latin typeface="Times New Roman"/>
                <a:ea typeface="Times New Roman"/>
                <a:cs typeface="Times New Roman"/>
              </a:rPr>
              <a:t>We divide the shortage penalty by the sum of both penalties to choose a demand percentile. One to one gives the fiftieth percentile, P50. Two to one gives P66.7. Four to one gives four divided by five, or eighty percent, so P80. One to two gives P33.3. P means percentile. P80 means eighty percent of outcomes in the estimated demand distribution lie at or below that amount. It does not mean buying eighty percent of the point forecast.</a:t>
            </a:r>
          </a:p>
          <a:p>
            <a:endParaRPr sz="1400" dirty="0">
              <a:latin typeface="Times New Roman"/>
              <a:ea typeface="Times New Roman"/>
              <a:cs typeface="Times New Roman"/>
            </a:endParaRPr>
          </a:p>
          <a:p>
            <a:r>
              <a:rPr sz="1400" dirty="0">
                <a:latin typeface="Times New Roman"/>
                <a:ea typeface="Times New Roman"/>
                <a:cs typeface="Times New Roman"/>
              </a:rPr>
              <a:t>The purchase column adds the ninety-six fifteen-minute purchase amounts for February twenty-eighth, twenty twenty-four. MWh means megawatt-hours, and one megawatt-hour equals one thousand kilowatt-hours. Under four to one, the interval quantities total fourteen point nine nine eight megawatt-hours. The point forecast remains thirteen point zero one five megawatt-hours.</a:t>
            </a:r>
          </a:p>
          <a:p>
            <a:endParaRPr sz="1400" dirty="0">
              <a:latin typeface="Times New Roman"/>
              <a:ea typeface="Times New Roman"/>
              <a:cs typeface="Times New Roman"/>
            </a:endParaRPr>
          </a:p>
          <a:p>
            <a:r>
              <a:rPr sz="1400" dirty="0">
                <a:latin typeface="Times New Roman"/>
                <a:ea typeface="Times New Roman"/>
                <a:cs typeface="Times New Roman"/>
              </a:rPr>
              <a:t>The final column describes a different period: our historical test. For four to one, assumed penalty falls from 1,318,604 to 1,000,926 units. The decrease divided by the original total gives 24.09 percent. It is a simulated penalty reduction, not the amount to buy or a forecast of euro savings. Equal penalties increased test penalty by 0.88 percent, so improvement depends on the assumptions.</a:t>
            </a:r>
          </a:p>
          <a:p>
            <a:endParaRPr sz="1400" dirty="0">
              <a:latin typeface="Times New Roman"/>
              <a:ea typeface="Times New Roman"/>
              <a:cs typeface="Times New Roman"/>
            </a:endParaRPr>
          </a:p>
          <a:p>
            <a:r>
              <a:rPr sz="1400" dirty="0">
                <a:latin typeface="Times New Roman"/>
                <a:ea typeface="Times New Roman"/>
                <a:cs typeface="Times New Roman"/>
              </a:rPr>
              <a:t>In the source file, ML means machine learning and refers to Approach A. Blend is A’s lag benchmark, not Approach B. The file also gives a separate fourteen point zero one one megawatt-hour purchase for net daily settlement. That calculation allows shortages and surpluses at different times to cancel. Our table uses interval settlement, which charges each interval separately. A percentile of a daily sum differs from the sum of interval percentiles, so we keep the two decisions separate.</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For February twenty-eighth, twenty twenty-four, Approach A estimates total demand at thirteen point zero one five megawatt-hours across all four hundred and ten households.</a:t>
            </a:r>
          </a:p>
          <a:p>
            <a:endParaRPr sz="1400" dirty="0">
              <a:latin typeface="Times New Roman"/>
              <a:ea typeface="Times New Roman"/>
              <a:cs typeface="Times New Roman"/>
            </a:endParaRPr>
          </a:p>
          <a:p>
            <a:r>
              <a:rPr sz="1400" dirty="0">
                <a:latin typeface="Times New Roman"/>
                <a:ea typeface="Times New Roman"/>
                <a:cs typeface="Times New Roman"/>
              </a:rPr>
              <a:t>If each missing kilowatt-hour costs four times as much as each extra kilowatt-hour, our conditional recommendation is the eightieth percentile, P80, in each fifteen-minute interval. The ninety-six purchase quantities total fourteen point nine nine eight megawatt-hours. The blue curve shows these amounts above the red point forecast. UTC means Coordinated Universal Time, and kWh means kilowatt-hours.</a:t>
            </a:r>
          </a:p>
          <a:p>
            <a:endParaRPr sz="1400" dirty="0">
              <a:latin typeface="Times New Roman"/>
              <a:ea typeface="Times New Roman"/>
              <a:cs typeface="Times New Roman"/>
            </a:endParaRPr>
          </a:p>
          <a:p>
            <a:r>
              <a:rPr sz="1400" dirty="0">
                <a:latin typeface="Times New Roman"/>
                <a:ea typeface="Times New Roman"/>
                <a:cs typeface="Times New Roman"/>
              </a:rPr>
              <a:t>We calibrated demand uncertainty on validation data and kept the rule fixed for the historical test. Under the same four-to-one assumption, it gave twenty-four point zero nine percent less simulated penalty than purchasing the point forecast on the same measured intervals. That evidence supports demonstrating the rule. It does not prove savings for February twenty-eighth, whose actual demand is unavailable.</a:t>
            </a:r>
          </a:p>
          <a:p>
            <a:endParaRPr sz="1400" dirty="0">
              <a:latin typeface="Times New Roman"/>
              <a:ea typeface="Times New Roman"/>
              <a:cs typeface="Times New Roman"/>
            </a:endParaRPr>
          </a:p>
          <a:p>
            <a:r>
              <a:rPr sz="1400" dirty="0">
                <a:latin typeface="Times New Roman"/>
                <a:ea typeface="Times New Roman"/>
                <a:cs typeface="Times New Roman"/>
              </a:rPr>
              <a:t>The four-to-one ratio is an example, not a ratio estimated from actual costs. We recommend using the real shortage and surplus penalties to set the percentile before making a commercial purchase. Optimal here means minimizing expected linear imbalance penalty under our estimated demand distribution and assumed costs. We have not modelled actual electricity prices, fees or purchase constraints. Four homes have no measured demand history, so their uncertainty remains provisional.</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dirty="0">
                <a:latin typeface="Times New Roman"/>
                <a:ea typeface="Times New Roman"/>
                <a:cs typeface="Times New Roman"/>
              </a:rPr>
              <a:t>Thank you for your attention. We welcome your questions.</a:t>
            </a:r>
          </a:p>
        </p:txBody>
      </p:sp>
      <p:sp>
        <p:nvSpPr>
          <p:cNvPr id="4" name="Slide Number Placeholder 3"/>
          <p:cNvSpPr>
            <a:spLocks noGrp="1"/>
          </p:cNvSpPr>
          <p:nvPr>
            <p:ph type="sldNum" idx="5"/>
          </p:nvPr>
        </p:nvSpPr>
        <p:spPr/>
        <p:txBody>
          <a:bodyPr/>
          <a:lstStyle/>
          <a:p>
            <a:endParaRPr sz="1400">
              <a:latin typeface="Times New Roman"/>
              <a:ea typeface="Times New Roman"/>
              <a:cs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Times New Roman"/>
          <a:ea typeface="Times New Roman"/>
          <a:cs typeface="Times New Roman"/>
        </a:defRPr>
      </a:lvl1pPr>
    </p:titleStyle>
    <p:bodyStyle>
      <a:lvl1pPr marL="228600" indent="-228600" algn="l">
        <a:lnSpc>
          <a:spcPct val="90000"/>
        </a:lnSpc>
        <a:spcBef>
          <a:spcPts val="1000"/>
        </a:spcBef>
        <a:buChar char="•"/>
        <a:defRPr sz="2800">
          <a:solidFill>
            <a:schemeClr val="tx1"/>
          </a:solidFill>
          <a:latin typeface="Times New Roman"/>
          <a:ea typeface="Times New Roman"/>
          <a:cs typeface="Times New Roman"/>
        </a:defRPr>
      </a:lvl1pPr>
      <a:lvl2pPr marL="685800" indent="-228600" algn="l">
        <a:lnSpc>
          <a:spcPct val="90000"/>
        </a:lnSpc>
        <a:spcBef>
          <a:spcPts val="500"/>
        </a:spcBef>
        <a:buChar char="•"/>
        <a:defRPr sz="2400">
          <a:solidFill>
            <a:schemeClr val="tx1"/>
          </a:solidFill>
          <a:latin typeface="Times New Roman"/>
          <a:ea typeface="Times New Roman"/>
          <a:cs typeface="Times New Roman"/>
        </a:defRPr>
      </a:lvl2pPr>
      <a:lvl3pPr marL="1143000" indent="-228600" algn="l">
        <a:lnSpc>
          <a:spcPct val="90000"/>
        </a:lnSpc>
        <a:spcBef>
          <a:spcPts val="500"/>
        </a:spcBef>
        <a:buChar char="•"/>
        <a:defRPr sz="2000">
          <a:solidFill>
            <a:schemeClr val="tx1"/>
          </a:solidFill>
          <a:latin typeface="Times New Roman"/>
          <a:ea typeface="Times New Roman"/>
          <a:cs typeface="Times New Roman"/>
        </a:defRPr>
      </a:lvl3pPr>
      <a:lvl4pPr marL="1600200" indent="-228600" algn="l">
        <a:lnSpc>
          <a:spcPct val="90000"/>
        </a:lnSpc>
        <a:spcBef>
          <a:spcPts val="500"/>
        </a:spcBef>
        <a:buChar char="•"/>
        <a:defRPr sz="1800">
          <a:solidFill>
            <a:schemeClr val="tx1"/>
          </a:solidFill>
          <a:latin typeface="Times New Roman"/>
          <a:ea typeface="Times New Roman"/>
          <a:cs typeface="Times New Roman"/>
        </a:defRPr>
      </a:lvl4pPr>
      <a:lvl5pPr marL="2057400" indent="-228600" algn="l">
        <a:lnSpc>
          <a:spcPct val="90000"/>
        </a:lnSpc>
        <a:spcBef>
          <a:spcPts val="500"/>
        </a:spcBef>
        <a:buChar char="•"/>
        <a:defRPr sz="1800">
          <a:solidFill>
            <a:schemeClr val="tx1"/>
          </a:solidFill>
          <a:latin typeface="Times New Roman"/>
          <a:ea typeface="Times New Roman"/>
          <a:cs typeface="Times New Roman"/>
        </a:defRPr>
      </a:lvl5pPr>
      <a:lvl6pPr marL="2514600" indent="-228600" algn="l">
        <a:lnSpc>
          <a:spcPct val="90000"/>
        </a:lnSpc>
        <a:spcBef>
          <a:spcPts val="500"/>
        </a:spcBef>
        <a:buChar char="•"/>
        <a:defRPr sz="1800">
          <a:solidFill>
            <a:schemeClr val="tx1"/>
          </a:solidFill>
          <a:latin typeface="Times New Roman"/>
          <a:ea typeface="Times New Roman"/>
          <a:cs typeface="Times New Roman"/>
        </a:defRPr>
      </a:lvl6pPr>
      <a:lvl7pPr marL="2971800" indent="-228600" algn="l">
        <a:lnSpc>
          <a:spcPct val="90000"/>
        </a:lnSpc>
        <a:spcBef>
          <a:spcPts val="500"/>
        </a:spcBef>
        <a:buChar char="•"/>
        <a:defRPr sz="1800">
          <a:solidFill>
            <a:schemeClr val="tx1"/>
          </a:solidFill>
          <a:latin typeface="Times New Roman"/>
          <a:ea typeface="Times New Roman"/>
          <a:cs typeface="Times New Roman"/>
        </a:defRPr>
      </a:lvl7pPr>
      <a:lvl8pPr marL="3429000" indent="-228600" algn="l">
        <a:lnSpc>
          <a:spcPct val="90000"/>
        </a:lnSpc>
        <a:spcBef>
          <a:spcPts val="500"/>
        </a:spcBef>
        <a:buChar char="•"/>
        <a:defRPr sz="1800">
          <a:solidFill>
            <a:schemeClr val="tx1"/>
          </a:solidFill>
          <a:latin typeface="Times New Roman"/>
          <a:ea typeface="Times New Roman"/>
          <a:cs typeface="Times New Roman"/>
        </a:defRPr>
      </a:lvl8pPr>
      <a:lvl9pPr marL="3886200" indent="-228600" algn="l">
        <a:lnSpc>
          <a:spcPct val="90000"/>
        </a:lnSpc>
        <a:spcBef>
          <a:spcPts val="500"/>
        </a:spcBef>
        <a:buChar char="•"/>
        <a:defRPr sz="1800">
          <a:solidFill>
            <a:schemeClr val="tx1"/>
          </a:solidFill>
          <a:latin typeface="Times New Roman"/>
          <a:ea typeface="Times New Roman"/>
          <a:cs typeface="Times New Roman"/>
        </a:defRPr>
      </a:lvl9pPr>
    </p:bodyStyle>
    <p:otherStyle>
      <a:lvl1pPr marL="0" algn="l">
        <a:buNone/>
        <a:defRPr sz="1800">
          <a:solidFill>
            <a:schemeClr val="tx1"/>
          </a:solidFill>
          <a:latin typeface="Times New Roman"/>
          <a:ea typeface="Times New Roman"/>
          <a:cs typeface="Times New Roman"/>
        </a:defRPr>
      </a:lvl1pPr>
      <a:lvl2pPr marL="457200" algn="l">
        <a:buNone/>
        <a:defRPr sz="1800">
          <a:solidFill>
            <a:schemeClr val="tx1"/>
          </a:solidFill>
          <a:latin typeface="Times New Roman"/>
          <a:ea typeface="Times New Roman"/>
          <a:cs typeface="Times New Roman"/>
        </a:defRPr>
      </a:lvl2pPr>
      <a:lvl3pPr marL="914400" algn="l">
        <a:buNone/>
        <a:defRPr sz="1800">
          <a:solidFill>
            <a:schemeClr val="tx1"/>
          </a:solidFill>
          <a:latin typeface="Times New Roman"/>
          <a:ea typeface="Times New Roman"/>
          <a:cs typeface="Times New Roman"/>
        </a:defRPr>
      </a:lvl3pPr>
      <a:lvl4pPr marL="1371600" algn="l">
        <a:buNone/>
        <a:defRPr sz="1800">
          <a:solidFill>
            <a:schemeClr val="tx1"/>
          </a:solidFill>
          <a:latin typeface="Times New Roman"/>
          <a:ea typeface="Times New Roman"/>
          <a:cs typeface="Times New Roman"/>
        </a:defRPr>
      </a:lvl4pPr>
      <a:lvl5pPr marL="1828800" algn="l">
        <a:buNone/>
        <a:defRPr sz="1800">
          <a:solidFill>
            <a:schemeClr val="tx1"/>
          </a:solidFill>
          <a:latin typeface="Times New Roman"/>
          <a:ea typeface="Times New Roman"/>
          <a:cs typeface="Times New Roman"/>
        </a:defRPr>
      </a:lvl5pPr>
      <a:lvl6pPr marL="2286000" algn="l">
        <a:buNone/>
        <a:defRPr sz="1800">
          <a:solidFill>
            <a:schemeClr val="tx1"/>
          </a:solidFill>
          <a:latin typeface="Times New Roman"/>
          <a:ea typeface="Times New Roman"/>
          <a:cs typeface="Times New Roman"/>
        </a:defRPr>
      </a:lvl6pPr>
      <a:lvl7pPr marL="2743200" algn="l">
        <a:buNone/>
        <a:defRPr sz="1800">
          <a:solidFill>
            <a:schemeClr val="tx1"/>
          </a:solidFill>
          <a:latin typeface="Times New Roman"/>
          <a:ea typeface="Times New Roman"/>
          <a:cs typeface="Times New Roman"/>
        </a:defRPr>
      </a:lvl7pPr>
      <a:lvl8pPr marL="3200400" algn="l">
        <a:buNone/>
        <a:defRPr sz="1800">
          <a:solidFill>
            <a:schemeClr val="tx1"/>
          </a:solidFill>
          <a:latin typeface="Times New Roman"/>
          <a:ea typeface="Times New Roman"/>
          <a:cs typeface="Times New Roman"/>
        </a:defRPr>
      </a:lvl8pPr>
      <a:lvl9pPr marL="3657600" algn="l">
        <a:buNone/>
        <a:defRPr sz="1800">
          <a:solidFill>
            <a:schemeClr val="tx1"/>
          </a:solidFill>
          <a:latin typeface="Times New Roman"/>
          <a:ea typeface="Times New Roman"/>
          <a:cs typeface="Times New Roman"/>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C3A0C57-EEF4-4417-A9E8-02E9638955A8}"/>
              </a:ext>
            </a:extLst>
          </p:cNvPr>
          <p:cNvSpPr>
            <a:spLocks noGrp="1"/>
          </p:cNvSpPr>
          <p:nvPr/>
        </p:nvSpPr>
        <p:spPr>
          <a:xfrm>
            <a:off x="609600" y="1143000"/>
            <a:ext cx="10972800" cy="1381125"/>
          </a:xfrm>
          <a:prstGeom prst="rect">
            <a:avLst/>
          </a:prstGeom>
          <a:noFill/>
          <a:ln w="0">
            <a:noFill/>
          </a:ln>
        </p:spPr>
        <p:txBody>
          <a:bodyPr>
            <a:noAutofit/>
          </a:bodyPr>
          <a:lstStyle/>
          <a:p>
            <a:pPr>
              <a:defRPr sz="4050" b="1">
                <a:solidFill>
                  <a:srgbClr val="000000"/>
                </a:solidFill>
                <a:latin typeface="Times New Roman"/>
                <a:ea typeface="Times New Roman"/>
                <a:cs typeface="Times New Roman"/>
              </a:defRPr>
            </a:pPr>
            <a:r>
              <a:rPr sz="4050" b="1">
                <a:solidFill>
                  <a:srgbClr val="000000"/>
                </a:solidFill>
                <a:latin typeface="Times New Roman"/>
                <a:ea typeface="Times New Roman"/>
                <a:cs typeface="Times New Roman"/>
              </a:rPr>
              <a:t>Day Ahead Residential Energy Forecasting</a:t>
            </a:r>
          </a:p>
        </p:txBody>
      </p:sp>
      <p:sp>
        <p:nvSpPr>
          <p:cNvPr id="2" name="Rectangle 1">
            <a:extLst>
              <a:ext uri="{FF2B5EF4-FFF2-40B4-BE49-F238E27FC236}">
                <a16:creationId xmlns:a16="http://schemas.microsoft.com/office/drawing/2014/main" id="{D792A52B-D85A-4CBB-BA95-7FAC773E0C9F}"/>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01</a:t>
            </a:r>
          </a:p>
        </p:txBody>
      </p:sp>
      <p:sp>
        <p:nvSpPr>
          <p:cNvPr id="3" name="Rectangle 2">
            <a:extLst>
              <a:ext uri="{FF2B5EF4-FFF2-40B4-BE49-F238E27FC236}">
                <a16:creationId xmlns:a16="http://schemas.microsoft.com/office/drawing/2014/main" id="{A3740EAB-48B9-4372-AE4F-7406ACB1D8C2}"/>
              </a:ext>
            </a:extLst>
          </p:cNvPr>
          <p:cNvSpPr>
            <a:spLocks noGrp="1"/>
          </p:cNvSpPr>
          <p:nvPr/>
        </p:nvSpPr>
        <p:spPr>
          <a:xfrm>
            <a:off x="609600" y="2781300"/>
            <a:ext cx="10972800" cy="638175"/>
          </a:xfrm>
          <a:prstGeom prst="rect">
            <a:avLst/>
          </a:prstGeom>
          <a:noFill/>
          <a:ln w="0">
            <a:noFill/>
          </a:ln>
        </p:spPr>
        <p:txBody>
          <a:bodyPr>
            <a:noAutofit/>
          </a:bodyPr>
          <a:lstStyle/>
          <a:p>
            <a:pPr>
              <a:defRPr sz="2625" b="1">
                <a:solidFill>
                  <a:srgbClr val="000000"/>
                </a:solidFill>
                <a:latin typeface="Times New Roman"/>
                <a:ea typeface="Times New Roman"/>
                <a:cs typeface="Times New Roman"/>
              </a:defRPr>
            </a:pPr>
            <a:r>
              <a:rPr sz="2625" b="1">
                <a:solidFill>
                  <a:srgbClr val="000000"/>
                </a:solidFill>
                <a:latin typeface="Times New Roman"/>
                <a:ea typeface="Times New Roman"/>
                <a:cs typeface="Times New Roman"/>
              </a:rPr>
              <a:t>Comparative Modelling and Portfolio Prediction</a:t>
            </a:r>
          </a:p>
        </p:txBody>
      </p:sp>
      <p:sp>
        <p:nvSpPr>
          <p:cNvPr id="4" name="Rectangle 3">
            <a:extLst>
              <a:ext uri="{FF2B5EF4-FFF2-40B4-BE49-F238E27FC236}">
                <a16:creationId xmlns:a16="http://schemas.microsoft.com/office/drawing/2014/main" id="{0CDAD3FF-C752-44C7-845A-BF88A9DFE1A5}"/>
              </a:ext>
            </a:extLst>
          </p:cNvPr>
          <p:cNvSpPr>
            <a:spLocks noGrp="1"/>
          </p:cNvSpPr>
          <p:nvPr/>
        </p:nvSpPr>
        <p:spPr>
          <a:xfrm>
            <a:off x="609600" y="3333750"/>
            <a:ext cx="10972800" cy="476250"/>
          </a:xfrm>
          <a:prstGeom prst="rect">
            <a:avLst/>
          </a:prstGeom>
          <a:noFill/>
          <a:ln w="0">
            <a:noFill/>
          </a:ln>
        </p:spPr>
        <p:txBody>
          <a:bodyPr>
            <a:noAutofit/>
          </a:bodyPr>
          <a:lstStyle/>
          <a:p>
            <a:pPr>
              <a:defRPr sz="2175" b="0">
                <a:solidFill>
                  <a:srgbClr val="000000"/>
                </a:solidFill>
                <a:latin typeface="Times New Roman"/>
                <a:ea typeface="Times New Roman"/>
                <a:cs typeface="Times New Roman"/>
              </a:defRPr>
            </a:pPr>
            <a:r>
              <a:rPr sz="2175" b="0" dirty="0">
                <a:solidFill>
                  <a:srgbClr val="000000"/>
                </a:solidFill>
                <a:latin typeface="Times New Roman"/>
                <a:ea typeface="Times New Roman"/>
                <a:cs typeface="Times New Roman"/>
              </a:rPr>
              <a:t>410 households. 96 quarter-hour forecasts per UTC day.</a:t>
            </a:r>
          </a:p>
        </p:txBody>
      </p:sp>
      <p:sp>
        <p:nvSpPr>
          <p:cNvPr id="5" name="Rectangle 4">
            <a:extLst>
              <a:ext uri="{FF2B5EF4-FFF2-40B4-BE49-F238E27FC236}">
                <a16:creationId xmlns:a16="http://schemas.microsoft.com/office/drawing/2014/main" id="{F5CF3855-12B3-4365-A561-68A0BD343635}"/>
              </a:ext>
            </a:extLst>
          </p:cNvPr>
          <p:cNvSpPr>
            <a:spLocks noGrp="1"/>
          </p:cNvSpPr>
          <p:nvPr/>
        </p:nvSpPr>
        <p:spPr>
          <a:xfrm>
            <a:off x="609600" y="4638675"/>
            <a:ext cx="10668000" cy="714375"/>
          </a:xfrm>
          <a:prstGeom prst="rect">
            <a:avLst/>
          </a:prstGeom>
          <a:noFill/>
          <a:ln w="0">
            <a:noFill/>
          </a:ln>
        </p:spPr>
        <p:txBody>
          <a:bodyPr>
            <a:noAutofit/>
          </a:bodyPr>
          <a:lstStyle/>
          <a:p>
            <a:pPr>
              <a:defRPr sz="1800" b="0">
                <a:solidFill>
                  <a:srgbClr val="000000"/>
                </a:solidFill>
                <a:latin typeface="Times New Roman"/>
                <a:ea typeface="Times New Roman"/>
                <a:cs typeface="Times New Roman"/>
              </a:defRPr>
            </a:pPr>
            <a:r>
              <a:rPr sz="2000" b="1" dirty="0">
                <a:solidFill>
                  <a:srgbClr val="000000"/>
                </a:solidFill>
                <a:latin typeface="Times New Roman"/>
                <a:ea typeface="Times New Roman"/>
                <a:cs typeface="Times New Roman"/>
              </a:rPr>
              <a:t>Sudip Phuyal</a:t>
            </a:r>
            <a:endParaRPr lang="en-US" sz="2000" b="1" dirty="0">
              <a:solidFill>
                <a:srgbClr val="000000"/>
              </a:solidFill>
              <a:latin typeface="Times New Roman"/>
              <a:ea typeface="Times New Roman"/>
              <a:cs typeface="Times New Roman"/>
            </a:endParaRPr>
          </a:p>
          <a:p>
            <a:pPr>
              <a:defRPr sz="1800" b="0">
                <a:solidFill>
                  <a:srgbClr val="000000"/>
                </a:solidFill>
                <a:latin typeface="Times New Roman"/>
                <a:ea typeface="Times New Roman"/>
                <a:cs typeface="Times New Roman"/>
              </a:defRPr>
            </a:pPr>
            <a:r>
              <a:rPr sz="2000" b="1" dirty="0">
                <a:solidFill>
                  <a:srgbClr val="000000"/>
                </a:solidFill>
                <a:latin typeface="Times New Roman"/>
                <a:ea typeface="Times New Roman"/>
                <a:cs typeface="Times New Roman"/>
              </a:rPr>
              <a:t>Mahsa </a:t>
            </a:r>
            <a:r>
              <a:rPr sz="2000" b="1" dirty="0" err="1">
                <a:solidFill>
                  <a:srgbClr val="000000"/>
                </a:solidFill>
                <a:latin typeface="Times New Roman"/>
                <a:ea typeface="Times New Roman"/>
                <a:cs typeface="Times New Roman"/>
              </a:rPr>
              <a:t>Azarnia</a:t>
            </a:r>
            <a:endParaRPr lang="en-US" sz="2000" b="1" dirty="0">
              <a:solidFill>
                <a:srgbClr val="000000"/>
              </a:solidFill>
              <a:latin typeface="Times New Roman"/>
              <a:ea typeface="Times New Roman"/>
              <a:cs typeface="Times New Roman"/>
            </a:endParaRPr>
          </a:p>
          <a:p>
            <a:pPr>
              <a:defRPr sz="1800" b="0">
                <a:solidFill>
                  <a:srgbClr val="000000"/>
                </a:solidFill>
                <a:latin typeface="Times New Roman"/>
                <a:ea typeface="Times New Roman"/>
                <a:cs typeface="Times New Roman"/>
              </a:defRPr>
            </a:pPr>
            <a:r>
              <a:rPr sz="2000" b="1" dirty="0">
                <a:solidFill>
                  <a:srgbClr val="000000"/>
                </a:solidFill>
                <a:latin typeface="Times New Roman"/>
                <a:ea typeface="Times New Roman"/>
                <a:cs typeface="Times New Roman"/>
              </a:rPr>
              <a:t>Manila Bhandari</a:t>
            </a:r>
            <a:endParaRPr lang="en-US" sz="2000" b="1" dirty="0">
              <a:solidFill>
                <a:srgbClr val="000000"/>
              </a:solidFill>
              <a:latin typeface="Times New Roman"/>
              <a:ea typeface="Times New Roman"/>
              <a:cs typeface="Times New Roman"/>
            </a:endParaRPr>
          </a:p>
          <a:p>
            <a:pPr>
              <a:defRPr sz="1800" b="0">
                <a:solidFill>
                  <a:srgbClr val="000000"/>
                </a:solidFill>
                <a:latin typeface="Times New Roman"/>
                <a:ea typeface="Times New Roman"/>
                <a:cs typeface="Times New Roman"/>
              </a:defRPr>
            </a:pPr>
            <a:r>
              <a:rPr sz="2000" b="1" dirty="0">
                <a:solidFill>
                  <a:srgbClr val="000000"/>
                </a:solidFill>
                <a:latin typeface="Times New Roman"/>
                <a:ea typeface="Times New Roman"/>
                <a:cs typeface="Times New Roman"/>
              </a:rPr>
              <a:t>Rujjal Sada</a:t>
            </a:r>
            <a:endParaRPr lang="en-US" sz="2000" b="1" dirty="0">
              <a:solidFill>
                <a:srgbClr val="000000"/>
              </a:solidFill>
              <a:latin typeface="Times New Roman"/>
              <a:ea typeface="Times New Roman"/>
              <a:cs typeface="Times New Roman"/>
            </a:endParaRPr>
          </a:p>
          <a:p>
            <a:pPr>
              <a:defRPr sz="1800" b="0">
                <a:solidFill>
                  <a:srgbClr val="000000"/>
                </a:solidFill>
                <a:latin typeface="Times New Roman"/>
                <a:ea typeface="Times New Roman"/>
                <a:cs typeface="Times New Roman"/>
              </a:defRPr>
            </a:pPr>
            <a:r>
              <a:rPr sz="2000" b="1" dirty="0">
                <a:solidFill>
                  <a:srgbClr val="000000"/>
                </a:solidFill>
                <a:latin typeface="Times New Roman"/>
                <a:ea typeface="Times New Roman"/>
                <a:cs typeface="Times New Roman"/>
              </a:rPr>
              <a:t>Vignesh </a:t>
            </a:r>
            <a:r>
              <a:rPr sz="2000" b="1" dirty="0" err="1">
                <a:solidFill>
                  <a:srgbClr val="000000"/>
                </a:solidFill>
                <a:latin typeface="Times New Roman"/>
                <a:ea typeface="Times New Roman"/>
                <a:cs typeface="Times New Roman"/>
              </a:rPr>
              <a:t>Pechiappan</a:t>
            </a:r>
            <a:r>
              <a:rPr sz="2000" b="1" dirty="0">
                <a:solidFill>
                  <a:srgbClr val="000000"/>
                </a:solidFill>
                <a:latin typeface="Times New Roman"/>
                <a:ea typeface="Times New Roman"/>
                <a:cs typeface="Times New Roman"/>
              </a:rPr>
              <a:t> </a:t>
            </a:r>
            <a:r>
              <a:rPr sz="2000" b="1" dirty="0" err="1">
                <a:solidFill>
                  <a:srgbClr val="000000"/>
                </a:solidFill>
                <a:latin typeface="Times New Roman"/>
                <a:ea typeface="Times New Roman"/>
                <a:cs typeface="Times New Roman"/>
              </a:rPr>
              <a:t>Ayyathura</a:t>
            </a:r>
            <a:r>
              <a:rPr lang="en-GB" sz="2000" b="1" dirty="0" err="1">
                <a:solidFill>
                  <a:srgbClr val="000000"/>
                </a:solidFill>
                <a:latin typeface="Times New Roman"/>
                <a:ea typeface="Times New Roman"/>
                <a:cs typeface="Times New Roman"/>
              </a:rPr>
              <a:t>i</a:t>
            </a:r>
            <a:endParaRPr lang="en-US" sz="2000" b="1" dirty="0">
              <a:solidFill>
                <a:srgbClr val="000000"/>
              </a:solidFill>
              <a:latin typeface="Times New Roman"/>
              <a:ea typeface="Times New Roman"/>
              <a:cs typeface="Times New Roman"/>
            </a:endParaRPr>
          </a:p>
        </p:txBody>
      </p:sp>
      <p:sp>
        <p:nvSpPr>
          <p:cNvPr id="8" name="TextBox 7">
            <a:extLst>
              <a:ext uri="{FF2B5EF4-FFF2-40B4-BE49-F238E27FC236}">
                <a16:creationId xmlns:a16="http://schemas.microsoft.com/office/drawing/2014/main" id="{A0FB7757-83B9-73C4-6A07-3615A5D8F8B0}"/>
              </a:ext>
            </a:extLst>
          </p:cNvPr>
          <p:cNvSpPr txBox="1"/>
          <p:nvPr/>
        </p:nvSpPr>
        <p:spPr>
          <a:xfrm>
            <a:off x="7125788" y="5844659"/>
            <a:ext cx="6100354" cy="369332"/>
          </a:xfrm>
          <a:prstGeom prst="rect">
            <a:avLst/>
          </a:prstGeom>
          <a:noFill/>
        </p:spPr>
        <p:txBody>
          <a:bodyPr wrap="square">
            <a:spAutoFit/>
          </a:bodyPr>
          <a:lstStyle/>
          <a:p>
            <a:pPr algn="ctr">
              <a:defRPr sz="1800" b="0">
                <a:solidFill>
                  <a:srgbClr val="000000"/>
                </a:solidFill>
                <a:latin typeface="Times New Roman"/>
                <a:ea typeface="Times New Roman"/>
                <a:cs typeface="Times New Roman"/>
              </a:defRPr>
            </a:pPr>
            <a:r>
              <a:rPr lang="en-GB" sz="1800" dirty="0">
                <a:solidFill>
                  <a:srgbClr val="000000"/>
                </a:solidFill>
                <a:latin typeface="Times New Roman"/>
                <a:ea typeface="Times New Roman"/>
                <a:cs typeface="Times New Roman"/>
              </a:rPr>
              <a:t>SMMRV Group</a:t>
            </a:r>
            <a:endParaRPr lang="en-GB" sz="1800" b="0" dirty="0">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069918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B64973A-3AF5-4841-9FA0-D701784D16BC}"/>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Two approaches to the forecasting task</a:t>
            </a:r>
          </a:p>
        </p:txBody>
      </p:sp>
      <p:sp>
        <p:nvSpPr>
          <p:cNvPr id="2" name="Rectangle 1">
            <a:extLst>
              <a:ext uri="{FF2B5EF4-FFF2-40B4-BE49-F238E27FC236}">
                <a16:creationId xmlns:a16="http://schemas.microsoft.com/office/drawing/2014/main" id="{984BA57C-C854-4D5C-96FF-66AA68B169E7}"/>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02</a:t>
            </a:r>
          </a:p>
        </p:txBody>
      </p:sp>
      <p:sp>
        <p:nvSpPr>
          <p:cNvPr id="3" name="Rectangle 2">
            <a:extLst>
              <a:ext uri="{FF2B5EF4-FFF2-40B4-BE49-F238E27FC236}">
                <a16:creationId xmlns:a16="http://schemas.microsoft.com/office/drawing/2014/main" id="{BCD5AAA2-C3EA-4365-B704-C7C8ACCDBDC6}"/>
              </a:ext>
            </a:extLst>
          </p:cNvPr>
          <p:cNvSpPr>
            <a:spLocks noGrp="1"/>
          </p:cNvSpPr>
          <p:nvPr/>
        </p:nvSpPr>
        <p:spPr>
          <a:xfrm>
            <a:off x="609600" y="1695450"/>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Approach A: weather and household context</a:t>
            </a:r>
          </a:p>
        </p:txBody>
      </p:sp>
      <p:sp>
        <p:nvSpPr>
          <p:cNvPr id="4" name="Rectangle 3">
            <a:extLst>
              <a:ext uri="{FF2B5EF4-FFF2-40B4-BE49-F238E27FC236}">
                <a16:creationId xmlns:a16="http://schemas.microsoft.com/office/drawing/2014/main" id="{12FB974A-CB5F-4249-B469-3DF79DEB932E}"/>
              </a:ext>
            </a:extLst>
          </p:cNvPr>
          <p:cNvSpPr>
            <a:spLocks noGrp="1"/>
          </p:cNvSpPr>
          <p:nvPr/>
        </p:nvSpPr>
        <p:spPr>
          <a:xfrm>
            <a:off x="609600" y="2124075"/>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Global histogram-based gradient boosting with forecast weather and recent demand</a:t>
            </a:r>
          </a:p>
        </p:txBody>
      </p:sp>
      <p:sp>
        <p:nvSpPr>
          <p:cNvPr id="5" name="Rectangle 4">
            <a:extLst>
              <a:ext uri="{FF2B5EF4-FFF2-40B4-BE49-F238E27FC236}">
                <a16:creationId xmlns:a16="http://schemas.microsoft.com/office/drawing/2014/main" id="{7FE05B94-A37C-44D7-9749-2A99C48B787C}"/>
              </a:ext>
            </a:extLst>
          </p:cNvPr>
          <p:cNvSpPr>
            <a:spLocks noGrp="1"/>
          </p:cNvSpPr>
          <p:nvPr/>
        </p:nvSpPr>
        <p:spPr>
          <a:xfrm>
            <a:off x="609600" y="3362325"/>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Approach B: recurring consumption patterns</a:t>
            </a:r>
          </a:p>
        </p:txBody>
      </p:sp>
      <p:sp>
        <p:nvSpPr>
          <p:cNvPr id="6" name="Rectangle 5">
            <a:extLst>
              <a:ext uri="{FF2B5EF4-FFF2-40B4-BE49-F238E27FC236}">
                <a16:creationId xmlns:a16="http://schemas.microsoft.com/office/drawing/2014/main" id="{6BA68A16-7767-4A80-9942-4C09417F2AE5}"/>
              </a:ext>
            </a:extLst>
          </p:cNvPr>
          <p:cNvSpPr>
            <a:spLocks noGrp="1"/>
          </p:cNvSpPr>
          <p:nvPr/>
        </p:nvSpPr>
        <p:spPr>
          <a:xfrm>
            <a:off x="609600" y="3790950"/>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Global Ridge regression with day/week demand lags and calendar features</a:t>
            </a:r>
          </a:p>
        </p:txBody>
      </p:sp>
      <p:sp>
        <p:nvSpPr>
          <p:cNvPr id="7" name="Rectangle 6">
            <a:extLst>
              <a:ext uri="{FF2B5EF4-FFF2-40B4-BE49-F238E27FC236}">
                <a16:creationId xmlns:a16="http://schemas.microsoft.com/office/drawing/2014/main" id="{90ECA07C-7566-4B68-B9DF-943CEF361F94}"/>
              </a:ext>
            </a:extLst>
          </p:cNvPr>
          <p:cNvSpPr>
            <a:spLocks noGrp="1"/>
          </p:cNvSpPr>
          <p:nvPr/>
        </p:nvSpPr>
        <p:spPr>
          <a:xfrm>
            <a:off x="609600" y="5238750"/>
            <a:ext cx="10972800" cy="485775"/>
          </a:xfrm>
          <a:prstGeom prst="rect">
            <a:avLst/>
          </a:prstGeom>
          <a:noFill/>
          <a:ln w="0">
            <a:noFill/>
          </a:ln>
        </p:spPr>
        <p:txBody>
          <a:bodyPr>
            <a:noAutofit/>
          </a:bodyPr>
          <a:lstStyle/>
          <a:p>
            <a:pPr>
              <a:defRPr sz="2250" b="1">
                <a:solidFill>
                  <a:srgbClr val="000000"/>
                </a:solidFill>
                <a:latin typeface="Times New Roman"/>
                <a:ea typeface="Times New Roman"/>
                <a:cs typeface="Times New Roman"/>
              </a:defRPr>
            </a:pPr>
            <a:r>
              <a:rPr sz="2250" b="1" dirty="0">
                <a:solidFill>
                  <a:srgbClr val="000000"/>
                </a:solidFill>
                <a:latin typeface="Times New Roman"/>
                <a:ea typeface="Times New Roman"/>
                <a:cs typeface="Times New Roman"/>
              </a:rPr>
              <a:t>Both produce household forecasts and a total portfolio forecast</a:t>
            </a:r>
          </a:p>
        </p:txBody>
      </p:sp>
      <p:sp>
        <p:nvSpPr>
          <p:cNvPr id="8" name="Rectangle 7">
            <a:extLst>
              <a:ext uri="{FF2B5EF4-FFF2-40B4-BE49-F238E27FC236}">
                <a16:creationId xmlns:a16="http://schemas.microsoft.com/office/drawing/2014/main" id="{BD8CC29D-2B2D-432E-BCD7-9C16C6F215A4}"/>
              </a:ext>
            </a:extLst>
          </p:cNvPr>
          <p:cNvSpPr>
            <a:spLocks noGrp="1"/>
          </p:cNvSpPr>
          <p:nvPr/>
        </p:nvSpPr>
        <p:spPr>
          <a:xfrm>
            <a:off x="609600" y="5915025"/>
            <a:ext cx="10668000" cy="352425"/>
          </a:xfrm>
          <a:prstGeom prst="rect">
            <a:avLst/>
          </a:prstGeom>
          <a:noFill/>
          <a:ln w="0">
            <a:noFill/>
          </a:ln>
        </p:spPr>
        <p:txBody>
          <a:bodyPr>
            <a:noAutofit/>
          </a:bodyPr>
          <a:lstStyle/>
          <a:p>
            <a:pPr>
              <a:defRPr sz="1875" b="0">
                <a:solidFill>
                  <a:srgbClr val="000000"/>
                </a:solidFill>
                <a:latin typeface="Times New Roman"/>
                <a:ea typeface="Times New Roman"/>
                <a:cs typeface="Times New Roman"/>
              </a:defRPr>
            </a:pPr>
            <a:r>
              <a:rPr sz="1875" b="0" dirty="0">
                <a:solidFill>
                  <a:srgbClr val="000000"/>
                </a:solidFill>
                <a:latin typeface="Times New Roman"/>
                <a:ea typeface="Times New Roman"/>
                <a:cs typeface="Times New Roman"/>
              </a:rPr>
              <a:t>Final target: 410 households at 15-minute resolution</a:t>
            </a:r>
          </a:p>
        </p:txBody>
      </p:sp>
    </p:spTree>
    <p:extLst>
      <p:ext uri="{BB962C8B-B14F-4D97-AF65-F5344CB8AC3E}">
        <p14:creationId xmlns:p14="http://schemas.microsoft.com/office/powerpoint/2010/main" val="874124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5C34D7-7766-42EE-90AB-A6B8DC3FF2AC}"/>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Approach A: data and information considered</a:t>
            </a:r>
          </a:p>
        </p:txBody>
      </p:sp>
      <p:sp>
        <p:nvSpPr>
          <p:cNvPr id="2" name="Rectangle 1">
            <a:extLst>
              <a:ext uri="{FF2B5EF4-FFF2-40B4-BE49-F238E27FC236}">
                <a16:creationId xmlns:a16="http://schemas.microsoft.com/office/drawing/2014/main" id="{914B38DA-DC09-4384-9F31-4FA0DDB21B36}"/>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03</a:t>
            </a:r>
          </a:p>
        </p:txBody>
      </p:sp>
      <p:sp>
        <p:nvSpPr>
          <p:cNvPr id="3" name="Rectangle 2">
            <a:extLst>
              <a:ext uri="{FF2B5EF4-FFF2-40B4-BE49-F238E27FC236}">
                <a16:creationId xmlns:a16="http://schemas.microsoft.com/office/drawing/2014/main" id="{FF5CDF33-FF29-4859-8DB1-94B0DE4720C4}"/>
              </a:ext>
            </a:extLst>
          </p:cNvPr>
          <p:cNvSpPr>
            <a:spLocks noGrp="1"/>
          </p:cNvSpPr>
          <p:nvPr/>
        </p:nvSpPr>
        <p:spPr>
          <a:xfrm>
            <a:off x="609600" y="1657350"/>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410 household meter files</a:t>
            </a:r>
          </a:p>
        </p:txBody>
      </p:sp>
      <p:sp>
        <p:nvSpPr>
          <p:cNvPr id="4" name="Rectangle 3">
            <a:extLst>
              <a:ext uri="{FF2B5EF4-FFF2-40B4-BE49-F238E27FC236}">
                <a16:creationId xmlns:a16="http://schemas.microsoft.com/office/drawing/2014/main" id="{8DB8CCE2-2055-4FD3-9FE5-781BD616C266}"/>
              </a:ext>
            </a:extLst>
          </p:cNvPr>
          <p:cNvSpPr>
            <a:spLocks noGrp="1"/>
          </p:cNvSpPr>
          <p:nvPr/>
        </p:nvSpPr>
        <p:spPr>
          <a:xfrm>
            <a:off x="609600" y="2085975"/>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15-minute received electricity, daily and weekly patterns, and seasonal variation</a:t>
            </a:r>
          </a:p>
        </p:txBody>
      </p:sp>
      <p:sp>
        <p:nvSpPr>
          <p:cNvPr id="5" name="Rectangle 4">
            <a:extLst>
              <a:ext uri="{FF2B5EF4-FFF2-40B4-BE49-F238E27FC236}">
                <a16:creationId xmlns:a16="http://schemas.microsoft.com/office/drawing/2014/main" id="{96076A03-0849-43A0-8116-107014C18573}"/>
              </a:ext>
            </a:extLst>
          </p:cNvPr>
          <p:cNvSpPr>
            <a:spLocks noGrp="1"/>
          </p:cNvSpPr>
          <p:nvPr/>
        </p:nvSpPr>
        <p:spPr>
          <a:xfrm>
            <a:off x="609600" y="2924175"/>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8 weather stations and household surveys</a:t>
            </a:r>
          </a:p>
        </p:txBody>
      </p:sp>
      <p:sp>
        <p:nvSpPr>
          <p:cNvPr id="6" name="Rectangle 5">
            <a:extLst>
              <a:ext uri="{FF2B5EF4-FFF2-40B4-BE49-F238E27FC236}">
                <a16:creationId xmlns:a16="http://schemas.microsoft.com/office/drawing/2014/main" id="{BEA636CA-EC65-4F94-AC5C-B43339F37B40}"/>
              </a:ext>
            </a:extLst>
          </p:cNvPr>
          <p:cNvSpPr>
            <a:spLocks noGrp="1"/>
          </p:cNvSpPr>
          <p:nvPr/>
        </p:nvSpPr>
        <p:spPr>
          <a:xfrm>
            <a:off x="609600" y="3352800"/>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Temperature, sunshine, humidity, building size, residents and heating equipment</a:t>
            </a:r>
          </a:p>
        </p:txBody>
      </p:sp>
      <p:sp>
        <p:nvSpPr>
          <p:cNvPr id="7" name="Rectangle 6">
            <a:extLst>
              <a:ext uri="{FF2B5EF4-FFF2-40B4-BE49-F238E27FC236}">
                <a16:creationId xmlns:a16="http://schemas.microsoft.com/office/drawing/2014/main" id="{80C94987-3DCE-4304-9A06-765D8F76AE6C}"/>
              </a:ext>
            </a:extLst>
          </p:cNvPr>
          <p:cNvSpPr>
            <a:spLocks noGrp="1"/>
          </p:cNvSpPr>
          <p:nvPr/>
        </p:nvSpPr>
        <p:spPr>
          <a:xfrm>
            <a:off x="609600" y="4191000"/>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Forecast target and data gaps</a:t>
            </a:r>
          </a:p>
        </p:txBody>
      </p:sp>
      <p:sp>
        <p:nvSpPr>
          <p:cNvPr id="8" name="Rectangle 7">
            <a:extLst>
              <a:ext uri="{FF2B5EF4-FFF2-40B4-BE49-F238E27FC236}">
                <a16:creationId xmlns:a16="http://schemas.microsoft.com/office/drawing/2014/main" id="{CDE010AB-624F-420D-8B99-08629F0BA358}"/>
              </a:ext>
            </a:extLst>
          </p:cNvPr>
          <p:cNvSpPr>
            <a:spLocks noGrp="1"/>
          </p:cNvSpPr>
          <p:nvPr/>
        </p:nvSpPr>
        <p:spPr>
          <a:xfrm>
            <a:off x="609600" y="4619625"/>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Received electricity demand, with four homes lacking usable Total demand history</a:t>
            </a:r>
          </a:p>
        </p:txBody>
      </p:sp>
      <p:sp>
        <p:nvSpPr>
          <p:cNvPr id="9" name="Rectangle 8">
            <a:extLst>
              <a:ext uri="{FF2B5EF4-FFF2-40B4-BE49-F238E27FC236}">
                <a16:creationId xmlns:a16="http://schemas.microsoft.com/office/drawing/2014/main" id="{559B06ED-BBB0-407E-9612-E2E1CE4021DC}"/>
              </a:ext>
            </a:extLst>
          </p:cNvPr>
          <p:cNvSpPr>
            <a:spLocks noGrp="1"/>
          </p:cNvSpPr>
          <p:nvPr/>
        </p:nvSpPr>
        <p:spPr>
          <a:xfrm>
            <a:off x="609600" y="6010275"/>
            <a:ext cx="10668000" cy="352425"/>
          </a:xfrm>
          <a:prstGeom prst="rect">
            <a:avLst/>
          </a:prstGeom>
          <a:noFill/>
          <a:ln w="0">
            <a:noFill/>
          </a:ln>
        </p:spPr>
        <p:txBody>
          <a:bodyPr>
            <a:noAutofit/>
          </a:bodyPr>
          <a:lstStyle/>
          <a:p>
            <a:pP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Forecast target: received electricity energy in kWh per 15-minute interval</a:t>
            </a:r>
          </a:p>
        </p:txBody>
      </p:sp>
    </p:spTree>
    <p:extLst>
      <p:ext uri="{BB962C8B-B14F-4D97-AF65-F5344CB8AC3E}">
        <p14:creationId xmlns:p14="http://schemas.microsoft.com/office/powerpoint/2010/main" val="1270111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947A12A-5FFA-4E9D-B5C8-3C0591F5B3F5}"/>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Approach A: cleaning and missing data</a:t>
            </a:r>
          </a:p>
        </p:txBody>
      </p:sp>
      <p:sp>
        <p:nvSpPr>
          <p:cNvPr id="2" name="Rectangle 1">
            <a:extLst>
              <a:ext uri="{FF2B5EF4-FFF2-40B4-BE49-F238E27FC236}">
                <a16:creationId xmlns:a16="http://schemas.microsoft.com/office/drawing/2014/main" id="{7AE1AC28-1FDF-4F7C-BD0F-B82FDB7AD943}"/>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04</a:t>
            </a:r>
          </a:p>
        </p:txBody>
      </p:sp>
      <p:sp>
        <p:nvSpPr>
          <p:cNvPr id="3" name="Rectangle 2">
            <a:extLst>
              <a:ext uri="{FF2B5EF4-FFF2-40B4-BE49-F238E27FC236}">
                <a16:creationId xmlns:a16="http://schemas.microsoft.com/office/drawing/2014/main" id="{13609BF5-5936-49F0-B29F-26D973F581BB}"/>
              </a:ext>
            </a:extLst>
          </p:cNvPr>
          <p:cNvSpPr>
            <a:spLocks noGrp="1"/>
          </p:cNvSpPr>
          <p:nvPr/>
        </p:nvSpPr>
        <p:spPr>
          <a:xfrm>
            <a:off x="609600" y="1562100"/>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Validate the time series</a:t>
            </a:r>
          </a:p>
        </p:txBody>
      </p:sp>
      <p:sp>
        <p:nvSpPr>
          <p:cNvPr id="4" name="Rectangle 3">
            <a:extLst>
              <a:ext uri="{FF2B5EF4-FFF2-40B4-BE49-F238E27FC236}">
                <a16:creationId xmlns:a16="http://schemas.microsoft.com/office/drawing/2014/main" id="{B2118E8F-460F-441F-8CE6-7BB37A54732C}"/>
              </a:ext>
            </a:extLst>
          </p:cNvPr>
          <p:cNvSpPr>
            <a:spLocks noGrp="1"/>
          </p:cNvSpPr>
          <p:nvPr/>
        </p:nvSpPr>
        <p:spPr>
          <a:xfrm>
            <a:off x="609600" y="1990725"/>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Parse UTC timestamps and numbers, sort records and reject invalid or duplicate keys</a:t>
            </a:r>
          </a:p>
        </p:txBody>
      </p:sp>
      <p:sp>
        <p:nvSpPr>
          <p:cNvPr id="5" name="Rectangle 4">
            <a:extLst>
              <a:ext uri="{FF2B5EF4-FFF2-40B4-BE49-F238E27FC236}">
                <a16:creationId xmlns:a16="http://schemas.microsoft.com/office/drawing/2014/main" id="{1E8F3702-6ABF-4E76-97BA-1657921E767F}"/>
              </a:ext>
            </a:extLst>
          </p:cNvPr>
          <p:cNvSpPr>
            <a:spLocks noGrp="1"/>
          </p:cNvSpPr>
          <p:nvPr/>
        </p:nvSpPr>
        <p:spPr>
          <a:xfrm>
            <a:off x="609600" y="2752725"/>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Preserve the measured target</a:t>
            </a:r>
          </a:p>
        </p:txBody>
      </p:sp>
      <p:sp>
        <p:nvSpPr>
          <p:cNvPr id="6" name="Rectangle 5">
            <a:extLst>
              <a:ext uri="{FF2B5EF4-FFF2-40B4-BE49-F238E27FC236}">
                <a16:creationId xmlns:a16="http://schemas.microsoft.com/office/drawing/2014/main" id="{FD7F6DD9-2153-4A53-9DD2-63974FC878A2}"/>
              </a:ext>
            </a:extLst>
          </p:cNvPr>
          <p:cNvSpPr>
            <a:spLocks noGrp="1"/>
          </p:cNvSpPr>
          <p:nvPr/>
        </p:nvSpPr>
        <p:spPr>
          <a:xfrm>
            <a:off x="609600" y="3181350"/>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Keep zeros and extremes. Reconstruct Total only from valid HeatPump + Other.</a:t>
            </a:r>
          </a:p>
        </p:txBody>
      </p:sp>
      <p:sp>
        <p:nvSpPr>
          <p:cNvPr id="7" name="Rectangle 6">
            <a:extLst>
              <a:ext uri="{FF2B5EF4-FFF2-40B4-BE49-F238E27FC236}">
                <a16:creationId xmlns:a16="http://schemas.microsoft.com/office/drawing/2014/main" id="{2B847F20-2744-4041-B1D5-EF934E8A6C90}"/>
              </a:ext>
            </a:extLst>
          </p:cNvPr>
          <p:cNvSpPr>
            <a:spLocks noGrp="1"/>
          </p:cNvSpPr>
          <p:nvPr/>
        </p:nvSpPr>
        <p:spPr>
          <a:xfrm>
            <a:off x="609600" y="3943350"/>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Represent unknown inputs</a:t>
            </a:r>
          </a:p>
        </p:txBody>
      </p:sp>
      <p:sp>
        <p:nvSpPr>
          <p:cNvPr id="8" name="Rectangle 7">
            <a:extLst>
              <a:ext uri="{FF2B5EF4-FFF2-40B4-BE49-F238E27FC236}">
                <a16:creationId xmlns:a16="http://schemas.microsoft.com/office/drawing/2014/main" id="{5D756980-9C9A-4C43-81BF-66A6E0AE1BCC}"/>
              </a:ext>
            </a:extLst>
          </p:cNvPr>
          <p:cNvSpPr>
            <a:spLocks noGrp="1"/>
          </p:cNvSpPr>
          <p:nvPr/>
        </p:nvSpPr>
        <p:spPr>
          <a:xfrm>
            <a:off x="609600" y="4371975"/>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Keep metadata and weather gaps as missing values with explicit indicators</a:t>
            </a:r>
          </a:p>
        </p:txBody>
      </p:sp>
      <p:sp>
        <p:nvSpPr>
          <p:cNvPr id="9" name="Rectangle 8">
            <a:extLst>
              <a:ext uri="{FF2B5EF4-FFF2-40B4-BE49-F238E27FC236}">
                <a16:creationId xmlns:a16="http://schemas.microsoft.com/office/drawing/2014/main" id="{79619ABF-9421-4444-9C38-6B09FFB23846}"/>
              </a:ext>
            </a:extLst>
          </p:cNvPr>
          <p:cNvSpPr>
            <a:spLocks noGrp="1"/>
          </p:cNvSpPr>
          <p:nvPr/>
        </p:nvSpPr>
        <p:spPr>
          <a:xfrm>
            <a:off x="609600" y="5429250"/>
            <a:ext cx="10972800" cy="523875"/>
          </a:xfrm>
          <a:prstGeom prst="rect">
            <a:avLst/>
          </a:prstGeom>
          <a:noFill/>
          <a:ln w="0">
            <a:noFill/>
          </a:ln>
        </p:spPr>
        <p:txBody>
          <a:bodyPr>
            <a:noAutofit/>
          </a:bodyPr>
          <a:lstStyle/>
          <a:p>
            <a:pP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Four homes without Total history receive a history-free cold-start model</a:t>
            </a:r>
          </a:p>
        </p:txBody>
      </p:sp>
      <p:sp>
        <p:nvSpPr>
          <p:cNvPr id="10" name="Rectangle 9">
            <a:extLst>
              <a:ext uri="{FF2B5EF4-FFF2-40B4-BE49-F238E27FC236}">
                <a16:creationId xmlns:a16="http://schemas.microsoft.com/office/drawing/2014/main" id="{957A3C92-A50C-4328-9C66-FF0B2DDF9F77}"/>
              </a:ext>
            </a:extLst>
          </p:cNvPr>
          <p:cNvSpPr>
            <a:spLocks noGrp="1"/>
          </p:cNvSpPr>
          <p:nvPr/>
        </p:nvSpPr>
        <p:spPr>
          <a:xfrm>
            <a:off x="609600" y="6010275"/>
            <a:ext cx="10668000" cy="352425"/>
          </a:xfrm>
          <a:prstGeom prst="rect">
            <a:avLst/>
          </a:prstGeom>
          <a:noFill/>
          <a:ln w="0">
            <a:noFill/>
          </a:ln>
        </p:spPr>
        <p:txBody>
          <a:bodyPr>
            <a:noAutofit/>
          </a:bodyPr>
          <a:lstStyle/>
          <a:p>
            <a:pP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Missing targets never become synthetic training labels. Reconstruction used: 0 rows.</a:t>
            </a:r>
          </a:p>
        </p:txBody>
      </p:sp>
    </p:spTree>
    <p:extLst>
      <p:ext uri="{BB962C8B-B14F-4D97-AF65-F5344CB8AC3E}">
        <p14:creationId xmlns:p14="http://schemas.microsoft.com/office/powerpoint/2010/main" val="660754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C73F6F3-560A-4E1A-901A-316BF92A67B1}"/>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Approach A: features and demand model</a:t>
            </a:r>
          </a:p>
        </p:txBody>
      </p:sp>
      <p:sp>
        <p:nvSpPr>
          <p:cNvPr id="2" name="Rectangle 1">
            <a:extLst>
              <a:ext uri="{FF2B5EF4-FFF2-40B4-BE49-F238E27FC236}">
                <a16:creationId xmlns:a16="http://schemas.microsoft.com/office/drawing/2014/main" id="{20CEFCC9-39A0-4415-BFA7-0A50E07EED12}"/>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05</a:t>
            </a:r>
          </a:p>
        </p:txBody>
      </p:sp>
      <p:sp>
        <p:nvSpPr>
          <p:cNvPr id="3" name="Rectangle 2">
            <a:extLst>
              <a:ext uri="{FF2B5EF4-FFF2-40B4-BE49-F238E27FC236}">
                <a16:creationId xmlns:a16="http://schemas.microsoft.com/office/drawing/2014/main" id="{E30645CD-C268-438C-B113-9CBAA6BE1B54}"/>
              </a:ext>
            </a:extLst>
          </p:cNvPr>
          <p:cNvSpPr>
            <a:spLocks noGrp="1"/>
          </p:cNvSpPr>
          <p:nvPr/>
        </p:nvSpPr>
        <p:spPr>
          <a:xfrm>
            <a:off x="609600" y="1562100"/>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dirty="0">
                <a:solidFill>
                  <a:srgbClr val="000000"/>
                </a:solidFill>
                <a:latin typeface="Times New Roman"/>
                <a:ea typeface="Times New Roman"/>
                <a:cs typeface="Times New Roman"/>
              </a:rPr>
              <a:t>Forecast tomorrow’s weather</a:t>
            </a:r>
          </a:p>
        </p:txBody>
      </p:sp>
      <p:sp>
        <p:nvSpPr>
          <p:cNvPr id="4" name="Rectangle 3">
            <a:extLst>
              <a:ext uri="{FF2B5EF4-FFF2-40B4-BE49-F238E27FC236}">
                <a16:creationId xmlns:a16="http://schemas.microsoft.com/office/drawing/2014/main" id="{E1B75A1F-D312-4E1A-A504-435C2FC44602}"/>
              </a:ext>
            </a:extLst>
          </p:cNvPr>
          <p:cNvSpPr>
            <a:spLocks noGrp="1"/>
          </p:cNvSpPr>
          <p:nvPr/>
        </p:nvSpPr>
        <p:spPr>
          <a:xfrm>
            <a:off x="609600" y="1990725"/>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dirty="0">
                <a:solidFill>
                  <a:srgbClr val="000000"/>
                </a:solidFill>
                <a:latin typeface="Times New Roman"/>
                <a:ea typeface="Times New Roman"/>
                <a:cs typeface="Times New Roman"/>
              </a:rPr>
              <a:t>Predict temperature, sunshine and humidity from observations available before issue</a:t>
            </a:r>
          </a:p>
        </p:txBody>
      </p:sp>
      <p:sp>
        <p:nvSpPr>
          <p:cNvPr id="5" name="Rectangle 4">
            <a:extLst>
              <a:ext uri="{FF2B5EF4-FFF2-40B4-BE49-F238E27FC236}">
                <a16:creationId xmlns:a16="http://schemas.microsoft.com/office/drawing/2014/main" id="{890525CA-9973-47D6-9BBC-4FCE16A70917}"/>
              </a:ext>
            </a:extLst>
          </p:cNvPr>
          <p:cNvSpPr>
            <a:spLocks noGrp="1"/>
          </p:cNvSpPr>
          <p:nvPr/>
        </p:nvSpPr>
        <p:spPr>
          <a:xfrm>
            <a:off x="609600" y="2752725"/>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Build consumption and context features</a:t>
            </a:r>
          </a:p>
        </p:txBody>
      </p:sp>
      <p:sp>
        <p:nvSpPr>
          <p:cNvPr id="6" name="Rectangle 5">
            <a:extLst>
              <a:ext uri="{FF2B5EF4-FFF2-40B4-BE49-F238E27FC236}">
                <a16:creationId xmlns:a16="http://schemas.microsoft.com/office/drawing/2014/main" id="{C342E13A-4154-459B-AEE6-7C5FD9088528}"/>
              </a:ext>
            </a:extLst>
          </p:cNvPr>
          <p:cNvSpPr>
            <a:spLocks noGrp="1"/>
          </p:cNvSpPr>
          <p:nvPr/>
        </p:nvSpPr>
        <p:spPr>
          <a:xfrm>
            <a:off x="609600" y="3181350"/>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Previous available and week lags, 7/28-day profiles, calendar and heating interactions</a:t>
            </a:r>
          </a:p>
        </p:txBody>
      </p:sp>
      <p:sp>
        <p:nvSpPr>
          <p:cNvPr id="7" name="Rectangle 6">
            <a:extLst>
              <a:ext uri="{FF2B5EF4-FFF2-40B4-BE49-F238E27FC236}">
                <a16:creationId xmlns:a16="http://schemas.microsoft.com/office/drawing/2014/main" id="{F0D0A02B-5CCF-47F0-B8F4-4F4716179421}"/>
              </a:ext>
            </a:extLst>
          </p:cNvPr>
          <p:cNvSpPr>
            <a:spLocks noGrp="1"/>
          </p:cNvSpPr>
          <p:nvPr/>
        </p:nvSpPr>
        <p:spPr>
          <a:xfrm>
            <a:off x="609600" y="3943350"/>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Fit one global HistGradientBoostingRegressor</a:t>
            </a:r>
          </a:p>
        </p:txBody>
      </p:sp>
      <p:sp>
        <p:nvSpPr>
          <p:cNvPr id="8" name="Rectangle 7">
            <a:extLst>
              <a:ext uri="{FF2B5EF4-FFF2-40B4-BE49-F238E27FC236}">
                <a16:creationId xmlns:a16="http://schemas.microsoft.com/office/drawing/2014/main" id="{390229B4-E06D-4D6B-87DF-A2FAB936B518}"/>
              </a:ext>
            </a:extLst>
          </p:cNvPr>
          <p:cNvSpPr>
            <a:spLocks noGrp="1"/>
          </p:cNvSpPr>
          <p:nvPr/>
        </p:nvSpPr>
        <p:spPr>
          <a:xfrm>
            <a:off x="609600" y="4371975"/>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Squared-error loss, 80 iterations, learning rate 0.07, 15 leaves and L2 = 2</a:t>
            </a:r>
          </a:p>
        </p:txBody>
      </p:sp>
      <p:sp>
        <p:nvSpPr>
          <p:cNvPr id="9" name="Rectangle 8">
            <a:extLst>
              <a:ext uri="{FF2B5EF4-FFF2-40B4-BE49-F238E27FC236}">
                <a16:creationId xmlns:a16="http://schemas.microsoft.com/office/drawing/2014/main" id="{12E4E36B-22C0-4B6F-BA11-ED9474A09CF2}"/>
              </a:ext>
            </a:extLst>
          </p:cNvPr>
          <p:cNvSpPr>
            <a:spLocks noGrp="1"/>
          </p:cNvSpPr>
          <p:nvPr/>
        </p:nvSpPr>
        <p:spPr>
          <a:xfrm>
            <a:off x="609600" y="5438775"/>
            <a:ext cx="10972800" cy="523875"/>
          </a:xfrm>
          <a:prstGeom prst="rect">
            <a:avLst/>
          </a:prstGeom>
          <a:noFill/>
          <a:ln w="0">
            <a:noFill/>
          </a:ln>
        </p:spPr>
        <p:txBody>
          <a:bodyPr>
            <a:noAutofit/>
          </a:bodyPr>
          <a:lstStyle/>
          <a:p>
            <a:pPr>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Selected main inputs: recent behaviour + weather + building and heating context</a:t>
            </a:r>
          </a:p>
        </p:txBody>
      </p:sp>
      <p:sp>
        <p:nvSpPr>
          <p:cNvPr id="10" name="Rectangle 9">
            <a:extLst>
              <a:ext uri="{FF2B5EF4-FFF2-40B4-BE49-F238E27FC236}">
                <a16:creationId xmlns:a16="http://schemas.microsoft.com/office/drawing/2014/main" id="{4480B3CE-8122-418B-B94A-60787AD53524}"/>
              </a:ext>
            </a:extLst>
          </p:cNvPr>
          <p:cNvSpPr>
            <a:spLocks noGrp="1"/>
          </p:cNvSpPr>
          <p:nvPr/>
        </p:nvSpPr>
        <p:spPr>
          <a:xfrm>
            <a:off x="609600" y="6010275"/>
            <a:ext cx="10668000" cy="352425"/>
          </a:xfrm>
          <a:prstGeom prst="rect">
            <a:avLst/>
          </a:prstGeom>
          <a:noFill/>
          <a:ln w="0">
            <a:noFill/>
          </a:ln>
        </p:spPr>
        <p:txBody>
          <a:bodyPr>
            <a:noAutofit/>
          </a:bodyPr>
          <a:lstStyle/>
          <a:p>
            <a:pP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PV/EV groups did not improve the selected main model. The cold-start model retains them.</a:t>
            </a:r>
          </a:p>
        </p:txBody>
      </p:sp>
    </p:spTree>
    <p:extLst>
      <p:ext uri="{BB962C8B-B14F-4D97-AF65-F5344CB8AC3E}">
        <p14:creationId xmlns:p14="http://schemas.microsoft.com/office/powerpoint/2010/main" val="456927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85B340C-651D-4282-B520-D58EB84FBBFF}"/>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Approach A: training, validation and test</a:t>
            </a:r>
          </a:p>
        </p:txBody>
      </p:sp>
      <p:sp>
        <p:nvSpPr>
          <p:cNvPr id="2" name="Rectangle 1">
            <a:extLst>
              <a:ext uri="{FF2B5EF4-FFF2-40B4-BE49-F238E27FC236}">
                <a16:creationId xmlns:a16="http://schemas.microsoft.com/office/drawing/2014/main" id="{20A01957-2A18-44B9-A5DA-217FF6A6F35D}"/>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06</a:t>
            </a:r>
          </a:p>
        </p:txBody>
      </p:sp>
      <p:graphicFrame>
        <p:nvGraphicFramePr>
          <p:cNvPr id="9" name="Table 8"/>
          <p:cNvGraphicFramePr/>
          <p:nvPr/>
        </p:nvGraphicFramePr>
        <p:xfrm>
          <a:off x="609600" y="1733550"/>
          <a:ext cx="10972800" cy="2838450"/>
        </p:xfrm>
        <a:graphic>
          <a:graphicData uri="http://schemas.openxmlformats.org/drawingml/2006/table">
            <a:tbl>
              <a:tblPr/>
              <a:tblGrid>
                <a:gridCol w="1666875">
                  <a:extLst>
                    <a:ext uri="{9D8B030D-6E8A-4147-A177-3AD203B41FA5}">
                      <a16:colId xmlns:a16="http://schemas.microsoft.com/office/drawing/2014/main" val="20000"/>
                    </a:ext>
                  </a:extLst>
                </a:gridCol>
                <a:gridCol w="4591050">
                  <a:extLst>
                    <a:ext uri="{9D8B030D-6E8A-4147-A177-3AD203B41FA5}">
                      <a16:colId xmlns:a16="http://schemas.microsoft.com/office/drawing/2014/main" val="20001"/>
                    </a:ext>
                  </a:extLst>
                </a:gridCol>
                <a:gridCol w="4714875">
                  <a:extLst>
                    <a:ext uri="{9D8B030D-6E8A-4147-A177-3AD203B41FA5}">
                      <a16:colId xmlns:a16="http://schemas.microsoft.com/office/drawing/2014/main" val="20002"/>
                    </a:ext>
                  </a:extLst>
                </a:gridCol>
              </a:tblGrid>
              <a:tr h="609600">
                <a:tc>
                  <a:txBody>
                    <a:bodyPr/>
                    <a:lstStyle/>
                    <a:p>
                      <a:r>
                        <a:rPr sz="1875" b="1">
                          <a:solidFill>
                            <a:srgbClr val="000000"/>
                          </a:solidFill>
                          <a:latin typeface="Times New Roman"/>
                          <a:ea typeface="Times New Roman"/>
                          <a:cs typeface="Times New Roman"/>
                        </a:rPr>
                        <a:t>Stage</a:t>
                      </a:r>
                    </a:p>
                  </a:txBody>
                  <a:tcPr>
                    <a:solidFill>
                      <a:srgbClr val="F2F2F2"/>
                    </a:solidFill>
                  </a:tcPr>
                </a:tc>
                <a:tc>
                  <a:txBody>
                    <a:bodyPr/>
                    <a:lstStyle/>
                    <a:p>
                      <a:r>
                        <a:rPr sz="1875" b="1">
                          <a:solidFill>
                            <a:srgbClr val="000000"/>
                          </a:solidFill>
                          <a:latin typeface="Times New Roman"/>
                          <a:ea typeface="Times New Roman"/>
                          <a:cs typeface="Times New Roman"/>
                        </a:rPr>
                        <a:t>Delivery dates</a:t>
                      </a:r>
                    </a:p>
                  </a:txBody>
                  <a:tcPr>
                    <a:solidFill>
                      <a:srgbClr val="F2F2F2"/>
                    </a:solidFill>
                  </a:tcPr>
                </a:tc>
                <a:tc>
                  <a:txBody>
                    <a:bodyPr/>
                    <a:lstStyle/>
                    <a:p>
                      <a:r>
                        <a:rPr sz="1875" b="1">
                          <a:solidFill>
                            <a:srgbClr val="000000"/>
                          </a:solidFill>
                          <a:latin typeface="Times New Roman"/>
                          <a:ea typeface="Times New Roman"/>
                          <a:cs typeface="Times New Roman"/>
                        </a:rPr>
                        <a:t>Purpose</a:t>
                      </a:r>
                    </a:p>
                  </a:txBody>
                  <a:tcPr>
                    <a:solidFill>
                      <a:srgbClr val="F2F2F2"/>
                    </a:solidFill>
                  </a:tcPr>
                </a:tc>
                <a:extLst>
                  <a:ext uri="{0D108BD9-81ED-4DB2-BD59-A6C34878D82A}">
                    <a16:rowId xmlns:a16="http://schemas.microsoft.com/office/drawing/2014/main" val="10000"/>
                  </a:ext>
                </a:extLst>
              </a:tr>
              <a:tr h="742950">
                <a:tc>
                  <a:txBody>
                    <a:bodyPr/>
                    <a:lstStyle/>
                    <a:p>
                      <a:r>
                        <a:rPr sz="1875" b="0">
                          <a:solidFill>
                            <a:srgbClr val="000000"/>
                          </a:solidFill>
                          <a:latin typeface="Times New Roman"/>
                          <a:ea typeface="Times New Roman"/>
                          <a:cs typeface="Times New Roman"/>
                        </a:rPr>
                        <a:t>Train</a:t>
                      </a:r>
                    </a:p>
                  </a:txBody>
                  <a:tcPr>
                    <a:solidFill>
                      <a:srgbClr val="FFFFFF"/>
                    </a:solidFill>
                  </a:tcPr>
                </a:tc>
                <a:tc>
                  <a:txBody>
                    <a:bodyPr/>
                    <a:lstStyle/>
                    <a:p>
                      <a:r>
                        <a:rPr sz="1875" b="0">
                          <a:solidFill>
                            <a:srgbClr val="000000"/>
                          </a:solidFill>
                          <a:latin typeface="Times New Roman"/>
                          <a:ea typeface="Times New Roman"/>
                          <a:cs typeface="Times New Roman"/>
                        </a:rPr>
                        <a:t>20 May 2019 – 27 Feb 2022</a:t>
                      </a:r>
                    </a:p>
                  </a:txBody>
                  <a:tcPr>
                    <a:solidFill>
                      <a:srgbClr val="FFFFFF"/>
                    </a:solidFill>
                  </a:tcPr>
                </a:tc>
                <a:tc>
                  <a:txBody>
                    <a:bodyPr/>
                    <a:lstStyle/>
                    <a:p>
                      <a:r>
                        <a:rPr sz="1875" b="0">
                          <a:solidFill>
                            <a:srgbClr val="000000"/>
                          </a:solidFill>
                          <a:latin typeface="Times New Roman"/>
                          <a:ea typeface="Times New Roman"/>
                          <a:cs typeface="Times New Roman"/>
                        </a:rPr>
                        <a:t>Fit candidate models</a:t>
                      </a:r>
                    </a:p>
                  </a:txBody>
                  <a:tcPr>
                    <a:solidFill>
                      <a:srgbClr val="FFFFFF"/>
                    </a:solidFill>
                  </a:tcPr>
                </a:tc>
                <a:extLst>
                  <a:ext uri="{0D108BD9-81ED-4DB2-BD59-A6C34878D82A}">
                    <a16:rowId xmlns:a16="http://schemas.microsoft.com/office/drawing/2014/main" val="10001"/>
                  </a:ext>
                </a:extLst>
              </a:tr>
              <a:tr h="742950">
                <a:tc>
                  <a:txBody>
                    <a:bodyPr/>
                    <a:lstStyle/>
                    <a:p>
                      <a:r>
                        <a:rPr sz="1875" b="0">
                          <a:solidFill>
                            <a:srgbClr val="000000"/>
                          </a:solidFill>
                          <a:latin typeface="Times New Roman"/>
                          <a:ea typeface="Times New Roman"/>
                          <a:cs typeface="Times New Roman"/>
                        </a:rPr>
                        <a:t>Validation</a:t>
                      </a:r>
                    </a:p>
                  </a:txBody>
                  <a:tcPr>
                    <a:solidFill>
                      <a:srgbClr val="FFFFFF"/>
                    </a:solidFill>
                  </a:tcPr>
                </a:tc>
                <a:tc>
                  <a:txBody>
                    <a:bodyPr/>
                    <a:lstStyle/>
                    <a:p>
                      <a:r>
                        <a:rPr sz="1875" b="0">
                          <a:solidFill>
                            <a:srgbClr val="000000"/>
                          </a:solidFill>
                          <a:latin typeface="Times New Roman"/>
                          <a:ea typeface="Times New Roman"/>
                          <a:cs typeface="Times New Roman"/>
                        </a:rPr>
                        <a:t>28 Feb 2022 – 27 Feb 2023</a:t>
                      </a:r>
                    </a:p>
                  </a:txBody>
                  <a:tcPr>
                    <a:solidFill>
                      <a:srgbClr val="FFFFFF"/>
                    </a:solidFill>
                  </a:tcPr>
                </a:tc>
                <a:tc>
                  <a:txBody>
                    <a:bodyPr/>
                    <a:lstStyle/>
                    <a:p>
                      <a:r>
                        <a:rPr sz="1875" b="0">
                          <a:solidFill>
                            <a:srgbClr val="000000"/>
                          </a:solidFill>
                          <a:latin typeface="Times New Roman"/>
                          <a:ea typeface="Times New Roman"/>
                          <a:cs typeface="Times New Roman"/>
                        </a:rPr>
                        <a:t>Select features, loss and baselines</a:t>
                      </a:r>
                    </a:p>
                  </a:txBody>
                  <a:tcPr>
                    <a:solidFill>
                      <a:srgbClr val="FFFFFF"/>
                    </a:solidFill>
                  </a:tcPr>
                </a:tc>
                <a:extLst>
                  <a:ext uri="{0D108BD9-81ED-4DB2-BD59-A6C34878D82A}">
                    <a16:rowId xmlns:a16="http://schemas.microsoft.com/office/drawing/2014/main" val="10002"/>
                  </a:ext>
                </a:extLst>
              </a:tr>
              <a:tr h="742950">
                <a:tc>
                  <a:txBody>
                    <a:bodyPr/>
                    <a:lstStyle/>
                    <a:p>
                      <a:r>
                        <a:rPr sz="1875" b="0">
                          <a:solidFill>
                            <a:srgbClr val="000000"/>
                          </a:solidFill>
                          <a:latin typeface="Times New Roman"/>
                          <a:ea typeface="Times New Roman"/>
                          <a:cs typeface="Times New Roman"/>
                        </a:rPr>
                        <a:t>Test</a:t>
                      </a:r>
                    </a:p>
                  </a:txBody>
                  <a:tcPr>
                    <a:solidFill>
                      <a:srgbClr val="FFFFFF"/>
                    </a:solidFill>
                  </a:tcPr>
                </a:tc>
                <a:tc>
                  <a:txBody>
                    <a:bodyPr/>
                    <a:lstStyle/>
                    <a:p>
                      <a:r>
                        <a:rPr sz="1875" b="0">
                          <a:solidFill>
                            <a:srgbClr val="000000"/>
                          </a:solidFill>
                          <a:latin typeface="Times New Roman"/>
                          <a:ea typeface="Times New Roman"/>
                          <a:cs typeface="Times New Roman"/>
                        </a:rPr>
                        <a:t>28 Feb 2023 – 27 Feb 2024</a:t>
                      </a:r>
                    </a:p>
                  </a:txBody>
                  <a:tcPr>
                    <a:solidFill>
                      <a:srgbClr val="FFFFFF"/>
                    </a:solidFill>
                  </a:tcPr>
                </a:tc>
                <a:tc>
                  <a:txBody>
                    <a:bodyPr/>
                    <a:lstStyle/>
                    <a:p>
                      <a:r>
                        <a:rPr sz="1875" b="0">
                          <a:solidFill>
                            <a:srgbClr val="000000"/>
                          </a:solidFill>
                          <a:latin typeface="Times New Roman"/>
                          <a:ea typeface="Times New Roman"/>
                          <a:cs typeface="Times New Roman"/>
                        </a:rPr>
                        <a:t>Evaluate frozen model weights</a:t>
                      </a:r>
                    </a:p>
                  </a:txBody>
                  <a:tcPr>
                    <a:solidFill>
                      <a:srgbClr val="FFFFF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613F9B47-B35D-4847-B36D-D84E38F4175F}"/>
              </a:ext>
            </a:extLst>
          </p:cNvPr>
          <p:cNvSpPr>
            <a:spLocks noGrp="1"/>
          </p:cNvSpPr>
          <p:nvPr/>
        </p:nvSpPr>
        <p:spPr>
          <a:xfrm>
            <a:off x="609600" y="5048250"/>
            <a:ext cx="10972800" cy="476250"/>
          </a:xfrm>
          <a:prstGeom prst="rect">
            <a:avLst/>
          </a:prstGeom>
          <a:noFill/>
          <a:ln w="0">
            <a:noFill/>
          </a:ln>
        </p:spPr>
        <p:txBody>
          <a:bodyPr>
            <a:noAutofit/>
          </a:bodyPr>
          <a:lstStyle/>
          <a:p>
            <a:pP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Issue at 11:00 local on the preceding day, with a 30-minute meter cutoff</a:t>
            </a:r>
          </a:p>
        </p:txBody>
      </p:sp>
      <p:sp>
        <p:nvSpPr>
          <p:cNvPr id="5" name="Rectangle 4">
            <a:extLst>
              <a:ext uri="{FF2B5EF4-FFF2-40B4-BE49-F238E27FC236}">
                <a16:creationId xmlns:a16="http://schemas.microsoft.com/office/drawing/2014/main" id="{187DAF78-14E4-4C91-8B96-5C1D18E90347}"/>
              </a:ext>
            </a:extLst>
          </p:cNvPr>
          <p:cNvSpPr>
            <a:spLocks noGrp="1"/>
          </p:cNvSpPr>
          <p:nvPr/>
        </p:nvSpPr>
        <p:spPr>
          <a:xfrm>
            <a:off x="609600" y="5572125"/>
            <a:ext cx="10972800" cy="438150"/>
          </a:xfrm>
          <a:prstGeom prst="rect">
            <a:avLst/>
          </a:prstGeom>
          <a:noFill/>
          <a:ln w="0">
            <a:noFill/>
          </a:ln>
        </p:spPr>
        <p:txBody>
          <a:bodyPr>
            <a:noAutofit/>
          </a:bodyPr>
          <a:lstStyle/>
          <a:p>
            <a:pP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Predict first, then compare against measured test demand</a:t>
            </a:r>
          </a:p>
        </p:txBody>
      </p:sp>
      <p:sp>
        <p:nvSpPr>
          <p:cNvPr id="6" name="Rectangle 5">
            <a:extLst>
              <a:ext uri="{FF2B5EF4-FFF2-40B4-BE49-F238E27FC236}">
                <a16:creationId xmlns:a16="http://schemas.microsoft.com/office/drawing/2014/main" id="{EDD810F0-BA41-46F9-80E5-FDBCD4793FE0}"/>
              </a:ext>
            </a:extLst>
          </p:cNvPr>
          <p:cNvSpPr>
            <a:spLocks noGrp="1"/>
          </p:cNvSpPr>
          <p:nvPr/>
        </p:nvSpPr>
        <p:spPr>
          <a:xfrm>
            <a:off x="609600" y="6010275"/>
            <a:ext cx="10668000" cy="352425"/>
          </a:xfrm>
          <a:prstGeom prst="rect">
            <a:avLst/>
          </a:prstGeom>
          <a:noFill/>
          <a:ln w="0">
            <a:noFill/>
          </a:ln>
        </p:spPr>
        <p:txBody>
          <a:bodyPr>
            <a:noAutofit/>
          </a:bodyPr>
          <a:lstStyle/>
          <a:p>
            <a:pP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Refit used train + validation only. Test labels did not change the model.</a:t>
            </a:r>
          </a:p>
        </p:txBody>
      </p:sp>
    </p:spTree>
    <p:extLst>
      <p:ext uri="{BB962C8B-B14F-4D97-AF65-F5344CB8AC3E}">
        <p14:creationId xmlns:p14="http://schemas.microsoft.com/office/powerpoint/2010/main" val="1007989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1B6B6DB-B7B3-437E-A244-317608A16A49}"/>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Approach A: actual versus predicted test demand</a:t>
            </a:r>
          </a:p>
        </p:txBody>
      </p:sp>
      <p:sp>
        <p:nvSpPr>
          <p:cNvPr id="2" name="Rectangle 1">
            <a:extLst>
              <a:ext uri="{FF2B5EF4-FFF2-40B4-BE49-F238E27FC236}">
                <a16:creationId xmlns:a16="http://schemas.microsoft.com/office/drawing/2014/main" id="{172B6B1F-9C66-4B4C-BDFA-FC7A4CC45BCC}"/>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07</a:t>
            </a:r>
          </a:p>
        </p:txBody>
      </p:sp>
      <p:sp>
        <p:nvSpPr>
          <p:cNvPr id="3" name="Rectangle 2">
            <a:extLst>
              <a:ext uri="{FF2B5EF4-FFF2-40B4-BE49-F238E27FC236}">
                <a16:creationId xmlns:a16="http://schemas.microsoft.com/office/drawing/2014/main" id="{F04C5138-01AC-4D07-8857-302D3C06CCF3}"/>
              </a:ext>
            </a:extLst>
          </p:cNvPr>
          <p:cNvSpPr>
            <a:spLocks noGrp="1"/>
          </p:cNvSpPr>
          <p:nvPr/>
        </p:nvSpPr>
        <p:spPr>
          <a:xfrm>
            <a:off x="609600" y="1362075"/>
            <a:ext cx="10668000" cy="352425"/>
          </a:xfrm>
          <a:prstGeom prst="rect">
            <a:avLst/>
          </a:prstGeom>
          <a:noFill/>
          <a:ln w="0">
            <a:noFill/>
          </a:ln>
        </p:spPr>
        <p:txBody>
          <a:bodyPr>
            <a:noAutofit/>
          </a:bodyPr>
          <a:lstStyle/>
          <a:p>
            <a:pP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Daily energy in MWh on the same measured households. 364 scored days.</a:t>
            </a:r>
          </a:p>
        </p:txBody>
      </p:sp>
      <p:graphicFrame>
        <p:nvGraphicFramePr>
          <p:cNvPr id="22" name="Chart"/>
          <p:cNvGraphicFramePr/>
          <p:nvPr/>
        </p:nvGraphicFramePr>
        <p:xfrm>
          <a:off x="609600" y="1885950"/>
          <a:ext cx="10972800" cy="30099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37782236-9EB1-4C40-914F-D41738E9E756}"/>
              </a:ext>
            </a:extLst>
          </p:cNvPr>
          <p:cNvSpPr>
            <a:spLocks noGrp="1"/>
          </p:cNvSpPr>
          <p:nvPr/>
        </p:nvSpPr>
        <p:spPr>
          <a:xfrm>
            <a:off x="428625" y="4895850"/>
            <a:ext cx="1333500" cy="285750"/>
          </a:xfrm>
          <a:prstGeom prst="rect">
            <a:avLst/>
          </a:prstGeom>
          <a:noFill/>
          <a:ln w="0">
            <a:noFill/>
          </a:ln>
        </p:spPr>
        <p:txBody>
          <a:bodyPr>
            <a:noAutofit/>
          </a:bodyPr>
          <a:lstStyle/>
          <a:p>
            <a:pPr algn="ctr">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Feb 2023</a:t>
            </a:r>
          </a:p>
        </p:txBody>
      </p:sp>
      <p:sp>
        <p:nvSpPr>
          <p:cNvPr id="6" name="Rectangle 5">
            <a:extLst>
              <a:ext uri="{FF2B5EF4-FFF2-40B4-BE49-F238E27FC236}">
                <a16:creationId xmlns:a16="http://schemas.microsoft.com/office/drawing/2014/main" id="{27AF9A76-121E-4CCB-9CD2-B2EB8D20C48B}"/>
              </a:ext>
            </a:extLst>
          </p:cNvPr>
          <p:cNvSpPr>
            <a:spLocks noGrp="1"/>
          </p:cNvSpPr>
          <p:nvPr/>
        </p:nvSpPr>
        <p:spPr>
          <a:xfrm>
            <a:off x="1331302" y="4895850"/>
            <a:ext cx="1333500" cy="285750"/>
          </a:xfrm>
          <a:prstGeom prst="rect">
            <a:avLst/>
          </a:prstGeom>
          <a:noFill/>
          <a:ln w="0">
            <a:noFill/>
          </a:ln>
        </p:spPr>
        <p:txBody>
          <a:bodyPr>
            <a:noAutofit/>
          </a:bodyPr>
          <a:lstStyle/>
          <a:p>
            <a:pPr algn="ctr">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Apr 2023</a:t>
            </a:r>
          </a:p>
        </p:txBody>
      </p:sp>
      <p:sp>
        <p:nvSpPr>
          <p:cNvPr id="7" name="Rectangle 6">
            <a:extLst>
              <a:ext uri="{FF2B5EF4-FFF2-40B4-BE49-F238E27FC236}">
                <a16:creationId xmlns:a16="http://schemas.microsoft.com/office/drawing/2014/main" id="{A766251C-0069-4797-8208-D7F7FBD7A0CA}"/>
              </a:ext>
            </a:extLst>
          </p:cNvPr>
          <p:cNvSpPr>
            <a:spLocks noGrp="1"/>
          </p:cNvSpPr>
          <p:nvPr/>
        </p:nvSpPr>
        <p:spPr>
          <a:xfrm>
            <a:off x="3052030" y="4895850"/>
            <a:ext cx="1333500" cy="285750"/>
          </a:xfrm>
          <a:prstGeom prst="rect">
            <a:avLst/>
          </a:prstGeom>
          <a:noFill/>
          <a:ln w="0">
            <a:noFill/>
          </a:ln>
        </p:spPr>
        <p:txBody>
          <a:bodyPr>
            <a:noAutofit/>
          </a:bodyPr>
          <a:lstStyle/>
          <a:p>
            <a:pPr algn="ctr">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Jun 2023</a:t>
            </a:r>
          </a:p>
        </p:txBody>
      </p:sp>
      <p:sp>
        <p:nvSpPr>
          <p:cNvPr id="8" name="Rectangle 7">
            <a:extLst>
              <a:ext uri="{FF2B5EF4-FFF2-40B4-BE49-F238E27FC236}">
                <a16:creationId xmlns:a16="http://schemas.microsoft.com/office/drawing/2014/main" id="{7329EE1F-1048-4A47-8EF5-74488374672B}"/>
              </a:ext>
            </a:extLst>
          </p:cNvPr>
          <p:cNvSpPr>
            <a:spLocks noGrp="1"/>
          </p:cNvSpPr>
          <p:nvPr/>
        </p:nvSpPr>
        <p:spPr>
          <a:xfrm>
            <a:off x="4772758" y="4895850"/>
            <a:ext cx="1333500" cy="285750"/>
          </a:xfrm>
          <a:prstGeom prst="rect">
            <a:avLst/>
          </a:prstGeom>
          <a:noFill/>
          <a:ln w="0">
            <a:noFill/>
          </a:ln>
        </p:spPr>
        <p:txBody>
          <a:bodyPr>
            <a:noAutofit/>
          </a:bodyPr>
          <a:lstStyle/>
          <a:p>
            <a:pPr algn="ctr">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Aug 2023</a:t>
            </a:r>
          </a:p>
        </p:txBody>
      </p:sp>
      <p:sp>
        <p:nvSpPr>
          <p:cNvPr id="9" name="Rectangle 8">
            <a:extLst>
              <a:ext uri="{FF2B5EF4-FFF2-40B4-BE49-F238E27FC236}">
                <a16:creationId xmlns:a16="http://schemas.microsoft.com/office/drawing/2014/main" id="{E8ACA2B4-2CB9-42EB-A2A0-AD76B7A134D4}"/>
              </a:ext>
            </a:extLst>
          </p:cNvPr>
          <p:cNvSpPr>
            <a:spLocks noGrp="1"/>
          </p:cNvSpPr>
          <p:nvPr/>
        </p:nvSpPr>
        <p:spPr>
          <a:xfrm>
            <a:off x="6493486" y="4895850"/>
            <a:ext cx="1333500" cy="285750"/>
          </a:xfrm>
          <a:prstGeom prst="rect">
            <a:avLst/>
          </a:prstGeom>
          <a:noFill/>
          <a:ln w="0">
            <a:noFill/>
          </a:ln>
        </p:spPr>
        <p:txBody>
          <a:bodyPr>
            <a:noAutofit/>
          </a:bodyPr>
          <a:lstStyle/>
          <a:p>
            <a:pPr algn="ctr">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Oct 2023</a:t>
            </a:r>
          </a:p>
        </p:txBody>
      </p:sp>
      <p:sp>
        <p:nvSpPr>
          <p:cNvPr id="10" name="Rectangle 9">
            <a:extLst>
              <a:ext uri="{FF2B5EF4-FFF2-40B4-BE49-F238E27FC236}">
                <a16:creationId xmlns:a16="http://schemas.microsoft.com/office/drawing/2014/main" id="{D947C1DD-A521-4ECD-8761-8854F14224BB}"/>
              </a:ext>
            </a:extLst>
          </p:cNvPr>
          <p:cNvSpPr>
            <a:spLocks noGrp="1"/>
          </p:cNvSpPr>
          <p:nvPr/>
        </p:nvSpPr>
        <p:spPr>
          <a:xfrm>
            <a:off x="8214213" y="4895850"/>
            <a:ext cx="1333500" cy="285750"/>
          </a:xfrm>
          <a:prstGeom prst="rect">
            <a:avLst/>
          </a:prstGeom>
          <a:noFill/>
          <a:ln w="0">
            <a:noFill/>
          </a:ln>
        </p:spPr>
        <p:txBody>
          <a:bodyPr>
            <a:noAutofit/>
          </a:bodyPr>
          <a:lstStyle/>
          <a:p>
            <a:pPr algn="ctr">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Dec 2023</a:t>
            </a:r>
          </a:p>
        </p:txBody>
      </p:sp>
      <p:sp>
        <p:nvSpPr>
          <p:cNvPr id="11" name="Rectangle 10">
            <a:extLst>
              <a:ext uri="{FF2B5EF4-FFF2-40B4-BE49-F238E27FC236}">
                <a16:creationId xmlns:a16="http://schemas.microsoft.com/office/drawing/2014/main" id="{C33F160F-7E24-4DB7-AAA5-CC11917CE566}"/>
              </a:ext>
            </a:extLst>
          </p:cNvPr>
          <p:cNvSpPr>
            <a:spLocks noGrp="1"/>
          </p:cNvSpPr>
          <p:nvPr/>
        </p:nvSpPr>
        <p:spPr>
          <a:xfrm>
            <a:off x="10696575" y="4895850"/>
            <a:ext cx="1333500" cy="285750"/>
          </a:xfrm>
          <a:prstGeom prst="rect">
            <a:avLst/>
          </a:prstGeom>
          <a:noFill/>
          <a:ln w="0">
            <a:noFill/>
          </a:ln>
        </p:spPr>
        <p:txBody>
          <a:bodyPr>
            <a:noAutofit/>
          </a:bodyPr>
          <a:lstStyle/>
          <a:p>
            <a:pPr algn="ctr">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Feb 2024</a:t>
            </a:r>
          </a:p>
        </p:txBody>
      </p:sp>
      <p:sp>
        <p:nvSpPr>
          <p:cNvPr id="12" name="Rectangle 11">
            <a:extLst>
              <a:ext uri="{FF2B5EF4-FFF2-40B4-BE49-F238E27FC236}">
                <a16:creationId xmlns:a16="http://schemas.microsoft.com/office/drawing/2014/main" id="{E1D78393-E30D-4B10-9AB6-80E058944387}"/>
              </a:ext>
            </a:extLst>
          </p:cNvPr>
          <p:cNvSpPr>
            <a:spLocks noGrp="1"/>
          </p:cNvSpPr>
          <p:nvPr/>
        </p:nvSpPr>
        <p:spPr>
          <a:xfrm>
            <a:off x="609600" y="5362575"/>
            <a:ext cx="3714750" cy="400050"/>
          </a:xfrm>
          <a:prstGeom prst="rect">
            <a:avLst/>
          </a:prstGeom>
          <a:noFill/>
          <a:ln w="0">
            <a:noFill/>
          </a:ln>
        </p:spPr>
        <p:txBody>
          <a:bodyPr>
            <a:noAutofit/>
          </a:bodyPr>
          <a:lstStyle/>
          <a:p>
            <a:pP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Household error vs lag blend</a:t>
            </a:r>
          </a:p>
        </p:txBody>
      </p:sp>
      <p:sp>
        <p:nvSpPr>
          <p:cNvPr id="13" name="Rectangle 12">
            <a:extLst>
              <a:ext uri="{FF2B5EF4-FFF2-40B4-BE49-F238E27FC236}">
                <a16:creationId xmlns:a16="http://schemas.microsoft.com/office/drawing/2014/main" id="{877C6374-E0D3-49C3-A7D1-3936A5F97A6F}"/>
              </a:ext>
            </a:extLst>
          </p:cNvPr>
          <p:cNvSpPr>
            <a:spLocks noGrp="1"/>
          </p:cNvSpPr>
          <p:nvPr/>
        </p:nvSpPr>
        <p:spPr>
          <a:xfrm>
            <a:off x="609600" y="5743575"/>
            <a:ext cx="3524250" cy="428625"/>
          </a:xfrm>
          <a:prstGeom prst="rect">
            <a:avLst/>
          </a:prstGeom>
          <a:noFill/>
          <a:ln w="0">
            <a:noFill/>
          </a:ln>
        </p:spPr>
        <p:txBody>
          <a:bodyPr>
            <a:noAutofit/>
          </a:bodyPr>
          <a:lstStyle/>
          <a:p>
            <a:pPr>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MAE −7.7%, RMSE −16.1%</a:t>
            </a:r>
          </a:p>
        </p:txBody>
      </p:sp>
      <p:sp>
        <p:nvSpPr>
          <p:cNvPr id="14" name="Rectangle 13">
            <a:extLst>
              <a:ext uri="{FF2B5EF4-FFF2-40B4-BE49-F238E27FC236}">
                <a16:creationId xmlns:a16="http://schemas.microsoft.com/office/drawing/2014/main" id="{85E40A44-13C8-49FA-A068-534B60A48AF8}"/>
              </a:ext>
            </a:extLst>
          </p:cNvPr>
          <p:cNvSpPr>
            <a:spLocks noGrp="1"/>
          </p:cNvSpPr>
          <p:nvPr/>
        </p:nvSpPr>
        <p:spPr>
          <a:xfrm>
            <a:off x="4324350" y="5362575"/>
            <a:ext cx="3429000" cy="400050"/>
          </a:xfrm>
          <a:prstGeom prst="rect">
            <a:avLst/>
          </a:prstGeom>
          <a:noFill/>
          <a:ln w="0">
            <a:noFill/>
          </a:ln>
        </p:spPr>
        <p:txBody>
          <a:bodyPr>
            <a:noAutofit/>
          </a:bodyPr>
          <a:lstStyle/>
          <a:p>
            <a:pPr>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Portfolio WAPE</a:t>
            </a:r>
          </a:p>
        </p:txBody>
      </p:sp>
      <p:sp>
        <p:nvSpPr>
          <p:cNvPr id="15" name="Rectangle 14">
            <a:extLst>
              <a:ext uri="{FF2B5EF4-FFF2-40B4-BE49-F238E27FC236}">
                <a16:creationId xmlns:a16="http://schemas.microsoft.com/office/drawing/2014/main" id="{4667143E-7732-464F-86C0-07A2A1B0EF0B}"/>
              </a:ext>
            </a:extLst>
          </p:cNvPr>
          <p:cNvSpPr>
            <a:spLocks noGrp="1"/>
          </p:cNvSpPr>
          <p:nvPr/>
        </p:nvSpPr>
        <p:spPr>
          <a:xfrm>
            <a:off x="4324350" y="5743575"/>
            <a:ext cx="3429000" cy="428625"/>
          </a:xfrm>
          <a:prstGeom prst="rect">
            <a:avLst/>
          </a:prstGeom>
          <a:noFill/>
          <a:ln w="0">
            <a:noFill/>
          </a:ln>
        </p:spPr>
        <p:txBody>
          <a:bodyPr>
            <a:noAutofit/>
          </a:bodyPr>
          <a:lstStyle/>
          <a:p>
            <a:pPr>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14.29% vs 14.47% blend</a:t>
            </a:r>
          </a:p>
        </p:txBody>
      </p:sp>
      <p:sp>
        <p:nvSpPr>
          <p:cNvPr id="16" name="Rectangle 15">
            <a:extLst>
              <a:ext uri="{FF2B5EF4-FFF2-40B4-BE49-F238E27FC236}">
                <a16:creationId xmlns:a16="http://schemas.microsoft.com/office/drawing/2014/main" id="{6D4CCB27-65A1-47C0-8846-B6C3A2826FD6}"/>
              </a:ext>
            </a:extLst>
          </p:cNvPr>
          <p:cNvSpPr>
            <a:spLocks noGrp="1"/>
          </p:cNvSpPr>
          <p:nvPr/>
        </p:nvSpPr>
        <p:spPr>
          <a:xfrm>
            <a:off x="8058150" y="5362575"/>
            <a:ext cx="3429000" cy="400050"/>
          </a:xfrm>
          <a:prstGeom prst="rect">
            <a:avLst/>
          </a:prstGeom>
          <a:noFill/>
          <a:ln w="0">
            <a:noFill/>
          </a:ln>
        </p:spPr>
        <p:txBody>
          <a:bodyPr>
            <a:noAutofit/>
          </a:bodyPr>
          <a:lstStyle/>
          <a:p>
            <a:pPr>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Daily-total MAE</a:t>
            </a:r>
          </a:p>
        </p:txBody>
      </p:sp>
      <p:sp>
        <p:nvSpPr>
          <p:cNvPr id="17" name="Rectangle 16">
            <a:extLst>
              <a:ext uri="{FF2B5EF4-FFF2-40B4-BE49-F238E27FC236}">
                <a16:creationId xmlns:a16="http://schemas.microsoft.com/office/drawing/2014/main" id="{784BA389-1643-4828-A23B-6DF095132AF9}"/>
              </a:ext>
            </a:extLst>
          </p:cNvPr>
          <p:cNvSpPr>
            <a:spLocks noGrp="1"/>
          </p:cNvSpPr>
          <p:nvPr/>
        </p:nvSpPr>
        <p:spPr>
          <a:xfrm>
            <a:off x="8058150" y="5743575"/>
            <a:ext cx="3524250" cy="428625"/>
          </a:xfrm>
          <a:prstGeom prst="rect">
            <a:avLst/>
          </a:prstGeom>
          <a:noFill/>
          <a:ln w="0">
            <a:noFill/>
          </a:ln>
        </p:spPr>
        <p:txBody>
          <a:bodyPr>
            <a:noAutofit/>
          </a:bodyPr>
          <a:lstStyle/>
          <a:p>
            <a:pP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1.148 vs 1.109 MWh blend</a:t>
            </a:r>
          </a:p>
        </p:txBody>
      </p:sp>
      <p:sp>
        <p:nvSpPr>
          <p:cNvPr id="18" name="Rectangle 17">
            <a:extLst>
              <a:ext uri="{FF2B5EF4-FFF2-40B4-BE49-F238E27FC236}">
                <a16:creationId xmlns:a16="http://schemas.microsoft.com/office/drawing/2014/main" id="{FD714E00-0C3B-43C5-A161-23D43D481A31}"/>
              </a:ext>
            </a:extLst>
          </p:cNvPr>
          <p:cNvSpPr>
            <a:spLocks noGrp="1"/>
          </p:cNvSpPr>
          <p:nvPr/>
        </p:nvSpPr>
        <p:spPr>
          <a:xfrm>
            <a:off x="609600" y="6238875"/>
            <a:ext cx="10668000" cy="352425"/>
          </a:xfrm>
          <a:prstGeom prst="rect">
            <a:avLst/>
          </a:prstGeom>
          <a:noFill/>
          <a:ln w="0">
            <a:noFill/>
          </a:ln>
        </p:spPr>
        <p:txBody>
          <a:bodyPr>
            <a:noAutofit/>
          </a:bodyPr>
          <a:lstStyle/>
          <a:p>
            <a:pPr>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Benchmark: 75% previous available + 25% previous-week demand. 29 Oct has no actuals.</a:t>
            </a:r>
          </a:p>
        </p:txBody>
      </p:sp>
    </p:spTree>
    <p:extLst>
      <p:ext uri="{BB962C8B-B14F-4D97-AF65-F5344CB8AC3E}">
        <p14:creationId xmlns:p14="http://schemas.microsoft.com/office/powerpoint/2010/main" val="940534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A83EAC1-E9C7-4CC8-868B-436D5D7AE58F}"/>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Approach A: variation within the test day</a:t>
            </a:r>
          </a:p>
        </p:txBody>
      </p:sp>
      <p:sp>
        <p:nvSpPr>
          <p:cNvPr id="2" name="Rectangle 1">
            <a:extLst>
              <a:ext uri="{FF2B5EF4-FFF2-40B4-BE49-F238E27FC236}">
                <a16:creationId xmlns:a16="http://schemas.microsoft.com/office/drawing/2014/main" id="{EC6976B2-9561-4EB6-9070-372D40540C4A}"/>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08</a:t>
            </a:r>
          </a:p>
        </p:txBody>
      </p:sp>
      <p:sp>
        <p:nvSpPr>
          <p:cNvPr id="3" name="Rectangle 2">
            <a:extLst>
              <a:ext uri="{FF2B5EF4-FFF2-40B4-BE49-F238E27FC236}">
                <a16:creationId xmlns:a16="http://schemas.microsoft.com/office/drawing/2014/main" id="{BF2CCFD4-A20F-4498-8387-CFE52073F722}"/>
              </a:ext>
            </a:extLst>
          </p:cNvPr>
          <p:cNvSpPr>
            <a:spLocks noGrp="1"/>
          </p:cNvSpPr>
          <p:nvPr/>
        </p:nvSpPr>
        <p:spPr>
          <a:xfrm>
            <a:off x="609600" y="1438275"/>
            <a:ext cx="5324475" cy="400050"/>
          </a:xfrm>
          <a:prstGeom prst="rect">
            <a:avLst/>
          </a:prstGeom>
          <a:noFill/>
          <a:ln w="0">
            <a:noFill/>
          </a:ln>
        </p:spPr>
        <p:txBody>
          <a:bodyPr>
            <a:noAutofit/>
          </a:bodyPr>
          <a:lstStyle/>
          <a:p>
            <a:pPr>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15 March 2023, 368 measured homes</a:t>
            </a:r>
          </a:p>
        </p:txBody>
      </p:sp>
      <p:sp>
        <p:nvSpPr>
          <p:cNvPr id="4" name="Rectangle 3">
            <a:extLst>
              <a:ext uri="{FF2B5EF4-FFF2-40B4-BE49-F238E27FC236}">
                <a16:creationId xmlns:a16="http://schemas.microsoft.com/office/drawing/2014/main" id="{ED02CC3F-4663-439D-93CF-9BF8788AC23D}"/>
              </a:ext>
            </a:extLst>
          </p:cNvPr>
          <p:cNvSpPr>
            <a:spLocks noGrp="1"/>
          </p:cNvSpPr>
          <p:nvPr/>
        </p:nvSpPr>
        <p:spPr>
          <a:xfrm>
            <a:off x="6419850" y="1438275"/>
            <a:ext cx="5162550" cy="400050"/>
          </a:xfrm>
          <a:prstGeom prst="rect">
            <a:avLst/>
          </a:prstGeom>
          <a:noFill/>
          <a:ln w="0">
            <a:noFill/>
          </a:ln>
        </p:spPr>
        <p:txBody>
          <a:bodyPr>
            <a:noAutofit/>
          </a:bodyPr>
          <a:lstStyle/>
          <a:p>
            <a:pPr>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05 September 2023, 381 measured homes</a:t>
            </a:r>
          </a:p>
        </p:txBody>
      </p:sp>
      <p:graphicFrame>
        <p:nvGraphicFramePr>
          <p:cNvPr id="16" name="Chart"/>
          <p:cNvGraphicFramePr/>
          <p:nvPr/>
        </p:nvGraphicFramePr>
        <p:xfrm>
          <a:off x="609600" y="2105025"/>
          <a:ext cx="527685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p:cNvGraphicFramePr/>
          <p:nvPr/>
        </p:nvGraphicFramePr>
        <p:xfrm>
          <a:off x="6419850" y="2105025"/>
          <a:ext cx="516255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7" name="Rectangle 6">
            <a:extLst>
              <a:ext uri="{FF2B5EF4-FFF2-40B4-BE49-F238E27FC236}">
                <a16:creationId xmlns:a16="http://schemas.microsoft.com/office/drawing/2014/main" id="{57192EEB-DDED-4321-A74F-0767064ECA72}"/>
              </a:ext>
            </a:extLst>
          </p:cNvPr>
          <p:cNvSpPr>
            <a:spLocks noGrp="1"/>
          </p:cNvSpPr>
          <p:nvPr/>
        </p:nvSpPr>
        <p:spPr>
          <a:xfrm>
            <a:off x="609600" y="5514975"/>
            <a:ext cx="5334000" cy="400050"/>
          </a:xfrm>
          <a:prstGeom prst="rect">
            <a:avLst/>
          </a:prstGeom>
          <a:noFill/>
          <a:ln w="0">
            <a:noFill/>
          </a:ln>
        </p:spPr>
        <p:txBody>
          <a:bodyPr>
            <a:noAutofit/>
          </a:bodyPr>
          <a:lstStyle/>
          <a:p>
            <a:pPr>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Actual 13.704, forecast 11.379 MWh</a:t>
            </a:r>
          </a:p>
        </p:txBody>
      </p:sp>
      <p:sp>
        <p:nvSpPr>
          <p:cNvPr id="8" name="Rectangle 7">
            <a:extLst>
              <a:ext uri="{FF2B5EF4-FFF2-40B4-BE49-F238E27FC236}">
                <a16:creationId xmlns:a16="http://schemas.microsoft.com/office/drawing/2014/main" id="{FB65EEE2-ECC6-4B67-A5D0-B2DF93E97CAC}"/>
              </a:ext>
            </a:extLst>
          </p:cNvPr>
          <p:cNvSpPr>
            <a:spLocks noGrp="1"/>
          </p:cNvSpPr>
          <p:nvPr/>
        </p:nvSpPr>
        <p:spPr>
          <a:xfrm>
            <a:off x="609600" y="5915025"/>
            <a:ext cx="5334000" cy="400050"/>
          </a:xfrm>
          <a:prstGeom prst="rect">
            <a:avLst/>
          </a:prstGeom>
          <a:noFill/>
          <a:ln w="0">
            <a:noFill/>
          </a:ln>
        </p:spPr>
        <p:txBody>
          <a:bodyPr>
            <a:noAutofit/>
          </a:bodyPr>
          <a:lstStyle/>
          <a:p>
            <a:pPr>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Daily error −16.96%</a:t>
            </a:r>
          </a:p>
        </p:txBody>
      </p:sp>
      <p:sp>
        <p:nvSpPr>
          <p:cNvPr id="9" name="Rectangle 8">
            <a:extLst>
              <a:ext uri="{FF2B5EF4-FFF2-40B4-BE49-F238E27FC236}">
                <a16:creationId xmlns:a16="http://schemas.microsoft.com/office/drawing/2014/main" id="{43F24D75-6E69-48B9-9E15-18E5A8E378F6}"/>
              </a:ext>
            </a:extLst>
          </p:cNvPr>
          <p:cNvSpPr>
            <a:spLocks noGrp="1"/>
          </p:cNvSpPr>
          <p:nvPr/>
        </p:nvSpPr>
        <p:spPr>
          <a:xfrm>
            <a:off x="6419850" y="5514975"/>
            <a:ext cx="5162550" cy="400050"/>
          </a:xfrm>
          <a:prstGeom prst="rect">
            <a:avLst/>
          </a:prstGeom>
          <a:noFill/>
          <a:ln w="0">
            <a:noFill/>
          </a:ln>
        </p:spPr>
        <p:txBody>
          <a:bodyPr>
            <a:noAutofit/>
          </a:bodyPr>
          <a:lstStyle/>
          <a:p>
            <a:pPr>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Actual 5.135, forecast 6.048 MWh</a:t>
            </a:r>
          </a:p>
        </p:txBody>
      </p:sp>
      <p:sp>
        <p:nvSpPr>
          <p:cNvPr id="10" name="Rectangle 9">
            <a:extLst>
              <a:ext uri="{FF2B5EF4-FFF2-40B4-BE49-F238E27FC236}">
                <a16:creationId xmlns:a16="http://schemas.microsoft.com/office/drawing/2014/main" id="{0977B21C-43A1-45F2-AD8A-B79A7FB55F42}"/>
              </a:ext>
            </a:extLst>
          </p:cNvPr>
          <p:cNvSpPr>
            <a:spLocks noGrp="1"/>
          </p:cNvSpPr>
          <p:nvPr/>
        </p:nvSpPr>
        <p:spPr>
          <a:xfrm>
            <a:off x="6419850" y="5915025"/>
            <a:ext cx="5162550" cy="400050"/>
          </a:xfrm>
          <a:prstGeom prst="rect">
            <a:avLst/>
          </a:prstGeom>
          <a:noFill/>
          <a:ln w="0">
            <a:noFill/>
          </a:ln>
        </p:spPr>
        <p:txBody>
          <a:bodyPr>
            <a:noAutofit/>
          </a:bodyPr>
          <a:lstStyle/>
          <a:p>
            <a:pPr>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Daily error +17.79%</a:t>
            </a:r>
          </a:p>
        </p:txBody>
      </p:sp>
      <p:sp>
        <p:nvSpPr>
          <p:cNvPr id="11" name="Rectangle 10">
            <a:extLst>
              <a:ext uri="{FF2B5EF4-FFF2-40B4-BE49-F238E27FC236}">
                <a16:creationId xmlns:a16="http://schemas.microsoft.com/office/drawing/2014/main" id="{C48ED485-4557-459A-8D33-BE7EDCEA5B22}"/>
              </a:ext>
            </a:extLst>
          </p:cNvPr>
          <p:cNvSpPr>
            <a:spLocks noGrp="1"/>
          </p:cNvSpPr>
          <p:nvPr/>
        </p:nvSpPr>
        <p:spPr>
          <a:xfrm>
            <a:off x="609600" y="1781175"/>
            <a:ext cx="10668000" cy="352425"/>
          </a:xfrm>
          <a:prstGeom prst="rect">
            <a:avLst/>
          </a:prstGeom>
          <a:noFill/>
          <a:ln w="0">
            <a:noFill/>
          </a:ln>
        </p:spPr>
        <p:txBody>
          <a:bodyPr>
            <a:noAutofit/>
          </a:bodyPr>
          <a:lstStyle/>
          <a:p>
            <a:pP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Energy: kWh per 15 min. Time: UTC hours. The panels use different vertical ranges.</a:t>
            </a:r>
          </a:p>
        </p:txBody>
      </p:sp>
    </p:spTree>
    <p:extLst>
      <p:ext uri="{BB962C8B-B14F-4D97-AF65-F5344CB8AC3E}">
        <p14:creationId xmlns:p14="http://schemas.microsoft.com/office/powerpoint/2010/main" val="823473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F0473BC-2D83-4701-A3B5-51185D0E5CDF}"/>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Approach B: cleaning and missing data</a:t>
            </a:r>
          </a:p>
        </p:txBody>
      </p:sp>
      <p:sp>
        <p:nvSpPr>
          <p:cNvPr id="2" name="Rectangle 1">
            <a:extLst>
              <a:ext uri="{FF2B5EF4-FFF2-40B4-BE49-F238E27FC236}">
                <a16:creationId xmlns:a16="http://schemas.microsoft.com/office/drawing/2014/main" id="{2F6F6F89-1D8D-46C1-88AB-F4C4DA254FA8}"/>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09</a:t>
            </a:r>
          </a:p>
        </p:txBody>
      </p:sp>
      <p:sp>
        <p:nvSpPr>
          <p:cNvPr id="3" name="Rectangle 2">
            <a:extLst>
              <a:ext uri="{FF2B5EF4-FFF2-40B4-BE49-F238E27FC236}">
                <a16:creationId xmlns:a16="http://schemas.microsoft.com/office/drawing/2014/main" id="{C9F8330D-459A-4F6C-8F3C-7C69DA62E72C}"/>
              </a:ext>
            </a:extLst>
          </p:cNvPr>
          <p:cNvSpPr>
            <a:spLocks noGrp="1"/>
          </p:cNvSpPr>
          <p:nvPr/>
        </p:nvSpPr>
        <p:spPr>
          <a:xfrm>
            <a:off x="609600" y="1562100"/>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Clean observed consumption</a:t>
            </a:r>
          </a:p>
        </p:txBody>
      </p:sp>
      <p:sp>
        <p:nvSpPr>
          <p:cNvPr id="4" name="Rectangle 3">
            <a:extLst>
              <a:ext uri="{FF2B5EF4-FFF2-40B4-BE49-F238E27FC236}">
                <a16:creationId xmlns:a16="http://schemas.microsoft.com/office/drawing/2014/main" id="{CAA7D553-1030-4F6D-A6CB-38309C69CCAF}"/>
              </a:ext>
            </a:extLst>
          </p:cNvPr>
          <p:cNvSpPr>
            <a:spLocks noGrp="1"/>
          </p:cNvSpPr>
          <p:nvPr/>
        </p:nvSpPr>
        <p:spPr>
          <a:xfrm>
            <a:off x="609600" y="1990725"/>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Coerce timestamps and numbers, drop invalid rows, sort and remove duplicates</a:t>
            </a:r>
          </a:p>
        </p:txBody>
      </p:sp>
      <p:sp>
        <p:nvSpPr>
          <p:cNvPr id="5" name="Rectangle 4">
            <a:extLst>
              <a:ext uri="{FF2B5EF4-FFF2-40B4-BE49-F238E27FC236}">
                <a16:creationId xmlns:a16="http://schemas.microsoft.com/office/drawing/2014/main" id="{8F2BA831-9FA3-42F0-845E-8C50335A3469}"/>
              </a:ext>
            </a:extLst>
          </p:cNvPr>
          <p:cNvSpPr>
            <a:spLocks noGrp="1"/>
          </p:cNvSpPr>
          <p:nvPr/>
        </p:nvSpPr>
        <p:spPr>
          <a:xfrm>
            <a:off x="609600" y="2752725"/>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Keep a regular 15-minute UTC grid</a:t>
            </a:r>
          </a:p>
        </p:txBody>
      </p:sp>
      <p:sp>
        <p:nvSpPr>
          <p:cNvPr id="6" name="Rectangle 5">
            <a:extLst>
              <a:ext uri="{FF2B5EF4-FFF2-40B4-BE49-F238E27FC236}">
                <a16:creationId xmlns:a16="http://schemas.microsoft.com/office/drawing/2014/main" id="{31665BD6-8C5D-4F2C-9D87-59A92F0E5BD0}"/>
              </a:ext>
            </a:extLst>
          </p:cNvPr>
          <p:cNvSpPr>
            <a:spLocks noGrp="1"/>
          </p:cNvSpPr>
          <p:nvPr/>
        </p:nvSpPr>
        <p:spPr>
          <a:xfrm>
            <a:off x="609600" y="3181350"/>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Reindex the timeline. Leave gaps missing and drop incomplete Ridge training rows.</a:t>
            </a:r>
          </a:p>
        </p:txBody>
      </p:sp>
      <p:sp>
        <p:nvSpPr>
          <p:cNvPr id="7" name="Rectangle 6">
            <a:extLst>
              <a:ext uri="{FF2B5EF4-FFF2-40B4-BE49-F238E27FC236}">
                <a16:creationId xmlns:a16="http://schemas.microsoft.com/office/drawing/2014/main" id="{46A21C2E-BC61-4D32-87EA-1E84E3256E23}"/>
              </a:ext>
            </a:extLst>
          </p:cNvPr>
          <p:cNvSpPr>
            <a:spLocks noGrp="1"/>
          </p:cNvSpPr>
          <p:nvPr/>
        </p:nvSpPr>
        <p:spPr>
          <a:xfrm>
            <a:off x="609600" y="3943350"/>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Forecast homes outside Ridge eligibility</a:t>
            </a:r>
          </a:p>
        </p:txBody>
      </p:sp>
      <p:sp>
        <p:nvSpPr>
          <p:cNvPr id="8" name="Rectangle 7">
            <a:extLst>
              <a:ext uri="{FF2B5EF4-FFF2-40B4-BE49-F238E27FC236}">
                <a16:creationId xmlns:a16="http://schemas.microsoft.com/office/drawing/2014/main" id="{8835204D-F0A9-4F26-BEE7-21E97C94FD32}"/>
              </a:ext>
            </a:extLst>
          </p:cNvPr>
          <p:cNvSpPr>
            <a:spLocks noGrp="1"/>
          </p:cNvSpPr>
          <p:nvPr/>
        </p:nvSpPr>
        <p:spPr>
          <a:xfrm>
            <a:off x="609600" y="4371975"/>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Try previous week, previous day, historical quarter-hour mean, then portfolio reference</a:t>
            </a:r>
          </a:p>
        </p:txBody>
      </p:sp>
      <p:sp>
        <p:nvSpPr>
          <p:cNvPr id="9" name="Rectangle 8">
            <a:extLst>
              <a:ext uri="{FF2B5EF4-FFF2-40B4-BE49-F238E27FC236}">
                <a16:creationId xmlns:a16="http://schemas.microsoft.com/office/drawing/2014/main" id="{EBFFF48B-F43E-4404-AF48-CC152F5BAE8B}"/>
              </a:ext>
            </a:extLst>
          </p:cNvPr>
          <p:cNvSpPr>
            <a:spLocks noGrp="1"/>
          </p:cNvSpPr>
          <p:nvPr/>
        </p:nvSpPr>
        <p:spPr>
          <a:xfrm>
            <a:off x="609600" y="5438775"/>
            <a:ext cx="10972800" cy="476250"/>
          </a:xfrm>
          <a:prstGeom prst="rect">
            <a:avLst/>
          </a:prstGeom>
          <a:noFill/>
          <a:ln w="0">
            <a:noFill/>
          </a:ln>
        </p:spPr>
        <p:txBody>
          <a:bodyPr>
            <a:noAutofit/>
          </a:bodyPr>
          <a:lstStyle/>
          <a:p>
            <a:pPr>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All 410 household files remain in the final portfolio</a:t>
            </a:r>
          </a:p>
        </p:txBody>
      </p:sp>
      <p:sp>
        <p:nvSpPr>
          <p:cNvPr id="10" name="Rectangle 9">
            <a:extLst>
              <a:ext uri="{FF2B5EF4-FFF2-40B4-BE49-F238E27FC236}">
                <a16:creationId xmlns:a16="http://schemas.microsoft.com/office/drawing/2014/main" id="{5C176422-B1F6-47CC-A102-5757FA3FDF4C}"/>
              </a:ext>
            </a:extLst>
          </p:cNvPr>
          <p:cNvSpPr>
            <a:spLocks noGrp="1"/>
          </p:cNvSpPr>
          <p:nvPr/>
        </p:nvSpPr>
        <p:spPr>
          <a:xfrm>
            <a:off x="609600" y="6010275"/>
            <a:ext cx="10668000" cy="352425"/>
          </a:xfrm>
          <a:prstGeom prst="rect">
            <a:avLst/>
          </a:prstGeom>
          <a:noFill/>
          <a:ln w="0">
            <a:noFill/>
          </a:ln>
        </p:spPr>
        <p:txBody>
          <a:bodyPr>
            <a:noAutofit/>
          </a:bodyPr>
          <a:lstStyle/>
          <a:p>
            <a:pP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B uses consumption and calendar features. Weather and survey fields are outside its model.</a:t>
            </a:r>
          </a:p>
        </p:txBody>
      </p:sp>
    </p:spTree>
    <p:extLst>
      <p:ext uri="{BB962C8B-B14F-4D97-AF65-F5344CB8AC3E}">
        <p14:creationId xmlns:p14="http://schemas.microsoft.com/office/powerpoint/2010/main" val="750938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91D2C9D-0166-431E-9DE9-A5FE1BD6D385}"/>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Approach B: training and uncertainty</a:t>
            </a:r>
          </a:p>
        </p:txBody>
      </p:sp>
      <p:sp>
        <p:nvSpPr>
          <p:cNvPr id="2" name="Rectangle 1">
            <a:extLst>
              <a:ext uri="{FF2B5EF4-FFF2-40B4-BE49-F238E27FC236}">
                <a16:creationId xmlns:a16="http://schemas.microsoft.com/office/drawing/2014/main" id="{B1F204E1-9FE7-441F-BB39-A08955033698}"/>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10</a:t>
            </a:r>
          </a:p>
        </p:txBody>
      </p:sp>
      <p:sp>
        <p:nvSpPr>
          <p:cNvPr id="3" name="Rectangle 2">
            <a:extLst>
              <a:ext uri="{FF2B5EF4-FFF2-40B4-BE49-F238E27FC236}">
                <a16:creationId xmlns:a16="http://schemas.microsoft.com/office/drawing/2014/main" id="{38B7CD0A-CBCB-4F8D-A9CD-DAB69AEFBF04}"/>
              </a:ext>
            </a:extLst>
          </p:cNvPr>
          <p:cNvSpPr>
            <a:spLocks noGrp="1"/>
          </p:cNvSpPr>
          <p:nvPr/>
        </p:nvSpPr>
        <p:spPr>
          <a:xfrm>
            <a:off x="609600" y="1562100"/>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Six predictors</a:t>
            </a:r>
          </a:p>
        </p:txBody>
      </p:sp>
      <p:sp>
        <p:nvSpPr>
          <p:cNvPr id="4" name="Rectangle 3">
            <a:extLst>
              <a:ext uri="{FF2B5EF4-FFF2-40B4-BE49-F238E27FC236}">
                <a16:creationId xmlns:a16="http://schemas.microsoft.com/office/drawing/2014/main" id="{411EC2DD-0F1F-48B2-8550-6897B99E9927}"/>
              </a:ext>
            </a:extLst>
          </p:cNvPr>
          <p:cNvSpPr>
            <a:spLocks noGrp="1"/>
          </p:cNvSpPr>
          <p:nvPr/>
        </p:nvSpPr>
        <p:spPr>
          <a:xfrm>
            <a:off x="609600" y="1990725"/>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Same-time day/week demand lags, plus sine/cosine time-of-day and weekday</a:t>
            </a:r>
          </a:p>
        </p:txBody>
      </p:sp>
      <p:sp>
        <p:nvSpPr>
          <p:cNvPr id="5" name="Rectangle 4">
            <a:extLst>
              <a:ext uri="{FF2B5EF4-FFF2-40B4-BE49-F238E27FC236}">
                <a16:creationId xmlns:a16="http://schemas.microsoft.com/office/drawing/2014/main" id="{4C6B1A91-E4D1-45F7-9B48-087B4177284D}"/>
              </a:ext>
            </a:extLst>
          </p:cNvPr>
          <p:cNvSpPr>
            <a:spLocks noGrp="1"/>
          </p:cNvSpPr>
          <p:nvPr/>
        </p:nvSpPr>
        <p:spPr>
          <a:xfrm>
            <a:off x="609600" y="2752725"/>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Global Ridge regression</a:t>
            </a:r>
          </a:p>
        </p:txBody>
      </p:sp>
      <p:sp>
        <p:nvSpPr>
          <p:cNvPr id="6" name="Rectangle 5">
            <a:extLst>
              <a:ext uri="{FF2B5EF4-FFF2-40B4-BE49-F238E27FC236}">
                <a16:creationId xmlns:a16="http://schemas.microsoft.com/office/drawing/2014/main" id="{B48EEF10-84D1-4417-9496-D2957AB92A55}"/>
              </a:ext>
            </a:extLst>
          </p:cNvPr>
          <p:cNvSpPr>
            <a:spLocks noGrp="1"/>
          </p:cNvSpPr>
          <p:nvPr/>
        </p:nvSpPr>
        <p:spPr>
          <a:xfrm>
            <a:off x="609600" y="3181350"/>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Pool eligible households, fit StandardScaler on training data, then Ridge with α = 1</a:t>
            </a:r>
          </a:p>
        </p:txBody>
      </p:sp>
      <p:sp>
        <p:nvSpPr>
          <p:cNvPr id="7" name="Rectangle 6">
            <a:extLst>
              <a:ext uri="{FF2B5EF4-FFF2-40B4-BE49-F238E27FC236}">
                <a16:creationId xmlns:a16="http://schemas.microsoft.com/office/drawing/2014/main" id="{DE4EFFB2-678D-4BC4-879C-30CC4411A684}"/>
              </a:ext>
            </a:extLst>
          </p:cNvPr>
          <p:cNvSpPr>
            <a:spLocks noGrp="1"/>
          </p:cNvSpPr>
          <p:nvPr/>
        </p:nvSpPr>
        <p:spPr>
          <a:xfrm>
            <a:off x="609600" y="3943350"/>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Separate 14-day calibration window</a:t>
            </a:r>
          </a:p>
        </p:txBody>
      </p:sp>
      <p:sp>
        <p:nvSpPr>
          <p:cNvPr id="8" name="Rectangle 7">
            <a:extLst>
              <a:ext uri="{FF2B5EF4-FFF2-40B4-BE49-F238E27FC236}">
                <a16:creationId xmlns:a16="http://schemas.microsoft.com/office/drawing/2014/main" id="{C0750556-79F2-4385-81DF-32C40989D5D1}"/>
              </a:ext>
            </a:extLst>
          </p:cNvPr>
          <p:cNvSpPr>
            <a:spLocks noGrp="1"/>
          </p:cNvSpPr>
          <p:nvPr/>
        </p:nvSpPr>
        <p:spPr>
          <a:xfrm>
            <a:off x="609600" y="4371975"/>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Hold these days out of training and use absolute errors for conformal intervals</a:t>
            </a:r>
          </a:p>
        </p:txBody>
      </p:sp>
      <p:sp>
        <p:nvSpPr>
          <p:cNvPr id="9" name="Rectangle 8">
            <a:extLst>
              <a:ext uri="{FF2B5EF4-FFF2-40B4-BE49-F238E27FC236}">
                <a16:creationId xmlns:a16="http://schemas.microsoft.com/office/drawing/2014/main" id="{F29D7B63-4AF7-40CC-B6BF-4780DDDA600F}"/>
              </a:ext>
            </a:extLst>
          </p:cNvPr>
          <p:cNvSpPr>
            <a:spLocks noGrp="1"/>
          </p:cNvSpPr>
          <p:nvPr/>
        </p:nvSpPr>
        <p:spPr>
          <a:xfrm>
            <a:off x="609600" y="5438775"/>
            <a:ext cx="10972800" cy="4762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Nominal 80% intervals apply to Ridge household quarter-hours</a:t>
            </a:r>
          </a:p>
        </p:txBody>
      </p:sp>
      <p:sp>
        <p:nvSpPr>
          <p:cNvPr id="10" name="Rectangle 9">
            <a:extLst>
              <a:ext uri="{FF2B5EF4-FFF2-40B4-BE49-F238E27FC236}">
                <a16:creationId xmlns:a16="http://schemas.microsoft.com/office/drawing/2014/main" id="{F8CE17DA-7118-4CBA-9B1D-E750129D9DD1}"/>
              </a:ext>
            </a:extLst>
          </p:cNvPr>
          <p:cNvSpPr>
            <a:spLocks noGrp="1"/>
          </p:cNvSpPr>
          <p:nvPr/>
        </p:nvSpPr>
        <p:spPr>
          <a:xfrm>
            <a:off x="609600" y="6010275"/>
            <a:ext cx="10668000" cy="352425"/>
          </a:xfrm>
          <a:prstGeom prst="rect">
            <a:avLst/>
          </a:prstGeom>
          <a:noFill/>
          <a:ln w="0">
            <a:noFill/>
          </a:ln>
        </p:spPr>
        <p:txBody>
          <a:bodyPr>
            <a:noAutofit/>
          </a:bodyPr>
          <a:lstStyle/>
          <a:p>
            <a:pP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B fits per target date. Its issue convention uses the complete preceding UTC day.</a:t>
            </a:r>
          </a:p>
        </p:txBody>
      </p:sp>
    </p:spTree>
    <p:extLst>
      <p:ext uri="{BB962C8B-B14F-4D97-AF65-F5344CB8AC3E}">
        <p14:creationId xmlns:p14="http://schemas.microsoft.com/office/powerpoint/2010/main" val="999266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047AF73-3059-4BAC-AB7E-F7F205B1008C}"/>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Reported historical results for both approaches</a:t>
            </a:r>
          </a:p>
        </p:txBody>
      </p:sp>
      <p:sp>
        <p:nvSpPr>
          <p:cNvPr id="2" name="Rectangle 1">
            <a:extLst>
              <a:ext uri="{FF2B5EF4-FFF2-40B4-BE49-F238E27FC236}">
                <a16:creationId xmlns:a16="http://schemas.microsoft.com/office/drawing/2014/main" id="{E66E2D33-AE62-4BEE-A5E6-2695BFF907BF}"/>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11</a:t>
            </a:r>
          </a:p>
        </p:txBody>
      </p:sp>
      <p:sp>
        <p:nvSpPr>
          <p:cNvPr id="3" name="Rectangle 2">
            <a:extLst>
              <a:ext uri="{FF2B5EF4-FFF2-40B4-BE49-F238E27FC236}">
                <a16:creationId xmlns:a16="http://schemas.microsoft.com/office/drawing/2014/main" id="{54158ABE-16DB-4E00-A003-C30BDDA9DA17}"/>
              </a:ext>
            </a:extLst>
          </p:cNvPr>
          <p:cNvSpPr>
            <a:spLocks noGrp="1"/>
          </p:cNvSpPr>
          <p:nvPr/>
        </p:nvSpPr>
        <p:spPr>
          <a:xfrm>
            <a:off x="609600" y="1400175"/>
            <a:ext cx="10668000" cy="352425"/>
          </a:xfrm>
          <a:prstGeom prst="rect">
            <a:avLst/>
          </a:prstGeom>
          <a:noFill/>
          <a:ln w="0">
            <a:noFill/>
          </a:ln>
        </p:spPr>
        <p:txBody>
          <a:bodyPr>
            <a:noAutofit/>
          </a:bodyPr>
          <a:lstStyle/>
          <a:p>
            <a:pP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Actual, forecast and absolute error in MWh. Error is signed.</a:t>
            </a:r>
          </a:p>
        </p:txBody>
      </p:sp>
      <p:graphicFrame>
        <p:nvGraphicFramePr>
          <p:cNvPr id="9" name="Table 8"/>
          <p:cNvGraphicFramePr/>
          <p:nvPr/>
        </p:nvGraphicFramePr>
        <p:xfrm>
          <a:off x="609600" y="1962150"/>
          <a:ext cx="10972800" cy="3695700"/>
        </p:xfrm>
        <a:graphic>
          <a:graphicData uri="http://schemas.openxmlformats.org/drawingml/2006/table">
            <a:tbl>
              <a:tblPr/>
              <a:tblGrid>
                <a:gridCol w="2095500">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1047750">
                  <a:extLst>
                    <a:ext uri="{9D8B030D-6E8A-4147-A177-3AD203B41FA5}">
                      <a16:colId xmlns:a16="http://schemas.microsoft.com/office/drawing/2014/main" val="20002"/>
                    </a:ext>
                  </a:extLst>
                </a:gridCol>
                <a:gridCol w="1609725">
                  <a:extLst>
                    <a:ext uri="{9D8B030D-6E8A-4147-A177-3AD203B41FA5}">
                      <a16:colId xmlns:a16="http://schemas.microsoft.com/office/drawing/2014/main" val="20003"/>
                    </a:ext>
                  </a:extLst>
                </a:gridCol>
                <a:gridCol w="1619250">
                  <a:extLst>
                    <a:ext uri="{9D8B030D-6E8A-4147-A177-3AD203B41FA5}">
                      <a16:colId xmlns:a16="http://schemas.microsoft.com/office/drawing/2014/main" val="20004"/>
                    </a:ext>
                  </a:extLst>
                </a:gridCol>
                <a:gridCol w="1952625">
                  <a:extLst>
                    <a:ext uri="{9D8B030D-6E8A-4147-A177-3AD203B41FA5}">
                      <a16:colId xmlns:a16="http://schemas.microsoft.com/office/drawing/2014/main" val="20005"/>
                    </a:ext>
                  </a:extLst>
                </a:gridCol>
                <a:gridCol w="1743075">
                  <a:extLst>
                    <a:ext uri="{9D8B030D-6E8A-4147-A177-3AD203B41FA5}">
                      <a16:colId xmlns:a16="http://schemas.microsoft.com/office/drawing/2014/main" val="20006"/>
                    </a:ext>
                  </a:extLst>
                </a:gridCol>
              </a:tblGrid>
              <a:tr h="552450">
                <a:tc>
                  <a:txBody>
                    <a:bodyPr/>
                    <a:lstStyle/>
                    <a:p>
                      <a:r>
                        <a:rPr sz="1800" b="1">
                          <a:solidFill>
                            <a:srgbClr val="000000"/>
                          </a:solidFill>
                          <a:latin typeface="Times New Roman"/>
                          <a:ea typeface="Times New Roman"/>
                          <a:cs typeface="Times New Roman"/>
                        </a:rPr>
                        <a:t>Date</a:t>
                      </a:r>
                    </a:p>
                  </a:txBody>
                  <a:tcPr>
                    <a:solidFill>
                      <a:srgbClr val="F2F2F2"/>
                    </a:solidFill>
                  </a:tcPr>
                </a:tc>
                <a:tc>
                  <a:txBody>
                    <a:bodyPr/>
                    <a:lstStyle/>
                    <a:p>
                      <a:r>
                        <a:rPr sz="1800" b="1">
                          <a:solidFill>
                            <a:srgbClr val="000000"/>
                          </a:solidFill>
                          <a:latin typeface="Times New Roman"/>
                          <a:ea typeface="Times New Roman"/>
                          <a:cs typeface="Times New Roman"/>
                        </a:rPr>
                        <a:t>Model</a:t>
                      </a:r>
                    </a:p>
                  </a:txBody>
                  <a:tcPr>
                    <a:solidFill>
                      <a:srgbClr val="F2F2F2"/>
                    </a:solidFill>
                  </a:tcPr>
                </a:tc>
                <a:tc>
                  <a:txBody>
                    <a:bodyPr/>
                    <a:lstStyle/>
                    <a:p>
                      <a:r>
                        <a:rPr sz="1800" b="1">
                          <a:solidFill>
                            <a:srgbClr val="000000"/>
                          </a:solidFill>
                          <a:latin typeface="Times New Roman"/>
                          <a:ea typeface="Times New Roman"/>
                          <a:cs typeface="Times New Roman"/>
                        </a:rPr>
                        <a:t>Homes</a:t>
                      </a:r>
                    </a:p>
                  </a:txBody>
                  <a:tcPr>
                    <a:solidFill>
                      <a:srgbClr val="F2F2F2"/>
                    </a:solidFill>
                  </a:tcPr>
                </a:tc>
                <a:tc>
                  <a:txBody>
                    <a:bodyPr/>
                    <a:lstStyle/>
                    <a:p>
                      <a:r>
                        <a:rPr sz="1800" b="1">
                          <a:solidFill>
                            <a:srgbClr val="000000"/>
                          </a:solidFill>
                          <a:latin typeface="Times New Roman"/>
                          <a:ea typeface="Times New Roman"/>
                          <a:cs typeface="Times New Roman"/>
                        </a:rPr>
                        <a:t>Actual</a:t>
                      </a:r>
                    </a:p>
                  </a:txBody>
                  <a:tcPr>
                    <a:solidFill>
                      <a:srgbClr val="F2F2F2"/>
                    </a:solidFill>
                  </a:tcPr>
                </a:tc>
                <a:tc>
                  <a:txBody>
                    <a:bodyPr/>
                    <a:lstStyle/>
                    <a:p>
                      <a:r>
                        <a:rPr sz="1800" b="1">
                          <a:solidFill>
                            <a:srgbClr val="000000"/>
                          </a:solidFill>
                          <a:latin typeface="Times New Roman"/>
                          <a:ea typeface="Times New Roman"/>
                          <a:cs typeface="Times New Roman"/>
                        </a:rPr>
                        <a:t>Forecast</a:t>
                      </a:r>
                    </a:p>
                  </a:txBody>
                  <a:tcPr>
                    <a:solidFill>
                      <a:srgbClr val="F2F2F2"/>
                    </a:solidFill>
                  </a:tcPr>
                </a:tc>
                <a:tc>
                  <a:txBody>
                    <a:bodyPr/>
                    <a:lstStyle/>
                    <a:p>
                      <a:r>
                        <a:rPr sz="1800" b="1">
                          <a:solidFill>
                            <a:srgbClr val="000000"/>
                          </a:solidFill>
                          <a:latin typeface="Times New Roman"/>
                          <a:ea typeface="Times New Roman"/>
                          <a:cs typeface="Times New Roman"/>
                        </a:rPr>
                        <a:t>Daily error (%)</a:t>
                      </a:r>
                    </a:p>
                  </a:txBody>
                  <a:tcPr>
                    <a:solidFill>
                      <a:srgbClr val="F2F2F2"/>
                    </a:solidFill>
                  </a:tcPr>
                </a:tc>
                <a:tc>
                  <a:txBody>
                    <a:bodyPr/>
                    <a:lstStyle/>
                    <a:p>
                      <a:r>
                        <a:rPr sz="1800" b="1">
                          <a:solidFill>
                            <a:srgbClr val="000000"/>
                          </a:solidFill>
                          <a:latin typeface="Times New Roman"/>
                          <a:ea typeface="Times New Roman"/>
                          <a:cs typeface="Times New Roman"/>
                        </a:rPr>
                        <a:t>Absolute error</a:t>
                      </a:r>
                    </a:p>
                  </a:txBody>
                  <a:tcPr>
                    <a:solidFill>
                      <a:srgbClr val="F2F2F2"/>
                    </a:solidFill>
                  </a:tcPr>
                </a:tc>
                <a:extLst>
                  <a:ext uri="{0D108BD9-81ED-4DB2-BD59-A6C34878D82A}">
                    <a16:rowId xmlns:a16="http://schemas.microsoft.com/office/drawing/2014/main" val="10000"/>
                  </a:ext>
                </a:extLst>
              </a:tr>
              <a:tr h="523875">
                <a:tc>
                  <a:txBody>
                    <a:bodyPr/>
                    <a:lstStyle/>
                    <a:p>
                      <a:r>
                        <a:rPr sz="1800" b="0">
                          <a:solidFill>
                            <a:srgbClr val="000000"/>
                          </a:solidFill>
                          <a:latin typeface="Times New Roman"/>
                          <a:ea typeface="Times New Roman"/>
                          <a:cs typeface="Times New Roman"/>
                        </a:rPr>
                        <a:t>15 Mar 2023</a:t>
                      </a:r>
                    </a:p>
                  </a:txBody>
                  <a:tcPr>
                    <a:solidFill>
                      <a:srgbClr val="FFFFFF"/>
                    </a:solidFill>
                  </a:tcPr>
                </a:tc>
                <a:tc>
                  <a:txBody>
                    <a:bodyPr/>
                    <a:lstStyle/>
                    <a:p>
                      <a:r>
                        <a:rPr sz="1800" b="0">
                          <a:solidFill>
                            <a:srgbClr val="000000"/>
                          </a:solidFill>
                          <a:latin typeface="Times New Roman"/>
                          <a:ea typeface="Times New Roman"/>
                          <a:cs typeface="Times New Roman"/>
                        </a:rPr>
                        <a:t>A</a:t>
                      </a:r>
                    </a:p>
                  </a:txBody>
                  <a:tcPr>
                    <a:solidFill>
                      <a:srgbClr val="FFFFFF"/>
                    </a:solidFill>
                  </a:tcPr>
                </a:tc>
                <a:tc>
                  <a:txBody>
                    <a:bodyPr/>
                    <a:lstStyle/>
                    <a:p>
                      <a:r>
                        <a:rPr sz="1800" b="0">
                          <a:solidFill>
                            <a:srgbClr val="000000"/>
                          </a:solidFill>
                          <a:latin typeface="Times New Roman"/>
                          <a:ea typeface="Times New Roman"/>
                          <a:cs typeface="Times New Roman"/>
                        </a:rPr>
                        <a:t>368</a:t>
                      </a:r>
                    </a:p>
                  </a:txBody>
                  <a:tcPr>
                    <a:solidFill>
                      <a:srgbClr val="FFFFFF"/>
                    </a:solidFill>
                  </a:tcPr>
                </a:tc>
                <a:tc>
                  <a:txBody>
                    <a:bodyPr/>
                    <a:lstStyle/>
                    <a:p>
                      <a:r>
                        <a:rPr sz="1800" b="0">
                          <a:solidFill>
                            <a:srgbClr val="000000"/>
                          </a:solidFill>
                          <a:latin typeface="Times New Roman"/>
                          <a:ea typeface="Times New Roman"/>
                          <a:cs typeface="Times New Roman"/>
                        </a:rPr>
                        <a:t>13.704</a:t>
                      </a:r>
                    </a:p>
                  </a:txBody>
                  <a:tcPr>
                    <a:solidFill>
                      <a:srgbClr val="FFFFFF"/>
                    </a:solidFill>
                  </a:tcPr>
                </a:tc>
                <a:tc>
                  <a:txBody>
                    <a:bodyPr/>
                    <a:lstStyle/>
                    <a:p>
                      <a:r>
                        <a:rPr sz="1800" b="0">
                          <a:solidFill>
                            <a:srgbClr val="000000"/>
                          </a:solidFill>
                          <a:latin typeface="Times New Roman"/>
                          <a:ea typeface="Times New Roman"/>
                          <a:cs typeface="Times New Roman"/>
                        </a:rPr>
                        <a:t>11.379</a:t>
                      </a:r>
                    </a:p>
                  </a:txBody>
                  <a:tcPr>
                    <a:solidFill>
                      <a:srgbClr val="FFFFFF"/>
                    </a:solidFill>
                  </a:tcPr>
                </a:tc>
                <a:tc>
                  <a:txBody>
                    <a:bodyPr/>
                    <a:lstStyle/>
                    <a:p>
                      <a:r>
                        <a:rPr sz="1800" b="0">
                          <a:solidFill>
                            <a:srgbClr val="000000"/>
                          </a:solidFill>
                          <a:latin typeface="Times New Roman"/>
                          <a:ea typeface="Times New Roman"/>
                          <a:cs typeface="Times New Roman"/>
                        </a:rPr>
                        <a:t>−16.96%</a:t>
                      </a:r>
                    </a:p>
                  </a:txBody>
                  <a:tcPr>
                    <a:solidFill>
                      <a:srgbClr val="FFFFFF"/>
                    </a:solidFill>
                  </a:tcPr>
                </a:tc>
                <a:tc>
                  <a:txBody>
                    <a:bodyPr/>
                    <a:lstStyle/>
                    <a:p>
                      <a:r>
                        <a:rPr sz="1800" b="0">
                          <a:solidFill>
                            <a:srgbClr val="000000"/>
                          </a:solidFill>
                          <a:latin typeface="Times New Roman"/>
                          <a:ea typeface="Times New Roman"/>
                          <a:cs typeface="Times New Roman"/>
                        </a:rPr>
                        <a:t>2.325</a:t>
                      </a:r>
                    </a:p>
                  </a:txBody>
                  <a:tcPr>
                    <a:solidFill>
                      <a:srgbClr val="FFFFFF"/>
                    </a:solidFill>
                  </a:tcPr>
                </a:tc>
                <a:extLst>
                  <a:ext uri="{0D108BD9-81ED-4DB2-BD59-A6C34878D82A}">
                    <a16:rowId xmlns:a16="http://schemas.microsoft.com/office/drawing/2014/main" val="10001"/>
                  </a:ext>
                </a:extLst>
              </a:tr>
              <a:tr h="523875">
                <a:tc>
                  <a:txBody>
                    <a:bodyPr/>
                    <a:lstStyle/>
                    <a:p>
                      <a:r>
                        <a:rPr sz="1800" b="0">
                          <a:solidFill>
                            <a:srgbClr val="000000"/>
                          </a:solidFill>
                          <a:latin typeface="Times New Roman"/>
                          <a:ea typeface="Times New Roman"/>
                          <a:cs typeface="Times New Roman"/>
                        </a:rPr>
                        <a:t>15 Mar 2023</a:t>
                      </a:r>
                    </a:p>
                  </a:txBody>
                  <a:tcPr>
                    <a:solidFill>
                      <a:srgbClr val="FFFFFF"/>
                    </a:solidFill>
                  </a:tcPr>
                </a:tc>
                <a:tc>
                  <a:txBody>
                    <a:bodyPr/>
                    <a:lstStyle/>
                    <a:p>
                      <a:r>
                        <a:rPr sz="1800" b="0">
                          <a:solidFill>
                            <a:srgbClr val="000000"/>
                          </a:solidFill>
                          <a:latin typeface="Times New Roman"/>
                          <a:ea typeface="Times New Roman"/>
                          <a:cs typeface="Times New Roman"/>
                        </a:rPr>
                        <a:t>B</a:t>
                      </a:r>
                    </a:p>
                  </a:txBody>
                  <a:tcPr>
                    <a:solidFill>
                      <a:srgbClr val="FFFFFF"/>
                    </a:solidFill>
                  </a:tcPr>
                </a:tc>
                <a:tc>
                  <a:txBody>
                    <a:bodyPr/>
                    <a:lstStyle/>
                    <a:p>
                      <a:r>
                        <a:rPr sz="1800" b="0">
                          <a:solidFill>
                            <a:srgbClr val="000000"/>
                          </a:solidFill>
                          <a:latin typeface="Times New Roman"/>
                          <a:ea typeface="Times New Roman"/>
                          <a:cs typeface="Times New Roman"/>
                        </a:rPr>
                        <a:t>294</a:t>
                      </a:r>
                    </a:p>
                  </a:txBody>
                  <a:tcPr>
                    <a:solidFill>
                      <a:srgbClr val="FFFFFF"/>
                    </a:solidFill>
                  </a:tcPr>
                </a:tc>
                <a:tc>
                  <a:txBody>
                    <a:bodyPr/>
                    <a:lstStyle/>
                    <a:p>
                      <a:r>
                        <a:rPr sz="1800" b="0">
                          <a:solidFill>
                            <a:srgbClr val="000000"/>
                          </a:solidFill>
                          <a:latin typeface="Times New Roman"/>
                          <a:ea typeface="Times New Roman"/>
                          <a:cs typeface="Times New Roman"/>
                        </a:rPr>
                        <a:t>11.164</a:t>
                      </a:r>
                    </a:p>
                  </a:txBody>
                  <a:tcPr>
                    <a:solidFill>
                      <a:srgbClr val="FFFFFF"/>
                    </a:solidFill>
                  </a:tcPr>
                </a:tc>
                <a:tc>
                  <a:txBody>
                    <a:bodyPr/>
                    <a:lstStyle/>
                    <a:p>
                      <a:r>
                        <a:rPr sz="1800" b="0">
                          <a:solidFill>
                            <a:srgbClr val="000000"/>
                          </a:solidFill>
                          <a:latin typeface="Times New Roman"/>
                          <a:ea typeface="Times New Roman"/>
                          <a:cs typeface="Times New Roman"/>
                        </a:rPr>
                        <a:t>9.753</a:t>
                      </a:r>
                    </a:p>
                  </a:txBody>
                  <a:tcPr>
                    <a:solidFill>
                      <a:srgbClr val="FFFFFF"/>
                    </a:solidFill>
                  </a:tcPr>
                </a:tc>
                <a:tc>
                  <a:txBody>
                    <a:bodyPr/>
                    <a:lstStyle/>
                    <a:p>
                      <a:r>
                        <a:rPr sz="1800" b="0">
                          <a:solidFill>
                            <a:srgbClr val="000000"/>
                          </a:solidFill>
                          <a:latin typeface="Times New Roman"/>
                          <a:ea typeface="Times New Roman"/>
                          <a:cs typeface="Times New Roman"/>
                        </a:rPr>
                        <a:t>−12.64%</a:t>
                      </a:r>
                    </a:p>
                  </a:txBody>
                  <a:tcPr>
                    <a:solidFill>
                      <a:srgbClr val="FFFFFF"/>
                    </a:solidFill>
                  </a:tcPr>
                </a:tc>
                <a:tc>
                  <a:txBody>
                    <a:bodyPr/>
                    <a:lstStyle/>
                    <a:p>
                      <a:r>
                        <a:rPr sz="1800" b="0">
                          <a:solidFill>
                            <a:srgbClr val="000000"/>
                          </a:solidFill>
                          <a:latin typeface="Times New Roman"/>
                          <a:ea typeface="Times New Roman"/>
                          <a:cs typeface="Times New Roman"/>
                        </a:rPr>
                        <a:t>1.411</a:t>
                      </a:r>
                    </a:p>
                  </a:txBody>
                  <a:tcPr>
                    <a:solidFill>
                      <a:srgbClr val="FFFFFF"/>
                    </a:solidFill>
                  </a:tcPr>
                </a:tc>
                <a:extLst>
                  <a:ext uri="{0D108BD9-81ED-4DB2-BD59-A6C34878D82A}">
                    <a16:rowId xmlns:a16="http://schemas.microsoft.com/office/drawing/2014/main" val="10002"/>
                  </a:ext>
                </a:extLst>
              </a:tr>
              <a:tr h="523875">
                <a:tc>
                  <a:txBody>
                    <a:bodyPr/>
                    <a:lstStyle/>
                    <a:p>
                      <a:r>
                        <a:rPr sz="1800" b="0">
                          <a:solidFill>
                            <a:srgbClr val="000000"/>
                          </a:solidFill>
                          <a:latin typeface="Times New Roman"/>
                          <a:ea typeface="Times New Roman"/>
                          <a:cs typeface="Times New Roman"/>
                        </a:rPr>
                        <a:t>05 Sep 2023</a:t>
                      </a:r>
                    </a:p>
                  </a:txBody>
                  <a:tcPr>
                    <a:solidFill>
                      <a:srgbClr val="FFFFFF"/>
                    </a:solidFill>
                  </a:tcPr>
                </a:tc>
                <a:tc>
                  <a:txBody>
                    <a:bodyPr/>
                    <a:lstStyle/>
                    <a:p>
                      <a:r>
                        <a:rPr sz="1800" b="0">
                          <a:solidFill>
                            <a:srgbClr val="000000"/>
                          </a:solidFill>
                          <a:latin typeface="Times New Roman"/>
                          <a:ea typeface="Times New Roman"/>
                          <a:cs typeface="Times New Roman"/>
                        </a:rPr>
                        <a:t>A</a:t>
                      </a:r>
                    </a:p>
                  </a:txBody>
                  <a:tcPr>
                    <a:solidFill>
                      <a:srgbClr val="FFFFFF"/>
                    </a:solidFill>
                  </a:tcPr>
                </a:tc>
                <a:tc>
                  <a:txBody>
                    <a:bodyPr/>
                    <a:lstStyle/>
                    <a:p>
                      <a:r>
                        <a:rPr sz="1800" b="0">
                          <a:solidFill>
                            <a:srgbClr val="000000"/>
                          </a:solidFill>
                          <a:latin typeface="Times New Roman"/>
                          <a:ea typeface="Times New Roman"/>
                          <a:cs typeface="Times New Roman"/>
                        </a:rPr>
                        <a:t>381</a:t>
                      </a:r>
                    </a:p>
                  </a:txBody>
                  <a:tcPr>
                    <a:solidFill>
                      <a:srgbClr val="FFFFFF"/>
                    </a:solidFill>
                  </a:tcPr>
                </a:tc>
                <a:tc>
                  <a:txBody>
                    <a:bodyPr/>
                    <a:lstStyle/>
                    <a:p>
                      <a:r>
                        <a:rPr sz="1800" b="0">
                          <a:solidFill>
                            <a:srgbClr val="000000"/>
                          </a:solidFill>
                          <a:latin typeface="Times New Roman"/>
                          <a:ea typeface="Times New Roman"/>
                          <a:cs typeface="Times New Roman"/>
                        </a:rPr>
                        <a:t>5.135</a:t>
                      </a:r>
                    </a:p>
                  </a:txBody>
                  <a:tcPr>
                    <a:solidFill>
                      <a:srgbClr val="FFFFFF"/>
                    </a:solidFill>
                  </a:tcPr>
                </a:tc>
                <a:tc>
                  <a:txBody>
                    <a:bodyPr/>
                    <a:lstStyle/>
                    <a:p>
                      <a:r>
                        <a:rPr sz="1800" b="0">
                          <a:solidFill>
                            <a:srgbClr val="000000"/>
                          </a:solidFill>
                          <a:latin typeface="Times New Roman"/>
                          <a:ea typeface="Times New Roman"/>
                          <a:cs typeface="Times New Roman"/>
                        </a:rPr>
                        <a:t>6.048</a:t>
                      </a:r>
                    </a:p>
                  </a:txBody>
                  <a:tcPr>
                    <a:solidFill>
                      <a:srgbClr val="FFFFFF"/>
                    </a:solidFill>
                  </a:tcPr>
                </a:tc>
                <a:tc>
                  <a:txBody>
                    <a:bodyPr/>
                    <a:lstStyle/>
                    <a:p>
                      <a:r>
                        <a:rPr sz="1800" b="0">
                          <a:solidFill>
                            <a:srgbClr val="000000"/>
                          </a:solidFill>
                          <a:latin typeface="Times New Roman"/>
                          <a:ea typeface="Times New Roman"/>
                          <a:cs typeface="Times New Roman"/>
                        </a:rPr>
                        <a:t>+17.79%</a:t>
                      </a:r>
                    </a:p>
                  </a:txBody>
                  <a:tcPr>
                    <a:solidFill>
                      <a:srgbClr val="FFFFFF"/>
                    </a:solidFill>
                  </a:tcPr>
                </a:tc>
                <a:tc>
                  <a:txBody>
                    <a:bodyPr/>
                    <a:lstStyle/>
                    <a:p>
                      <a:r>
                        <a:rPr sz="1800" b="0">
                          <a:solidFill>
                            <a:srgbClr val="000000"/>
                          </a:solidFill>
                          <a:latin typeface="Times New Roman"/>
                          <a:ea typeface="Times New Roman"/>
                          <a:cs typeface="Times New Roman"/>
                        </a:rPr>
                        <a:t>0.914</a:t>
                      </a:r>
                    </a:p>
                  </a:txBody>
                  <a:tcPr>
                    <a:solidFill>
                      <a:srgbClr val="FFFFFF"/>
                    </a:solidFill>
                  </a:tcPr>
                </a:tc>
                <a:extLst>
                  <a:ext uri="{0D108BD9-81ED-4DB2-BD59-A6C34878D82A}">
                    <a16:rowId xmlns:a16="http://schemas.microsoft.com/office/drawing/2014/main" val="10003"/>
                  </a:ext>
                </a:extLst>
              </a:tr>
              <a:tr h="523875">
                <a:tc>
                  <a:txBody>
                    <a:bodyPr/>
                    <a:lstStyle/>
                    <a:p>
                      <a:r>
                        <a:rPr sz="1800" b="0">
                          <a:solidFill>
                            <a:srgbClr val="000000"/>
                          </a:solidFill>
                          <a:latin typeface="Times New Roman"/>
                          <a:ea typeface="Times New Roman"/>
                          <a:cs typeface="Times New Roman"/>
                        </a:rPr>
                        <a:t>05 Sep 2023</a:t>
                      </a:r>
                    </a:p>
                  </a:txBody>
                  <a:tcPr>
                    <a:solidFill>
                      <a:srgbClr val="FFFFFF"/>
                    </a:solidFill>
                  </a:tcPr>
                </a:tc>
                <a:tc>
                  <a:txBody>
                    <a:bodyPr/>
                    <a:lstStyle/>
                    <a:p>
                      <a:r>
                        <a:rPr sz="1800" b="0">
                          <a:solidFill>
                            <a:srgbClr val="000000"/>
                          </a:solidFill>
                          <a:latin typeface="Times New Roman"/>
                          <a:ea typeface="Times New Roman"/>
                          <a:cs typeface="Times New Roman"/>
                        </a:rPr>
                        <a:t>B</a:t>
                      </a:r>
                    </a:p>
                  </a:txBody>
                  <a:tcPr>
                    <a:solidFill>
                      <a:srgbClr val="FFFFFF"/>
                    </a:solidFill>
                  </a:tcPr>
                </a:tc>
                <a:tc>
                  <a:txBody>
                    <a:bodyPr/>
                    <a:lstStyle/>
                    <a:p>
                      <a:r>
                        <a:rPr sz="1800" b="0">
                          <a:solidFill>
                            <a:srgbClr val="000000"/>
                          </a:solidFill>
                          <a:latin typeface="Times New Roman"/>
                          <a:ea typeface="Times New Roman"/>
                          <a:cs typeface="Times New Roman"/>
                        </a:rPr>
                        <a:t>374</a:t>
                      </a:r>
                    </a:p>
                  </a:txBody>
                  <a:tcPr>
                    <a:solidFill>
                      <a:srgbClr val="FFFFFF"/>
                    </a:solidFill>
                  </a:tcPr>
                </a:tc>
                <a:tc>
                  <a:txBody>
                    <a:bodyPr/>
                    <a:lstStyle/>
                    <a:p>
                      <a:r>
                        <a:rPr sz="1800" b="0">
                          <a:solidFill>
                            <a:srgbClr val="000000"/>
                          </a:solidFill>
                          <a:latin typeface="Times New Roman"/>
                          <a:ea typeface="Times New Roman"/>
                          <a:cs typeface="Times New Roman"/>
                        </a:rPr>
                        <a:t>5.047</a:t>
                      </a:r>
                    </a:p>
                  </a:txBody>
                  <a:tcPr>
                    <a:solidFill>
                      <a:srgbClr val="FFFFFF"/>
                    </a:solidFill>
                  </a:tcPr>
                </a:tc>
                <a:tc>
                  <a:txBody>
                    <a:bodyPr/>
                    <a:lstStyle/>
                    <a:p>
                      <a:r>
                        <a:rPr sz="1800" b="0">
                          <a:solidFill>
                            <a:srgbClr val="000000"/>
                          </a:solidFill>
                          <a:latin typeface="Times New Roman"/>
                          <a:ea typeface="Times New Roman"/>
                          <a:cs typeface="Times New Roman"/>
                        </a:rPr>
                        <a:t>7.154</a:t>
                      </a:r>
                    </a:p>
                  </a:txBody>
                  <a:tcPr>
                    <a:solidFill>
                      <a:srgbClr val="FFFFFF"/>
                    </a:solidFill>
                  </a:tcPr>
                </a:tc>
                <a:tc>
                  <a:txBody>
                    <a:bodyPr/>
                    <a:lstStyle/>
                    <a:p>
                      <a:r>
                        <a:rPr sz="1800" b="0">
                          <a:solidFill>
                            <a:srgbClr val="000000"/>
                          </a:solidFill>
                          <a:latin typeface="Times New Roman"/>
                          <a:ea typeface="Times New Roman"/>
                          <a:cs typeface="Times New Roman"/>
                        </a:rPr>
                        <a:t>+41.74%</a:t>
                      </a:r>
                    </a:p>
                  </a:txBody>
                  <a:tcPr>
                    <a:solidFill>
                      <a:srgbClr val="FFFFFF"/>
                    </a:solidFill>
                  </a:tcPr>
                </a:tc>
                <a:tc>
                  <a:txBody>
                    <a:bodyPr/>
                    <a:lstStyle/>
                    <a:p>
                      <a:r>
                        <a:rPr sz="1800" b="0">
                          <a:solidFill>
                            <a:srgbClr val="000000"/>
                          </a:solidFill>
                          <a:latin typeface="Times New Roman"/>
                          <a:ea typeface="Times New Roman"/>
                          <a:cs typeface="Times New Roman"/>
                        </a:rPr>
                        <a:t>2.107</a:t>
                      </a:r>
                    </a:p>
                  </a:txBody>
                  <a:tcPr>
                    <a:solidFill>
                      <a:srgbClr val="FFFFFF"/>
                    </a:solidFill>
                  </a:tcPr>
                </a:tc>
                <a:extLst>
                  <a:ext uri="{0D108BD9-81ED-4DB2-BD59-A6C34878D82A}">
                    <a16:rowId xmlns:a16="http://schemas.microsoft.com/office/drawing/2014/main" val="10004"/>
                  </a:ext>
                </a:extLst>
              </a:tr>
              <a:tr h="523875">
                <a:tc>
                  <a:txBody>
                    <a:bodyPr/>
                    <a:lstStyle/>
                    <a:p>
                      <a:r>
                        <a:rPr sz="1800" b="0">
                          <a:solidFill>
                            <a:srgbClr val="000000"/>
                          </a:solidFill>
                          <a:latin typeface="Times New Roman"/>
                          <a:ea typeface="Times New Roman"/>
                          <a:cs typeface="Times New Roman"/>
                        </a:rPr>
                        <a:t>27 Feb 2024</a:t>
                      </a:r>
                    </a:p>
                  </a:txBody>
                  <a:tcPr>
                    <a:solidFill>
                      <a:srgbClr val="FFFFFF"/>
                    </a:solidFill>
                  </a:tcPr>
                </a:tc>
                <a:tc>
                  <a:txBody>
                    <a:bodyPr/>
                    <a:lstStyle/>
                    <a:p>
                      <a:r>
                        <a:rPr sz="1800" b="0">
                          <a:solidFill>
                            <a:srgbClr val="000000"/>
                          </a:solidFill>
                          <a:latin typeface="Times New Roman"/>
                          <a:ea typeface="Times New Roman"/>
                          <a:cs typeface="Times New Roman"/>
                        </a:rPr>
                        <a:t>A</a:t>
                      </a:r>
                    </a:p>
                  </a:txBody>
                  <a:tcPr>
                    <a:solidFill>
                      <a:srgbClr val="FFFFFF"/>
                    </a:solidFill>
                  </a:tcPr>
                </a:tc>
                <a:tc>
                  <a:txBody>
                    <a:bodyPr/>
                    <a:lstStyle/>
                    <a:p>
                      <a:r>
                        <a:rPr sz="1800" b="0">
                          <a:solidFill>
                            <a:srgbClr val="000000"/>
                          </a:solidFill>
                          <a:latin typeface="Times New Roman"/>
                          <a:ea typeface="Times New Roman"/>
                          <a:cs typeface="Times New Roman"/>
                        </a:rPr>
                        <a:t>374</a:t>
                      </a:r>
                    </a:p>
                  </a:txBody>
                  <a:tcPr>
                    <a:solidFill>
                      <a:srgbClr val="FFFFFF"/>
                    </a:solidFill>
                  </a:tcPr>
                </a:tc>
                <a:tc>
                  <a:txBody>
                    <a:bodyPr/>
                    <a:lstStyle/>
                    <a:p>
                      <a:r>
                        <a:rPr sz="1800" b="0">
                          <a:solidFill>
                            <a:srgbClr val="000000"/>
                          </a:solidFill>
                          <a:latin typeface="Times New Roman"/>
                          <a:ea typeface="Times New Roman"/>
                          <a:cs typeface="Times New Roman"/>
                        </a:rPr>
                        <a:t>11.344</a:t>
                      </a:r>
                    </a:p>
                  </a:txBody>
                  <a:tcPr>
                    <a:solidFill>
                      <a:srgbClr val="FFFFFF"/>
                    </a:solidFill>
                  </a:tcPr>
                </a:tc>
                <a:tc>
                  <a:txBody>
                    <a:bodyPr/>
                    <a:lstStyle/>
                    <a:p>
                      <a:r>
                        <a:rPr sz="1800" b="0">
                          <a:solidFill>
                            <a:srgbClr val="000000"/>
                          </a:solidFill>
                          <a:latin typeface="Times New Roman"/>
                          <a:ea typeface="Times New Roman"/>
                          <a:cs typeface="Times New Roman"/>
                        </a:rPr>
                        <a:t>12.104</a:t>
                      </a:r>
                    </a:p>
                  </a:txBody>
                  <a:tcPr>
                    <a:solidFill>
                      <a:srgbClr val="FFFFFF"/>
                    </a:solidFill>
                  </a:tcPr>
                </a:tc>
                <a:tc>
                  <a:txBody>
                    <a:bodyPr/>
                    <a:lstStyle/>
                    <a:p>
                      <a:r>
                        <a:rPr sz="1800" b="0">
                          <a:solidFill>
                            <a:srgbClr val="000000"/>
                          </a:solidFill>
                          <a:latin typeface="Times New Roman"/>
                          <a:ea typeface="Times New Roman"/>
                          <a:cs typeface="Times New Roman"/>
                        </a:rPr>
                        <a:t>+6.70%</a:t>
                      </a:r>
                    </a:p>
                  </a:txBody>
                  <a:tcPr>
                    <a:solidFill>
                      <a:srgbClr val="FFFFFF"/>
                    </a:solidFill>
                  </a:tcPr>
                </a:tc>
                <a:tc>
                  <a:txBody>
                    <a:bodyPr/>
                    <a:lstStyle/>
                    <a:p>
                      <a:r>
                        <a:rPr sz="1800" b="0">
                          <a:solidFill>
                            <a:srgbClr val="000000"/>
                          </a:solidFill>
                          <a:latin typeface="Times New Roman"/>
                          <a:ea typeface="Times New Roman"/>
                          <a:cs typeface="Times New Roman"/>
                        </a:rPr>
                        <a:t>0.760</a:t>
                      </a:r>
                    </a:p>
                  </a:txBody>
                  <a:tcPr>
                    <a:solidFill>
                      <a:srgbClr val="FFFFFF"/>
                    </a:solidFill>
                  </a:tcPr>
                </a:tc>
                <a:extLst>
                  <a:ext uri="{0D108BD9-81ED-4DB2-BD59-A6C34878D82A}">
                    <a16:rowId xmlns:a16="http://schemas.microsoft.com/office/drawing/2014/main" val="10005"/>
                  </a:ext>
                </a:extLst>
              </a:tr>
              <a:tr h="523875">
                <a:tc>
                  <a:txBody>
                    <a:bodyPr/>
                    <a:lstStyle/>
                    <a:p>
                      <a:r>
                        <a:rPr sz="1800" b="0">
                          <a:solidFill>
                            <a:srgbClr val="000000"/>
                          </a:solidFill>
                          <a:latin typeface="Times New Roman"/>
                          <a:ea typeface="Times New Roman"/>
                          <a:cs typeface="Times New Roman"/>
                        </a:rPr>
                        <a:t>27 Feb 2024</a:t>
                      </a:r>
                    </a:p>
                  </a:txBody>
                  <a:tcPr>
                    <a:solidFill>
                      <a:srgbClr val="FFFFFF"/>
                    </a:solidFill>
                  </a:tcPr>
                </a:tc>
                <a:tc>
                  <a:txBody>
                    <a:bodyPr/>
                    <a:lstStyle/>
                    <a:p>
                      <a:r>
                        <a:rPr sz="1800" b="0">
                          <a:solidFill>
                            <a:srgbClr val="000000"/>
                          </a:solidFill>
                          <a:latin typeface="Times New Roman"/>
                          <a:ea typeface="Times New Roman"/>
                          <a:cs typeface="Times New Roman"/>
                        </a:rPr>
                        <a:t>B</a:t>
                      </a:r>
                    </a:p>
                  </a:txBody>
                  <a:tcPr>
                    <a:solidFill>
                      <a:srgbClr val="FFFFFF"/>
                    </a:solidFill>
                  </a:tcPr>
                </a:tc>
                <a:tc>
                  <a:txBody>
                    <a:bodyPr/>
                    <a:lstStyle/>
                    <a:p>
                      <a:r>
                        <a:rPr sz="1800" b="0">
                          <a:solidFill>
                            <a:srgbClr val="000000"/>
                          </a:solidFill>
                          <a:latin typeface="Times New Roman"/>
                          <a:ea typeface="Times New Roman"/>
                          <a:cs typeface="Times New Roman"/>
                        </a:rPr>
                        <a:t>371</a:t>
                      </a:r>
                    </a:p>
                  </a:txBody>
                  <a:tcPr>
                    <a:solidFill>
                      <a:srgbClr val="FFFFFF"/>
                    </a:solidFill>
                  </a:tcPr>
                </a:tc>
                <a:tc>
                  <a:txBody>
                    <a:bodyPr/>
                    <a:lstStyle/>
                    <a:p>
                      <a:r>
                        <a:rPr sz="1800" b="0">
                          <a:solidFill>
                            <a:srgbClr val="000000"/>
                          </a:solidFill>
                          <a:latin typeface="Times New Roman"/>
                          <a:ea typeface="Times New Roman"/>
                          <a:cs typeface="Times New Roman"/>
                        </a:rPr>
                        <a:t>11.257</a:t>
                      </a:r>
                    </a:p>
                  </a:txBody>
                  <a:tcPr>
                    <a:solidFill>
                      <a:srgbClr val="FFFFFF"/>
                    </a:solidFill>
                  </a:tcPr>
                </a:tc>
                <a:tc>
                  <a:txBody>
                    <a:bodyPr/>
                    <a:lstStyle/>
                    <a:p>
                      <a:r>
                        <a:rPr sz="1800" b="0">
                          <a:solidFill>
                            <a:srgbClr val="000000"/>
                          </a:solidFill>
                          <a:latin typeface="Times New Roman"/>
                          <a:ea typeface="Times New Roman"/>
                          <a:cs typeface="Times New Roman"/>
                        </a:rPr>
                        <a:t>11.214</a:t>
                      </a:r>
                    </a:p>
                  </a:txBody>
                  <a:tcPr>
                    <a:solidFill>
                      <a:srgbClr val="FFFFFF"/>
                    </a:solidFill>
                  </a:tcPr>
                </a:tc>
                <a:tc>
                  <a:txBody>
                    <a:bodyPr/>
                    <a:lstStyle/>
                    <a:p>
                      <a:r>
                        <a:rPr sz="1800" b="0">
                          <a:solidFill>
                            <a:srgbClr val="000000"/>
                          </a:solidFill>
                          <a:latin typeface="Times New Roman"/>
                          <a:ea typeface="Times New Roman"/>
                          <a:cs typeface="Times New Roman"/>
                        </a:rPr>
                        <a:t>−0.38%</a:t>
                      </a:r>
                    </a:p>
                  </a:txBody>
                  <a:tcPr>
                    <a:solidFill>
                      <a:srgbClr val="FFFFFF"/>
                    </a:solidFill>
                  </a:tcPr>
                </a:tc>
                <a:tc>
                  <a:txBody>
                    <a:bodyPr/>
                    <a:lstStyle/>
                    <a:p>
                      <a:r>
                        <a:rPr sz="1800" b="0">
                          <a:solidFill>
                            <a:srgbClr val="000000"/>
                          </a:solidFill>
                          <a:latin typeface="Times New Roman"/>
                          <a:ea typeface="Times New Roman"/>
                          <a:cs typeface="Times New Roman"/>
                        </a:rPr>
                        <a:t>0.043</a:t>
                      </a:r>
                    </a:p>
                  </a:txBody>
                  <a:tcPr>
                    <a:solidFill>
                      <a:srgbClr val="FFFFFF"/>
                    </a:solidFill>
                  </a:tcPr>
                </a:tc>
                <a:extLst>
                  <a:ext uri="{0D108BD9-81ED-4DB2-BD59-A6C34878D82A}">
                    <a16:rowId xmlns:a16="http://schemas.microsoft.com/office/drawing/2014/main" val="10006"/>
                  </a:ext>
                </a:extLst>
              </a:tr>
            </a:tbl>
          </a:graphicData>
        </a:graphic>
      </p:graphicFrame>
      <p:sp>
        <p:nvSpPr>
          <p:cNvPr id="5" name="Rectangle 4">
            <a:extLst>
              <a:ext uri="{FF2B5EF4-FFF2-40B4-BE49-F238E27FC236}">
                <a16:creationId xmlns:a16="http://schemas.microsoft.com/office/drawing/2014/main" id="{AC65A3BD-3C18-4579-AE13-AD2195466799}"/>
              </a:ext>
            </a:extLst>
          </p:cNvPr>
          <p:cNvSpPr>
            <a:spLocks noGrp="1"/>
          </p:cNvSpPr>
          <p:nvPr/>
        </p:nvSpPr>
        <p:spPr>
          <a:xfrm>
            <a:off x="609600" y="5943600"/>
            <a:ext cx="10668000" cy="352425"/>
          </a:xfrm>
          <a:prstGeom prst="rect">
            <a:avLst/>
          </a:prstGeom>
          <a:noFill/>
          <a:ln w="0">
            <a:noFill/>
          </a:ln>
        </p:spPr>
        <p:txBody>
          <a:bodyPr>
            <a:noAutofit/>
          </a:bodyPr>
          <a:lstStyle/>
          <a:p>
            <a:pP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A: saved evaluation. B: supplied report values. Household sets and issue cutoffs differ.</a:t>
            </a:r>
          </a:p>
        </p:txBody>
      </p:sp>
    </p:spTree>
    <p:extLst>
      <p:ext uri="{BB962C8B-B14F-4D97-AF65-F5344CB8AC3E}">
        <p14:creationId xmlns:p14="http://schemas.microsoft.com/office/powerpoint/2010/main" val="1585879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BE58-A451-45F9-B7E0-14820D3930EE}"/>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Final day-ahead forecast: 28 February 2024</a:t>
            </a:r>
          </a:p>
        </p:txBody>
      </p:sp>
      <p:sp>
        <p:nvSpPr>
          <p:cNvPr id="2" name="Rectangle 1">
            <a:extLst>
              <a:ext uri="{FF2B5EF4-FFF2-40B4-BE49-F238E27FC236}">
                <a16:creationId xmlns:a16="http://schemas.microsoft.com/office/drawing/2014/main" id="{E75F6141-4F3D-45B7-91D9-9057182FFEE2}"/>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12</a:t>
            </a:r>
          </a:p>
        </p:txBody>
      </p:sp>
      <p:sp>
        <p:nvSpPr>
          <p:cNvPr id="3" name="Rectangle 2">
            <a:extLst>
              <a:ext uri="{FF2B5EF4-FFF2-40B4-BE49-F238E27FC236}">
                <a16:creationId xmlns:a16="http://schemas.microsoft.com/office/drawing/2014/main" id="{91EC48EE-F21A-4AA0-9470-3B6B134AA989}"/>
              </a:ext>
            </a:extLst>
          </p:cNvPr>
          <p:cNvSpPr>
            <a:spLocks noGrp="1"/>
          </p:cNvSpPr>
          <p:nvPr/>
        </p:nvSpPr>
        <p:spPr>
          <a:xfrm>
            <a:off x="609600" y="1390650"/>
            <a:ext cx="10668000" cy="352425"/>
          </a:xfrm>
          <a:prstGeom prst="rect">
            <a:avLst/>
          </a:prstGeom>
          <a:noFill/>
          <a:ln w="0">
            <a:noFill/>
          </a:ln>
        </p:spPr>
        <p:txBody>
          <a:bodyPr>
            <a:noAutofit/>
          </a:bodyPr>
          <a:lstStyle/>
          <a:p>
            <a:pP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Daily energy in MWh, all 410 households</a:t>
            </a:r>
          </a:p>
        </p:txBody>
      </p:sp>
      <p:graphicFrame>
        <p:nvGraphicFramePr>
          <p:cNvPr id="13" name="Chart"/>
          <p:cNvGraphicFramePr/>
          <p:nvPr/>
        </p:nvGraphicFramePr>
        <p:xfrm>
          <a:off x="609600" y="2162175"/>
          <a:ext cx="6162675" cy="345757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4F03A94D-6DC5-49FD-B4FD-21129706403A}"/>
              </a:ext>
            </a:extLst>
          </p:cNvPr>
          <p:cNvSpPr>
            <a:spLocks noGrp="1"/>
          </p:cNvSpPr>
          <p:nvPr/>
        </p:nvSpPr>
        <p:spPr>
          <a:xfrm>
            <a:off x="7353300" y="2228850"/>
            <a:ext cx="4229100" cy="619125"/>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A daily P10–P90 (provisional)</a:t>
            </a:r>
          </a:p>
        </p:txBody>
      </p:sp>
      <p:sp>
        <p:nvSpPr>
          <p:cNvPr id="6" name="Rectangle 5">
            <a:extLst>
              <a:ext uri="{FF2B5EF4-FFF2-40B4-BE49-F238E27FC236}">
                <a16:creationId xmlns:a16="http://schemas.microsoft.com/office/drawing/2014/main" id="{A1B34C35-194A-42B7-851D-688DF1F28F50}"/>
              </a:ext>
            </a:extLst>
          </p:cNvPr>
          <p:cNvSpPr>
            <a:spLocks noGrp="1"/>
          </p:cNvSpPr>
          <p:nvPr/>
        </p:nvSpPr>
        <p:spPr>
          <a:xfrm>
            <a:off x="7353300" y="2924175"/>
            <a:ext cx="4229100" cy="571500"/>
          </a:xfrm>
          <a:prstGeom prst="rect">
            <a:avLst/>
          </a:prstGeom>
          <a:noFill/>
          <a:ln w="0">
            <a:noFill/>
          </a:ln>
        </p:spPr>
        <p:txBody>
          <a:bodyPr>
            <a:noAutofit/>
          </a:bodyPr>
          <a:lstStyle/>
          <a:p>
            <a:pPr>
              <a:defRPr sz="2325" b="0">
                <a:solidFill>
                  <a:srgbClr val="000000"/>
                </a:solidFill>
                <a:latin typeface="Times New Roman"/>
                <a:ea typeface="Times New Roman"/>
                <a:cs typeface="Times New Roman"/>
              </a:defRPr>
            </a:pPr>
            <a:r>
              <a:rPr sz="2325" b="0">
                <a:solidFill>
                  <a:srgbClr val="000000"/>
                </a:solidFill>
                <a:latin typeface="Times New Roman"/>
                <a:ea typeface="Times New Roman"/>
                <a:cs typeface="Times New Roman"/>
              </a:rPr>
              <a:t>10.470–14.681 MWh</a:t>
            </a:r>
          </a:p>
        </p:txBody>
      </p:sp>
      <p:sp>
        <p:nvSpPr>
          <p:cNvPr id="7" name="Rectangle 6">
            <a:extLst>
              <a:ext uri="{FF2B5EF4-FFF2-40B4-BE49-F238E27FC236}">
                <a16:creationId xmlns:a16="http://schemas.microsoft.com/office/drawing/2014/main" id="{1A36879B-2FE8-4325-B369-5A386E0DE216}"/>
              </a:ext>
            </a:extLst>
          </p:cNvPr>
          <p:cNvSpPr>
            <a:spLocks noGrp="1"/>
          </p:cNvSpPr>
          <p:nvPr/>
        </p:nvSpPr>
        <p:spPr>
          <a:xfrm>
            <a:off x="7353300" y="3771900"/>
            <a:ext cx="4229100" cy="409575"/>
          </a:xfrm>
          <a:prstGeom prst="rect">
            <a:avLst/>
          </a:prstGeom>
          <a:noFill/>
          <a:ln w="0">
            <a:noFill/>
          </a:ln>
        </p:spPr>
        <p:txBody>
          <a:bodyPr>
            <a:noAutofit/>
          </a:bodyPr>
          <a:lstStyle/>
          <a:p>
            <a:pP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B’s 410-home coverage</a:t>
            </a:r>
          </a:p>
        </p:txBody>
      </p:sp>
      <p:sp>
        <p:nvSpPr>
          <p:cNvPr id="8" name="Rectangle 7">
            <a:extLst>
              <a:ext uri="{FF2B5EF4-FFF2-40B4-BE49-F238E27FC236}">
                <a16:creationId xmlns:a16="http://schemas.microsoft.com/office/drawing/2014/main" id="{8851B7EF-7574-489B-88FA-874C67323322}"/>
              </a:ext>
            </a:extLst>
          </p:cNvPr>
          <p:cNvSpPr>
            <a:spLocks noGrp="1"/>
          </p:cNvSpPr>
          <p:nvPr/>
        </p:nvSpPr>
        <p:spPr>
          <a:xfrm>
            <a:off x="7353300" y="4257675"/>
            <a:ext cx="4229100" cy="1428750"/>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372 Ridge</a:t>
            </a:r>
          </a:p>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11 previous-week profiles</a:t>
            </a:r>
          </a:p>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23 historical profiles</a:t>
            </a:r>
          </a:p>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4 portfolio imputations</a:t>
            </a:r>
          </a:p>
        </p:txBody>
      </p:sp>
      <p:sp>
        <p:nvSpPr>
          <p:cNvPr id="9" name="Rectangle 8">
            <a:extLst>
              <a:ext uri="{FF2B5EF4-FFF2-40B4-BE49-F238E27FC236}">
                <a16:creationId xmlns:a16="http://schemas.microsoft.com/office/drawing/2014/main" id="{0538D409-3D82-4B96-86F9-FFBDFB2FD045}"/>
              </a:ext>
            </a:extLst>
          </p:cNvPr>
          <p:cNvSpPr>
            <a:spLocks noGrp="1"/>
          </p:cNvSpPr>
          <p:nvPr/>
        </p:nvSpPr>
        <p:spPr>
          <a:xfrm>
            <a:off x="609600" y="5953125"/>
            <a:ext cx="10972800" cy="428625"/>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Actual demand is unavailable for this final forecast day</a:t>
            </a:r>
          </a:p>
        </p:txBody>
      </p:sp>
    </p:spTree>
    <p:extLst>
      <p:ext uri="{BB962C8B-B14F-4D97-AF65-F5344CB8AC3E}">
        <p14:creationId xmlns:p14="http://schemas.microsoft.com/office/powerpoint/2010/main" val="27506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C7D788B-F692-4A6E-BB58-6B2345686710}"/>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Results and remaining limitations</a:t>
            </a:r>
          </a:p>
        </p:txBody>
      </p:sp>
      <p:sp>
        <p:nvSpPr>
          <p:cNvPr id="2" name="Rectangle 1">
            <a:extLst>
              <a:ext uri="{FF2B5EF4-FFF2-40B4-BE49-F238E27FC236}">
                <a16:creationId xmlns:a16="http://schemas.microsoft.com/office/drawing/2014/main" id="{754B1F86-3A81-43CF-933F-F51F73D59CB4}"/>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13</a:t>
            </a:r>
          </a:p>
        </p:txBody>
      </p:sp>
      <p:sp>
        <p:nvSpPr>
          <p:cNvPr id="3" name="Rectangle 2">
            <a:extLst>
              <a:ext uri="{FF2B5EF4-FFF2-40B4-BE49-F238E27FC236}">
                <a16:creationId xmlns:a16="http://schemas.microsoft.com/office/drawing/2014/main" id="{C1E8174A-C9C0-4F84-9B9F-031E2F48449C}"/>
              </a:ext>
            </a:extLst>
          </p:cNvPr>
          <p:cNvSpPr>
            <a:spLocks noGrp="1"/>
          </p:cNvSpPr>
          <p:nvPr/>
        </p:nvSpPr>
        <p:spPr>
          <a:xfrm>
            <a:off x="609600" y="1562100"/>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Approach A</a:t>
            </a:r>
          </a:p>
        </p:txBody>
      </p:sp>
      <p:sp>
        <p:nvSpPr>
          <p:cNvPr id="4" name="Rectangle 3">
            <a:extLst>
              <a:ext uri="{FF2B5EF4-FFF2-40B4-BE49-F238E27FC236}">
                <a16:creationId xmlns:a16="http://schemas.microsoft.com/office/drawing/2014/main" id="{9F0BD36A-644E-4395-B2CD-47A03B795785}"/>
              </a:ext>
            </a:extLst>
          </p:cNvPr>
          <p:cNvSpPr>
            <a:spLocks noGrp="1"/>
          </p:cNvSpPr>
          <p:nvPr/>
        </p:nvSpPr>
        <p:spPr>
          <a:xfrm>
            <a:off x="609600" y="1990725"/>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Lower household error and weather/context modelling, with modest portfolio gains</a:t>
            </a:r>
          </a:p>
        </p:txBody>
      </p:sp>
      <p:sp>
        <p:nvSpPr>
          <p:cNvPr id="5" name="Rectangle 4">
            <a:extLst>
              <a:ext uri="{FF2B5EF4-FFF2-40B4-BE49-F238E27FC236}">
                <a16:creationId xmlns:a16="http://schemas.microsoft.com/office/drawing/2014/main" id="{2235BB5C-6EA5-492E-BD74-0BE3C0BD289B}"/>
              </a:ext>
            </a:extLst>
          </p:cNvPr>
          <p:cNvSpPr>
            <a:spLocks noGrp="1"/>
          </p:cNvSpPr>
          <p:nvPr/>
        </p:nvSpPr>
        <p:spPr>
          <a:xfrm>
            <a:off x="609600" y="2752725"/>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Approach B</a:t>
            </a:r>
          </a:p>
        </p:txBody>
      </p:sp>
      <p:sp>
        <p:nvSpPr>
          <p:cNvPr id="6" name="Rectangle 5">
            <a:extLst>
              <a:ext uri="{FF2B5EF4-FFF2-40B4-BE49-F238E27FC236}">
                <a16:creationId xmlns:a16="http://schemas.microsoft.com/office/drawing/2014/main" id="{EC43B10E-6FF2-4362-A175-5CF05976D41F}"/>
              </a:ext>
            </a:extLst>
          </p:cNvPr>
          <p:cNvSpPr>
            <a:spLocks noGrp="1"/>
          </p:cNvSpPr>
          <p:nvPr/>
        </p:nvSpPr>
        <p:spPr>
          <a:xfrm>
            <a:off x="609600" y="3181350"/>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Compact lag model, explicit fallbacks and complete 410-household coverage</a:t>
            </a:r>
          </a:p>
        </p:txBody>
      </p:sp>
      <p:sp>
        <p:nvSpPr>
          <p:cNvPr id="7" name="Rectangle 6">
            <a:extLst>
              <a:ext uri="{FF2B5EF4-FFF2-40B4-BE49-F238E27FC236}">
                <a16:creationId xmlns:a16="http://schemas.microsoft.com/office/drawing/2014/main" id="{4CD0BC96-5A01-4AED-969E-903A15E398C6}"/>
              </a:ext>
            </a:extLst>
          </p:cNvPr>
          <p:cNvSpPr>
            <a:spLocks noGrp="1"/>
          </p:cNvSpPr>
          <p:nvPr/>
        </p:nvSpPr>
        <p:spPr>
          <a:xfrm>
            <a:off x="609600" y="3943350"/>
            <a:ext cx="10972800" cy="40005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Uncertainty needs further calibration</a:t>
            </a:r>
          </a:p>
        </p:txBody>
      </p:sp>
      <p:sp>
        <p:nvSpPr>
          <p:cNvPr id="8" name="Rectangle 7">
            <a:extLst>
              <a:ext uri="{FF2B5EF4-FFF2-40B4-BE49-F238E27FC236}">
                <a16:creationId xmlns:a16="http://schemas.microsoft.com/office/drawing/2014/main" id="{DD632144-56CD-457B-B5B4-868AD23284B4}"/>
              </a:ext>
            </a:extLst>
          </p:cNvPr>
          <p:cNvSpPr>
            <a:spLocks noGrp="1"/>
          </p:cNvSpPr>
          <p:nvPr/>
        </p:nvSpPr>
        <p:spPr>
          <a:xfrm>
            <a:off x="609600" y="4371975"/>
            <a:ext cx="10972800" cy="714375"/>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A’s intervals contain actual demand in 79.0% of measured quarter-hours and 73.4% of daily totals</a:t>
            </a:r>
          </a:p>
        </p:txBody>
      </p:sp>
      <p:sp>
        <p:nvSpPr>
          <p:cNvPr id="9" name="Rectangle 8">
            <a:extLst>
              <a:ext uri="{FF2B5EF4-FFF2-40B4-BE49-F238E27FC236}">
                <a16:creationId xmlns:a16="http://schemas.microsoft.com/office/drawing/2014/main" id="{94291FBD-1EC6-45DB-B81C-8FDB0638729E}"/>
              </a:ext>
            </a:extLst>
          </p:cNvPr>
          <p:cNvSpPr>
            <a:spLocks noGrp="1"/>
          </p:cNvSpPr>
          <p:nvPr/>
        </p:nvSpPr>
        <p:spPr>
          <a:xfrm>
            <a:off x="609600" y="5086350"/>
            <a:ext cx="10668000" cy="352425"/>
          </a:xfrm>
          <a:prstGeom prst="rect">
            <a:avLst/>
          </a:prstGeom>
          <a:noFill/>
          <a:ln w="0">
            <a:noFill/>
          </a:ln>
        </p:spPr>
        <p:txBody>
          <a:bodyPr>
            <a:noAutofit/>
          </a:bodyPr>
          <a:lstStyle/>
          <a:p>
            <a:pP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The nominal interval coverage target is 80%. Full-portfolio bounds remain provisional.</a:t>
            </a:r>
          </a:p>
        </p:txBody>
      </p:sp>
      <p:sp>
        <p:nvSpPr>
          <p:cNvPr id="10" name="Rectangle 9">
            <a:extLst>
              <a:ext uri="{FF2B5EF4-FFF2-40B4-BE49-F238E27FC236}">
                <a16:creationId xmlns:a16="http://schemas.microsoft.com/office/drawing/2014/main" id="{A1979352-3E5C-4A82-BD83-D1A22CB40AD5}"/>
              </a:ext>
            </a:extLst>
          </p:cNvPr>
          <p:cNvSpPr>
            <a:spLocks noGrp="1"/>
          </p:cNvSpPr>
          <p:nvPr/>
        </p:nvSpPr>
        <p:spPr>
          <a:xfrm>
            <a:off x="609600" y="5467350"/>
            <a:ext cx="10972800" cy="647700"/>
          </a:xfrm>
          <a:prstGeom prst="rect">
            <a:avLst/>
          </a:prstGeom>
          <a:noFill/>
          <a:ln w="0">
            <a:noFill/>
          </a:ln>
        </p:spPr>
        <p:txBody>
          <a:bodyPr>
            <a:noAutofit/>
          </a:bodyPr>
          <a:lstStyle/>
          <a:p>
            <a:pPr>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Next: align comparisons, improve daily intervals and use actual procurement costs</a:t>
            </a:r>
          </a:p>
        </p:txBody>
      </p:sp>
    </p:spTree>
    <p:extLst>
      <p:ext uri="{BB962C8B-B14F-4D97-AF65-F5344CB8AC3E}">
        <p14:creationId xmlns:p14="http://schemas.microsoft.com/office/powerpoint/2010/main" val="237798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5E5114B-3CE5-4896-866B-5B66C1692900}"/>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Supporting detail: Approach A weather stage</a:t>
            </a:r>
          </a:p>
        </p:txBody>
      </p:sp>
      <p:sp>
        <p:nvSpPr>
          <p:cNvPr id="2" name="Rectangle 1">
            <a:extLst>
              <a:ext uri="{FF2B5EF4-FFF2-40B4-BE49-F238E27FC236}">
                <a16:creationId xmlns:a16="http://schemas.microsoft.com/office/drawing/2014/main" id="{CACEFC6D-A74C-41ED-AA4D-7E6ADD6D5853}"/>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14</a:t>
            </a:r>
          </a:p>
        </p:txBody>
      </p:sp>
      <p:graphicFrame>
        <p:nvGraphicFramePr>
          <p:cNvPr id="8" name="Table 7"/>
          <p:cNvGraphicFramePr/>
          <p:nvPr/>
        </p:nvGraphicFramePr>
        <p:xfrm>
          <a:off x="609600" y="1714500"/>
          <a:ext cx="10972800" cy="2962275"/>
        </p:xfrm>
        <a:graphic>
          <a:graphicData uri="http://schemas.openxmlformats.org/drawingml/2006/table">
            <a:tbl>
              <a:tblPr/>
              <a:tblGrid>
                <a:gridCol w="2952750">
                  <a:extLst>
                    <a:ext uri="{9D8B030D-6E8A-4147-A177-3AD203B41FA5}">
                      <a16:colId xmlns:a16="http://schemas.microsoft.com/office/drawing/2014/main" val="20000"/>
                    </a:ext>
                  </a:extLst>
                </a:gridCol>
                <a:gridCol w="516255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tblGrid>
              <a:tr h="619125">
                <a:tc>
                  <a:txBody>
                    <a:bodyPr/>
                    <a:lstStyle/>
                    <a:p>
                      <a:r>
                        <a:rPr sz="1875" b="1">
                          <a:solidFill>
                            <a:srgbClr val="000000"/>
                          </a:solidFill>
                          <a:latin typeface="Times New Roman"/>
                          <a:ea typeface="Times New Roman"/>
                          <a:cs typeface="Times New Roman"/>
                        </a:rPr>
                        <a:t>Weather variable</a:t>
                      </a:r>
                    </a:p>
                  </a:txBody>
                  <a:tcPr>
                    <a:solidFill>
                      <a:srgbClr val="F2F2F2"/>
                    </a:solidFill>
                  </a:tcPr>
                </a:tc>
                <a:tc>
                  <a:txBody>
                    <a:bodyPr/>
                    <a:lstStyle/>
                    <a:p>
                      <a:r>
                        <a:rPr sz="1875" b="1">
                          <a:solidFill>
                            <a:srgbClr val="000000"/>
                          </a:solidFill>
                          <a:latin typeface="Times New Roman"/>
                          <a:ea typeface="Times New Roman"/>
                          <a:cs typeface="Times New Roman"/>
                        </a:rPr>
                        <a:t>Validation-selected forecast</a:t>
                      </a:r>
                    </a:p>
                  </a:txBody>
                  <a:tcPr>
                    <a:solidFill>
                      <a:srgbClr val="F2F2F2"/>
                    </a:solidFill>
                  </a:tcPr>
                </a:tc>
                <a:tc>
                  <a:txBody>
                    <a:bodyPr/>
                    <a:lstStyle/>
                    <a:p>
                      <a:r>
                        <a:rPr sz="1875" b="1">
                          <a:solidFill>
                            <a:srgbClr val="000000"/>
                          </a:solidFill>
                          <a:latin typeface="Times New Roman"/>
                          <a:ea typeface="Times New Roman"/>
                          <a:cs typeface="Times New Roman"/>
                        </a:rPr>
                        <a:t>Test MAE</a:t>
                      </a:r>
                    </a:p>
                  </a:txBody>
                  <a:tcPr>
                    <a:solidFill>
                      <a:srgbClr val="F2F2F2"/>
                    </a:solidFill>
                  </a:tcPr>
                </a:tc>
                <a:extLst>
                  <a:ext uri="{0D108BD9-81ED-4DB2-BD59-A6C34878D82A}">
                    <a16:rowId xmlns:a16="http://schemas.microsoft.com/office/drawing/2014/main" val="10000"/>
                  </a:ext>
                </a:extLst>
              </a:tr>
              <a:tr h="781050">
                <a:tc>
                  <a:txBody>
                    <a:bodyPr/>
                    <a:lstStyle/>
                    <a:p>
                      <a:r>
                        <a:rPr sz="1875" b="0">
                          <a:solidFill>
                            <a:srgbClr val="000000"/>
                          </a:solidFill>
                          <a:latin typeface="Times New Roman"/>
                          <a:ea typeface="Times New Roman"/>
                          <a:cs typeface="Times New Roman"/>
                        </a:rPr>
                        <a:t>Temperature</a:t>
                      </a:r>
                    </a:p>
                  </a:txBody>
                  <a:tcPr>
                    <a:solidFill>
                      <a:srgbClr val="FFFFFF"/>
                    </a:solidFill>
                  </a:tcPr>
                </a:tc>
                <a:tc>
                  <a:txBody>
                    <a:bodyPr/>
                    <a:lstStyle/>
                    <a:p>
                      <a:r>
                        <a:rPr sz="1875" b="0">
                          <a:solidFill>
                            <a:srgbClr val="000000"/>
                          </a:solidFill>
                          <a:latin typeface="Times New Roman"/>
                          <a:ea typeface="Times New Roman"/>
                          <a:cs typeface="Times New Roman"/>
                        </a:rPr>
                        <a:t>HistGradientBoostingRegressor</a:t>
                      </a:r>
                    </a:p>
                  </a:txBody>
                  <a:tcPr>
                    <a:solidFill>
                      <a:srgbClr val="FFFFFF"/>
                    </a:solidFill>
                  </a:tcPr>
                </a:tc>
                <a:tc>
                  <a:txBody>
                    <a:bodyPr/>
                    <a:lstStyle/>
                    <a:p>
                      <a:r>
                        <a:rPr sz="1875" b="0">
                          <a:solidFill>
                            <a:srgbClr val="000000"/>
                          </a:solidFill>
                          <a:latin typeface="Times New Roman"/>
                          <a:ea typeface="Times New Roman"/>
                          <a:cs typeface="Times New Roman"/>
                        </a:rPr>
                        <a:t>2.50°C</a:t>
                      </a:r>
                    </a:p>
                  </a:txBody>
                  <a:tcPr>
                    <a:solidFill>
                      <a:srgbClr val="FFFFFF"/>
                    </a:solidFill>
                  </a:tcPr>
                </a:tc>
                <a:extLst>
                  <a:ext uri="{0D108BD9-81ED-4DB2-BD59-A6C34878D82A}">
                    <a16:rowId xmlns:a16="http://schemas.microsoft.com/office/drawing/2014/main" val="10001"/>
                  </a:ext>
                </a:extLst>
              </a:tr>
              <a:tr h="781050">
                <a:tc>
                  <a:txBody>
                    <a:bodyPr/>
                    <a:lstStyle/>
                    <a:p>
                      <a:r>
                        <a:rPr sz="1875" b="0">
                          <a:solidFill>
                            <a:srgbClr val="000000"/>
                          </a:solidFill>
                          <a:latin typeface="Times New Roman"/>
                          <a:ea typeface="Times New Roman"/>
                          <a:cs typeface="Times New Roman"/>
                        </a:rPr>
                        <a:t>Sunshine duration</a:t>
                      </a:r>
                    </a:p>
                  </a:txBody>
                  <a:tcPr>
                    <a:solidFill>
                      <a:srgbClr val="FFFFFF"/>
                    </a:solidFill>
                  </a:tcPr>
                </a:tc>
                <a:tc>
                  <a:txBody>
                    <a:bodyPr/>
                    <a:lstStyle/>
                    <a:p>
                      <a:r>
                        <a:rPr sz="1875" b="0">
                          <a:solidFill>
                            <a:srgbClr val="000000"/>
                          </a:solidFill>
                          <a:latin typeface="Times New Roman"/>
                          <a:ea typeface="Times New Roman"/>
                          <a:cs typeface="Times New Roman"/>
                        </a:rPr>
                        <a:t>Most recent available same hour</a:t>
                      </a:r>
                    </a:p>
                  </a:txBody>
                  <a:tcPr>
                    <a:solidFill>
                      <a:srgbClr val="FFFFFF"/>
                    </a:solidFill>
                  </a:tcPr>
                </a:tc>
                <a:tc>
                  <a:txBody>
                    <a:bodyPr/>
                    <a:lstStyle/>
                    <a:p>
                      <a:r>
                        <a:rPr sz="1875" b="0">
                          <a:solidFill>
                            <a:srgbClr val="000000"/>
                          </a:solidFill>
                          <a:latin typeface="Times New Roman"/>
                          <a:ea typeface="Times New Roman"/>
                          <a:cs typeface="Times New Roman"/>
                        </a:rPr>
                        <a:t>0.167 h/hour</a:t>
                      </a:r>
                    </a:p>
                  </a:txBody>
                  <a:tcPr>
                    <a:solidFill>
                      <a:srgbClr val="FFFFFF"/>
                    </a:solidFill>
                  </a:tcPr>
                </a:tc>
                <a:extLst>
                  <a:ext uri="{0D108BD9-81ED-4DB2-BD59-A6C34878D82A}">
                    <a16:rowId xmlns:a16="http://schemas.microsoft.com/office/drawing/2014/main" val="10002"/>
                  </a:ext>
                </a:extLst>
              </a:tr>
              <a:tr h="781050">
                <a:tc>
                  <a:txBody>
                    <a:bodyPr/>
                    <a:lstStyle/>
                    <a:p>
                      <a:r>
                        <a:rPr sz="1875" b="0">
                          <a:solidFill>
                            <a:srgbClr val="000000"/>
                          </a:solidFill>
                          <a:latin typeface="Times New Roman"/>
                          <a:ea typeface="Times New Roman"/>
                          <a:cs typeface="Times New Roman"/>
                        </a:rPr>
                        <a:t>Humidity</a:t>
                      </a:r>
                    </a:p>
                  </a:txBody>
                  <a:tcPr>
                    <a:solidFill>
                      <a:srgbClr val="FFFFFF"/>
                    </a:solidFill>
                  </a:tcPr>
                </a:tc>
                <a:tc>
                  <a:txBody>
                    <a:bodyPr/>
                    <a:lstStyle/>
                    <a:p>
                      <a:r>
                        <a:rPr sz="1875" b="0">
                          <a:solidFill>
                            <a:srgbClr val="000000"/>
                          </a:solidFill>
                          <a:latin typeface="Times New Roman"/>
                          <a:ea typeface="Times New Roman"/>
                          <a:cs typeface="Times New Roman"/>
                        </a:rPr>
                        <a:t>HistGradientBoostingRegressor</a:t>
                      </a:r>
                    </a:p>
                  </a:txBody>
                  <a:tcPr>
                    <a:solidFill>
                      <a:srgbClr val="FFFFFF"/>
                    </a:solidFill>
                  </a:tcPr>
                </a:tc>
                <a:tc>
                  <a:txBody>
                    <a:bodyPr/>
                    <a:lstStyle/>
                    <a:p>
                      <a:r>
                        <a:rPr sz="1875" b="0">
                          <a:solidFill>
                            <a:srgbClr val="000000"/>
                          </a:solidFill>
                          <a:latin typeface="Times New Roman"/>
                          <a:ea typeface="Times New Roman"/>
                          <a:cs typeface="Times New Roman"/>
                        </a:rPr>
                        <a:t>8.43 percentage points</a:t>
                      </a:r>
                    </a:p>
                  </a:txBody>
                  <a:tcPr>
                    <a:solidFill>
                      <a:srgbClr val="FFFFF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8315BCF8-BBD5-4FC9-AF09-660C905FFB56}"/>
              </a:ext>
            </a:extLst>
          </p:cNvPr>
          <p:cNvSpPr>
            <a:spLocks noGrp="1"/>
          </p:cNvSpPr>
          <p:nvPr/>
        </p:nvSpPr>
        <p:spPr>
          <a:xfrm>
            <a:off x="609600" y="5219700"/>
            <a:ext cx="10972800" cy="457200"/>
          </a:xfrm>
          <a:prstGeom prst="rect">
            <a:avLst/>
          </a:prstGeom>
          <a:noFill/>
          <a:ln w="0">
            <a:noFill/>
          </a:ln>
        </p:spPr>
        <p:txBody>
          <a:bodyPr>
            <a:noAutofit/>
          </a:bodyPr>
          <a:lstStyle/>
          <a:p>
            <a:pPr>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Energy training uses weather forecasts generated out of time</a:t>
            </a:r>
          </a:p>
        </p:txBody>
      </p:sp>
      <p:sp>
        <p:nvSpPr>
          <p:cNvPr id="5" name="Rectangle 4">
            <a:extLst>
              <a:ext uri="{FF2B5EF4-FFF2-40B4-BE49-F238E27FC236}">
                <a16:creationId xmlns:a16="http://schemas.microsoft.com/office/drawing/2014/main" id="{A806C843-1D6E-4A6F-87B0-6C645E17E624}"/>
              </a:ext>
            </a:extLst>
          </p:cNvPr>
          <p:cNvSpPr>
            <a:spLocks noGrp="1"/>
          </p:cNvSpPr>
          <p:nvPr/>
        </p:nvSpPr>
        <p:spPr>
          <a:xfrm>
            <a:off x="609600" y="5753100"/>
            <a:ext cx="10972800" cy="552450"/>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Historical observations end two hours before issue. Future weather stays excluded.</a:t>
            </a:r>
          </a:p>
        </p:txBody>
      </p:sp>
    </p:spTree>
    <p:extLst>
      <p:ext uri="{BB962C8B-B14F-4D97-AF65-F5344CB8AC3E}">
        <p14:creationId xmlns:p14="http://schemas.microsoft.com/office/powerpoint/2010/main" val="2134008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6CE7C-C8F3-4F44-9D11-99644F5970F2}"/>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Supporting detail: Approach A feature study</a:t>
            </a:r>
          </a:p>
        </p:txBody>
      </p:sp>
      <p:sp>
        <p:nvSpPr>
          <p:cNvPr id="2" name="Rectangle 1">
            <a:extLst>
              <a:ext uri="{FF2B5EF4-FFF2-40B4-BE49-F238E27FC236}">
                <a16:creationId xmlns:a16="http://schemas.microsoft.com/office/drawing/2014/main" id="{B9E2AB6A-55DB-48F9-B2BF-3C349C14B3CE}"/>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15</a:t>
            </a:r>
          </a:p>
        </p:txBody>
      </p:sp>
      <p:sp>
        <p:nvSpPr>
          <p:cNvPr id="3" name="Rectangle 2">
            <a:extLst>
              <a:ext uri="{FF2B5EF4-FFF2-40B4-BE49-F238E27FC236}">
                <a16:creationId xmlns:a16="http://schemas.microsoft.com/office/drawing/2014/main" id="{1881CD30-430B-4296-90B6-B9DD2436E49B}"/>
              </a:ext>
            </a:extLst>
          </p:cNvPr>
          <p:cNvSpPr>
            <a:spLocks noGrp="1"/>
          </p:cNvSpPr>
          <p:nvPr/>
        </p:nvSpPr>
        <p:spPr>
          <a:xfrm>
            <a:off x="609600" y="1400175"/>
            <a:ext cx="10668000" cy="352425"/>
          </a:xfrm>
          <a:prstGeom prst="rect">
            <a:avLst/>
          </a:prstGeom>
          <a:noFill/>
          <a:ln w="0">
            <a:noFill/>
          </a:ln>
        </p:spPr>
        <p:txBody>
          <a:bodyPr>
            <a:noAutofit/>
          </a:bodyPr>
          <a:lstStyle/>
          <a:p>
            <a:pP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Validation portfolio WAPE (%), lower is better</a:t>
            </a:r>
          </a:p>
        </p:txBody>
      </p:sp>
      <p:graphicFrame>
        <p:nvGraphicFramePr>
          <p:cNvPr id="10" name="Chart"/>
          <p:cNvGraphicFramePr/>
          <p:nvPr/>
        </p:nvGraphicFramePr>
        <p:xfrm>
          <a:off x="609600" y="2162175"/>
          <a:ext cx="10972800" cy="336232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FF136435-A83D-445D-BC7B-89D8E8F73E49}"/>
              </a:ext>
            </a:extLst>
          </p:cNvPr>
          <p:cNvSpPr>
            <a:spLocks noGrp="1"/>
          </p:cNvSpPr>
          <p:nvPr/>
        </p:nvSpPr>
        <p:spPr>
          <a:xfrm>
            <a:off x="609600" y="5705475"/>
            <a:ext cx="10972800" cy="419100"/>
          </a:xfrm>
          <a:prstGeom prst="rect">
            <a:avLst/>
          </a:prstGeom>
          <a:noFill/>
          <a:ln w="0">
            <a:noFill/>
          </a:ln>
        </p:spPr>
        <p:txBody>
          <a:bodyPr>
            <a:noAutofit/>
          </a:bodyPr>
          <a:lstStyle/>
          <a:p>
            <a:pPr>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Selected: heating context + recent behaviour</a:t>
            </a:r>
          </a:p>
        </p:txBody>
      </p:sp>
      <p:sp>
        <p:nvSpPr>
          <p:cNvPr id="6" name="Rectangle 5">
            <a:extLst>
              <a:ext uri="{FF2B5EF4-FFF2-40B4-BE49-F238E27FC236}">
                <a16:creationId xmlns:a16="http://schemas.microsoft.com/office/drawing/2014/main" id="{F34DB080-035F-4504-B02B-BBC62F1D40F7}"/>
              </a:ext>
            </a:extLst>
          </p:cNvPr>
          <p:cNvSpPr>
            <a:spLocks noGrp="1"/>
          </p:cNvSpPr>
          <p:nvPr/>
        </p:nvSpPr>
        <p:spPr>
          <a:xfrm>
            <a:off x="609600" y="6153150"/>
            <a:ext cx="10668000" cy="352425"/>
          </a:xfrm>
          <a:prstGeom prst="rect">
            <a:avLst/>
          </a:prstGeom>
          <a:noFill/>
          <a:ln w="0">
            <a:noFill/>
          </a:ln>
        </p:spPr>
        <p:txBody>
          <a:bodyPr>
            <a:noAutofit/>
          </a:bodyPr>
          <a:lstStyle/>
          <a:p>
            <a:pPr>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Ownership-group effects are not causal estimates. The lag blend remains a strong benchmark.</a:t>
            </a:r>
          </a:p>
        </p:txBody>
      </p:sp>
    </p:spTree>
    <p:extLst>
      <p:ext uri="{BB962C8B-B14F-4D97-AF65-F5344CB8AC3E}">
        <p14:creationId xmlns:p14="http://schemas.microsoft.com/office/powerpoint/2010/main" val="2113679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20F3211-8676-42F1-8682-6EC393F86F57}"/>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Supporting detail: 27 February test profile</a:t>
            </a:r>
          </a:p>
        </p:txBody>
      </p:sp>
      <p:sp>
        <p:nvSpPr>
          <p:cNvPr id="2" name="Rectangle 1">
            <a:extLst>
              <a:ext uri="{FF2B5EF4-FFF2-40B4-BE49-F238E27FC236}">
                <a16:creationId xmlns:a16="http://schemas.microsoft.com/office/drawing/2014/main" id="{F57C0B29-C458-44B1-B288-ABBAC50AAED4}"/>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16</a:t>
            </a:r>
          </a:p>
        </p:txBody>
      </p:sp>
      <p:sp>
        <p:nvSpPr>
          <p:cNvPr id="3" name="Rectangle 2">
            <a:extLst>
              <a:ext uri="{FF2B5EF4-FFF2-40B4-BE49-F238E27FC236}">
                <a16:creationId xmlns:a16="http://schemas.microsoft.com/office/drawing/2014/main" id="{F55BC521-404E-446B-86DE-9AF0C3143B31}"/>
              </a:ext>
            </a:extLst>
          </p:cNvPr>
          <p:cNvSpPr>
            <a:spLocks noGrp="1"/>
          </p:cNvSpPr>
          <p:nvPr/>
        </p:nvSpPr>
        <p:spPr>
          <a:xfrm>
            <a:off x="609600" y="1400175"/>
            <a:ext cx="10668000" cy="352425"/>
          </a:xfrm>
          <a:prstGeom prst="rect">
            <a:avLst/>
          </a:prstGeom>
          <a:noFill/>
          <a:ln w="0">
            <a:noFill/>
          </a:ln>
        </p:spPr>
        <p:txBody>
          <a:bodyPr>
            <a:noAutofit/>
          </a:bodyPr>
          <a:lstStyle/>
          <a:p>
            <a:pP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374 measured homes. Actual 11.344 MWh, forecast 12.104 MWh, daily error +6.70%.</a:t>
            </a:r>
          </a:p>
        </p:txBody>
      </p:sp>
      <p:graphicFrame>
        <p:nvGraphicFramePr>
          <p:cNvPr id="11" name="Chart"/>
          <p:cNvGraphicFramePr/>
          <p:nvPr/>
        </p:nvGraphicFramePr>
        <p:xfrm>
          <a:off x="609600" y="2076450"/>
          <a:ext cx="1097280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77432853-053B-4EB5-8239-69EF266C1B1E}"/>
              </a:ext>
            </a:extLst>
          </p:cNvPr>
          <p:cNvSpPr>
            <a:spLocks noGrp="1"/>
          </p:cNvSpPr>
          <p:nvPr/>
        </p:nvSpPr>
        <p:spPr>
          <a:xfrm>
            <a:off x="609600" y="4610100"/>
            <a:ext cx="10972800" cy="295275"/>
          </a:xfrm>
          <a:prstGeom prst="rect">
            <a:avLst/>
          </a:prstGeom>
          <a:noFill/>
          <a:ln w="0">
            <a:noFill/>
          </a:ln>
        </p:spPr>
        <p:txBody>
          <a:bodyPr>
            <a:noAutofit/>
          </a:bodyPr>
          <a:lstStyle/>
          <a:p>
            <a:pPr>
              <a:defRPr sz="1725" b="1">
                <a:solidFill>
                  <a:srgbClr val="000000"/>
                </a:solidFill>
                <a:latin typeface="Times New Roman"/>
                <a:ea typeface="Times New Roman"/>
                <a:cs typeface="Times New Roman"/>
              </a:defRPr>
            </a:pPr>
            <a:r>
              <a:rPr sz="1725" b="1">
                <a:solidFill>
                  <a:srgbClr val="000000"/>
                </a:solidFill>
                <a:latin typeface="Times New Roman"/>
                <a:ea typeface="Times New Roman"/>
                <a:cs typeface="Times New Roman"/>
              </a:rPr>
              <a:t>Forecast minus actual (kWh per 15 minutes)</a:t>
            </a:r>
          </a:p>
        </p:txBody>
      </p:sp>
      <p:graphicFrame>
        <p:nvGraphicFramePr>
          <p:cNvPr id="13" name="Chart"/>
          <p:cNvGraphicFramePr/>
          <p:nvPr/>
        </p:nvGraphicFramePr>
        <p:xfrm>
          <a:off x="609600" y="4953000"/>
          <a:ext cx="10972800" cy="1104900"/>
        </p:xfrm>
        <a:graphic>
          <a:graphicData uri="http://schemas.openxmlformats.org/drawingml/2006/chart">
            <c:chart xmlns:c="http://schemas.openxmlformats.org/drawingml/2006/chart" xmlns:r="http://schemas.openxmlformats.org/officeDocument/2006/relationships" r:id="rId4"/>
          </a:graphicData>
        </a:graphic>
      </p:graphicFrame>
      <p:sp>
        <p:nvSpPr>
          <p:cNvPr id="7" name="Rectangle 6">
            <a:extLst>
              <a:ext uri="{FF2B5EF4-FFF2-40B4-BE49-F238E27FC236}">
                <a16:creationId xmlns:a16="http://schemas.microsoft.com/office/drawing/2014/main" id="{95C6E838-BE12-4A31-9E30-AFEEB825C8DF}"/>
              </a:ext>
            </a:extLst>
          </p:cNvPr>
          <p:cNvSpPr>
            <a:spLocks noGrp="1"/>
          </p:cNvSpPr>
          <p:nvPr/>
        </p:nvSpPr>
        <p:spPr>
          <a:xfrm>
            <a:off x="609600" y="6153150"/>
            <a:ext cx="10668000" cy="352425"/>
          </a:xfrm>
          <a:prstGeom prst="rect">
            <a:avLst/>
          </a:prstGeom>
          <a:noFill/>
          <a:ln w="0">
            <a:noFill/>
          </a:ln>
        </p:spPr>
        <p:txBody>
          <a:bodyPr>
            <a:noAutofit/>
          </a:bodyPr>
          <a:lstStyle/>
          <a:p>
            <a:pP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Residual: positive means overprediction, negative means underprediction. Time is UTC.</a:t>
            </a:r>
          </a:p>
        </p:txBody>
      </p:sp>
    </p:spTree>
    <p:extLst>
      <p:ext uri="{BB962C8B-B14F-4D97-AF65-F5344CB8AC3E}">
        <p14:creationId xmlns:p14="http://schemas.microsoft.com/office/powerpoint/2010/main" val="1139449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7430659-6CFA-4388-A58F-E33956FDB609}"/>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Supporting detail: Approach B eligibility</a:t>
            </a:r>
          </a:p>
        </p:txBody>
      </p:sp>
      <p:sp>
        <p:nvSpPr>
          <p:cNvPr id="2" name="Rectangle 1">
            <a:extLst>
              <a:ext uri="{FF2B5EF4-FFF2-40B4-BE49-F238E27FC236}">
                <a16:creationId xmlns:a16="http://schemas.microsoft.com/office/drawing/2014/main" id="{B369195D-E6B6-4EB8-80F2-4206F7F3D3A4}"/>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17</a:t>
            </a:r>
          </a:p>
        </p:txBody>
      </p:sp>
      <p:graphicFrame>
        <p:nvGraphicFramePr>
          <p:cNvPr id="7" name="Table 6"/>
          <p:cNvGraphicFramePr/>
          <p:nvPr/>
        </p:nvGraphicFramePr>
        <p:xfrm>
          <a:off x="609600" y="1752600"/>
          <a:ext cx="10972800" cy="3409950"/>
        </p:xfrm>
        <a:graphic>
          <a:graphicData uri="http://schemas.openxmlformats.org/drawingml/2006/table">
            <a:tbl>
              <a:tblPr/>
              <a:tblGrid>
                <a:gridCol w="3962400">
                  <a:extLst>
                    <a:ext uri="{9D8B030D-6E8A-4147-A177-3AD203B41FA5}">
                      <a16:colId xmlns:a16="http://schemas.microsoft.com/office/drawing/2014/main" val="20000"/>
                    </a:ext>
                  </a:extLst>
                </a:gridCol>
                <a:gridCol w="7010400">
                  <a:extLst>
                    <a:ext uri="{9D8B030D-6E8A-4147-A177-3AD203B41FA5}">
                      <a16:colId xmlns:a16="http://schemas.microsoft.com/office/drawing/2014/main" val="20001"/>
                    </a:ext>
                  </a:extLst>
                </a:gridCol>
              </a:tblGrid>
              <a:tr h="590550">
                <a:tc>
                  <a:txBody>
                    <a:bodyPr/>
                    <a:lstStyle/>
                    <a:p>
                      <a:r>
                        <a:rPr sz="1875" b="1">
                          <a:solidFill>
                            <a:srgbClr val="000000"/>
                          </a:solidFill>
                          <a:latin typeface="Times New Roman"/>
                          <a:ea typeface="Times New Roman"/>
                          <a:cs typeface="Times New Roman"/>
                        </a:rPr>
                        <a:t>Eligibility check</a:t>
                      </a:r>
                    </a:p>
                  </a:txBody>
                  <a:tcPr>
                    <a:solidFill>
                      <a:srgbClr val="F2F2F2"/>
                    </a:solidFill>
                  </a:tcPr>
                </a:tc>
                <a:tc>
                  <a:txBody>
                    <a:bodyPr/>
                    <a:lstStyle/>
                    <a:p>
                      <a:r>
                        <a:rPr sz="1875" b="1">
                          <a:solidFill>
                            <a:srgbClr val="000000"/>
                          </a:solidFill>
                          <a:latin typeface="Times New Roman"/>
                          <a:ea typeface="Times New Roman"/>
                          <a:cs typeface="Times New Roman"/>
                        </a:rPr>
                        <a:t>Requirement</a:t>
                      </a:r>
                    </a:p>
                  </a:txBody>
                  <a:tcPr>
                    <a:solidFill>
                      <a:srgbClr val="F2F2F2"/>
                    </a:solidFill>
                  </a:tcPr>
                </a:tc>
                <a:extLst>
                  <a:ext uri="{0D108BD9-81ED-4DB2-BD59-A6C34878D82A}">
                    <a16:rowId xmlns:a16="http://schemas.microsoft.com/office/drawing/2014/main" val="10000"/>
                  </a:ext>
                </a:extLst>
              </a:tr>
              <a:tr h="704850">
                <a:tc>
                  <a:txBody>
                    <a:bodyPr/>
                    <a:lstStyle/>
                    <a:p>
                      <a:r>
                        <a:rPr sz="1875" b="0">
                          <a:solidFill>
                            <a:srgbClr val="000000"/>
                          </a:solidFill>
                          <a:latin typeface="Times New Roman"/>
                          <a:ea typeface="Times New Roman"/>
                          <a:cs typeface="Times New Roman"/>
                        </a:rPr>
                        <a:t>Pre-calibration training</a:t>
                      </a:r>
                    </a:p>
                  </a:txBody>
                  <a:tcPr>
                    <a:solidFill>
                      <a:srgbClr val="FFFFFF"/>
                    </a:solidFill>
                  </a:tcPr>
                </a:tc>
                <a:tc>
                  <a:txBody>
                    <a:bodyPr/>
                    <a:lstStyle/>
                    <a:p>
                      <a:r>
                        <a:rPr sz="1875" b="0">
                          <a:solidFill>
                            <a:srgbClr val="000000"/>
                          </a:solidFill>
                          <a:latin typeface="Times New Roman"/>
                          <a:ea typeface="Times New Roman"/>
                          <a:cs typeface="Times New Roman"/>
                        </a:rPr>
                        <a:t>At least 1,344 complete feature + target rows</a:t>
                      </a:r>
                    </a:p>
                  </a:txBody>
                  <a:tcPr>
                    <a:solidFill>
                      <a:srgbClr val="FFFFFF"/>
                    </a:solidFill>
                  </a:tcPr>
                </a:tc>
                <a:extLst>
                  <a:ext uri="{0D108BD9-81ED-4DB2-BD59-A6C34878D82A}">
                    <a16:rowId xmlns:a16="http://schemas.microsoft.com/office/drawing/2014/main" val="10001"/>
                  </a:ext>
                </a:extLst>
              </a:tr>
              <a:tr h="704850">
                <a:tc>
                  <a:txBody>
                    <a:bodyPr/>
                    <a:lstStyle/>
                    <a:p>
                      <a:r>
                        <a:rPr sz="1875" b="0">
                          <a:solidFill>
                            <a:srgbClr val="000000"/>
                          </a:solidFill>
                          <a:latin typeface="Times New Roman"/>
                          <a:ea typeface="Times New Roman"/>
                          <a:cs typeface="Times New Roman"/>
                        </a:rPr>
                        <a:t>Last 14 calibration days</a:t>
                      </a:r>
                    </a:p>
                  </a:txBody>
                  <a:tcPr>
                    <a:solidFill>
                      <a:srgbClr val="FFFFFF"/>
                    </a:solidFill>
                  </a:tcPr>
                </a:tc>
                <a:tc>
                  <a:txBody>
                    <a:bodyPr/>
                    <a:lstStyle/>
                    <a:p>
                      <a:r>
                        <a:rPr sz="1875" b="0">
                          <a:solidFill>
                            <a:srgbClr val="000000"/>
                          </a:solidFill>
                          <a:latin typeface="Times New Roman"/>
                          <a:ea typeface="Times New Roman"/>
                          <a:cs typeface="Times New Roman"/>
                        </a:rPr>
                        <a:t>Exactly 1,344 complete feature + target rows</a:t>
                      </a:r>
                    </a:p>
                  </a:txBody>
                  <a:tcPr>
                    <a:solidFill>
                      <a:srgbClr val="FFFFFF"/>
                    </a:solidFill>
                  </a:tcPr>
                </a:tc>
                <a:extLst>
                  <a:ext uri="{0D108BD9-81ED-4DB2-BD59-A6C34878D82A}">
                    <a16:rowId xmlns:a16="http://schemas.microsoft.com/office/drawing/2014/main" val="10002"/>
                  </a:ext>
                </a:extLst>
              </a:tr>
              <a:tr h="704850">
                <a:tc>
                  <a:txBody>
                    <a:bodyPr/>
                    <a:lstStyle/>
                    <a:p>
                      <a:r>
                        <a:rPr sz="1875" b="0">
                          <a:solidFill>
                            <a:srgbClr val="000000"/>
                          </a:solidFill>
                          <a:latin typeface="Times New Roman"/>
                          <a:ea typeface="Times New Roman"/>
                          <a:cs typeface="Times New Roman"/>
                        </a:rPr>
                        <a:t>Target-day lag inputs</a:t>
                      </a:r>
                    </a:p>
                  </a:txBody>
                  <a:tcPr>
                    <a:solidFill>
                      <a:srgbClr val="FFFFFF"/>
                    </a:solidFill>
                  </a:tcPr>
                </a:tc>
                <a:tc>
                  <a:txBody>
                    <a:bodyPr/>
                    <a:lstStyle/>
                    <a:p>
                      <a:r>
                        <a:rPr sz="1875" b="0">
                          <a:solidFill>
                            <a:srgbClr val="000000"/>
                          </a:solidFill>
                          <a:latin typeface="Times New Roman"/>
                          <a:ea typeface="Times New Roman"/>
                          <a:cs typeface="Times New Roman"/>
                        </a:rPr>
                        <a:t>All 96 day-lag and week-lag values available</a:t>
                      </a:r>
                    </a:p>
                  </a:txBody>
                  <a:tcPr>
                    <a:solidFill>
                      <a:srgbClr val="FFFFFF"/>
                    </a:solidFill>
                  </a:tcPr>
                </a:tc>
                <a:extLst>
                  <a:ext uri="{0D108BD9-81ED-4DB2-BD59-A6C34878D82A}">
                    <a16:rowId xmlns:a16="http://schemas.microsoft.com/office/drawing/2014/main" val="10003"/>
                  </a:ext>
                </a:extLst>
              </a:tr>
              <a:tr h="704850">
                <a:tc>
                  <a:txBody>
                    <a:bodyPr/>
                    <a:lstStyle/>
                    <a:p>
                      <a:r>
                        <a:rPr sz="1875" b="0">
                          <a:solidFill>
                            <a:srgbClr val="000000"/>
                          </a:solidFill>
                          <a:latin typeface="Times New Roman"/>
                          <a:ea typeface="Times New Roman"/>
                          <a:cs typeface="Times New Roman"/>
                        </a:rPr>
                        <a:t>If any requirement fails</a:t>
                      </a:r>
                    </a:p>
                  </a:txBody>
                  <a:tcPr>
                    <a:solidFill>
                      <a:srgbClr val="FFFFFF"/>
                    </a:solidFill>
                  </a:tcPr>
                </a:tc>
                <a:tc>
                  <a:txBody>
                    <a:bodyPr/>
                    <a:lstStyle/>
                    <a:p>
                      <a:r>
                        <a:rPr sz="1875" b="0">
                          <a:solidFill>
                            <a:srgbClr val="000000"/>
                          </a:solidFill>
                          <a:latin typeface="Times New Roman"/>
                          <a:ea typeface="Times New Roman"/>
                          <a:cs typeface="Times New Roman"/>
                        </a:rPr>
                        <a:t>Use week, day, historical or portfolio fallback</a:t>
                      </a:r>
                    </a:p>
                  </a:txBody>
                  <a:tcPr>
                    <a:solidFill>
                      <a:srgbClr val="FFFFFF"/>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F88E3129-1D67-4222-8BA9-C86BC87A7AC3}"/>
              </a:ext>
            </a:extLst>
          </p:cNvPr>
          <p:cNvSpPr>
            <a:spLocks noGrp="1"/>
          </p:cNvSpPr>
          <p:nvPr/>
        </p:nvSpPr>
        <p:spPr>
          <a:xfrm>
            <a:off x="609600" y="5524500"/>
            <a:ext cx="10972800" cy="628650"/>
          </a:xfrm>
          <a:prstGeom prst="rect">
            <a:avLst/>
          </a:prstGeom>
          <a:noFill/>
          <a:ln w="0">
            <a:noFill/>
          </a:ln>
        </p:spPr>
        <p:txBody>
          <a:bodyPr>
            <a:noAutofit/>
          </a:bodyPr>
          <a:lstStyle/>
          <a:p>
            <a:pPr>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Final routing: 372 Ridge + 11 week + 23 historical + 4 portfolio = 410</a:t>
            </a:r>
          </a:p>
        </p:txBody>
      </p:sp>
    </p:spTree>
    <p:extLst>
      <p:ext uri="{BB962C8B-B14F-4D97-AF65-F5344CB8AC3E}">
        <p14:creationId xmlns:p14="http://schemas.microsoft.com/office/powerpoint/2010/main" val="1921551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C7D40F2-0393-44A8-896F-A58401924976}"/>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Supporting detail: uncertainty by approach</a:t>
            </a:r>
          </a:p>
        </p:txBody>
      </p:sp>
      <p:sp>
        <p:nvSpPr>
          <p:cNvPr id="2" name="Rectangle 1">
            <a:extLst>
              <a:ext uri="{FF2B5EF4-FFF2-40B4-BE49-F238E27FC236}">
                <a16:creationId xmlns:a16="http://schemas.microsoft.com/office/drawing/2014/main" id="{6D7A25F1-246C-4190-AA2D-68C21EB9CDB9}"/>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18</a:t>
            </a:r>
          </a:p>
        </p:txBody>
      </p:sp>
      <p:graphicFrame>
        <p:nvGraphicFramePr>
          <p:cNvPr id="8" name="Table 7"/>
          <p:cNvGraphicFramePr/>
          <p:nvPr/>
        </p:nvGraphicFramePr>
        <p:xfrm>
          <a:off x="609600" y="1724025"/>
          <a:ext cx="10972800" cy="3429000"/>
        </p:xfrm>
        <a:graphic>
          <a:graphicData uri="http://schemas.openxmlformats.org/drawingml/2006/table">
            <a:tbl>
              <a:tblPr/>
              <a:tblGrid>
                <a:gridCol w="2952750">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581025">
                <a:tc>
                  <a:txBody>
                    <a:bodyPr/>
                    <a:lstStyle/>
                    <a:p>
                      <a:r>
                        <a:rPr sz="1800" b="1">
                          <a:solidFill>
                            <a:srgbClr val="000000"/>
                          </a:solidFill>
                          <a:latin typeface="Times New Roman"/>
                          <a:ea typeface="Times New Roman"/>
                          <a:cs typeface="Times New Roman"/>
                        </a:rPr>
                        <a:t>Property</a:t>
                      </a:r>
                    </a:p>
                  </a:txBody>
                  <a:tcPr>
                    <a:solidFill>
                      <a:srgbClr val="F2F2F2"/>
                    </a:solidFill>
                  </a:tcPr>
                </a:tc>
                <a:tc>
                  <a:txBody>
                    <a:bodyPr/>
                    <a:lstStyle/>
                    <a:p>
                      <a:r>
                        <a:rPr sz="1800" b="1">
                          <a:solidFill>
                            <a:srgbClr val="000000"/>
                          </a:solidFill>
                          <a:latin typeface="Times New Roman"/>
                          <a:ea typeface="Times New Roman"/>
                          <a:cs typeface="Times New Roman"/>
                        </a:rPr>
                        <a:t>Approach A</a:t>
                      </a:r>
                    </a:p>
                  </a:txBody>
                  <a:tcPr>
                    <a:solidFill>
                      <a:srgbClr val="F2F2F2"/>
                    </a:solidFill>
                  </a:tcPr>
                </a:tc>
                <a:tc>
                  <a:txBody>
                    <a:bodyPr/>
                    <a:lstStyle/>
                    <a:p>
                      <a:r>
                        <a:rPr sz="1800" b="1">
                          <a:solidFill>
                            <a:srgbClr val="000000"/>
                          </a:solidFill>
                          <a:latin typeface="Times New Roman"/>
                          <a:ea typeface="Times New Roman"/>
                          <a:cs typeface="Times New Roman"/>
                        </a:rPr>
                        <a:t>Approach B</a:t>
                      </a:r>
                    </a:p>
                  </a:txBody>
                  <a:tcPr>
                    <a:solidFill>
                      <a:srgbClr val="F2F2F2"/>
                    </a:solidFill>
                  </a:tcPr>
                </a:tc>
                <a:extLst>
                  <a:ext uri="{0D108BD9-81ED-4DB2-BD59-A6C34878D82A}">
                    <a16:rowId xmlns:a16="http://schemas.microsoft.com/office/drawing/2014/main" val="10000"/>
                  </a:ext>
                </a:extLst>
              </a:tr>
              <a:tr h="666750">
                <a:tc>
                  <a:txBody>
                    <a:bodyPr/>
                    <a:lstStyle/>
                    <a:p>
                      <a:r>
                        <a:rPr sz="1800" b="0">
                          <a:solidFill>
                            <a:srgbClr val="000000"/>
                          </a:solidFill>
                          <a:latin typeface="Times New Roman"/>
                          <a:ea typeface="Times New Roman"/>
                          <a:cs typeface="Times New Roman"/>
                        </a:rPr>
                        <a:t>Calibration</a:t>
                      </a:r>
                    </a:p>
                  </a:txBody>
                  <a:tcPr>
                    <a:solidFill>
                      <a:srgbClr val="FFFFFF"/>
                    </a:solidFill>
                  </a:tcPr>
                </a:tc>
                <a:tc>
                  <a:txBody>
                    <a:bodyPr/>
                    <a:lstStyle/>
                    <a:p>
                      <a:r>
                        <a:rPr sz="1800" b="0">
                          <a:solidFill>
                            <a:srgbClr val="000000"/>
                          </a:solidFill>
                          <a:latin typeface="Times New Roman"/>
                          <a:ea typeface="Times New Roman"/>
                          <a:cs typeface="Times New Roman"/>
                        </a:rPr>
                        <a:t>Annual validation residuals</a:t>
                      </a:r>
                    </a:p>
                  </a:txBody>
                  <a:tcPr>
                    <a:solidFill>
                      <a:srgbClr val="FFFFFF"/>
                    </a:solidFill>
                  </a:tcPr>
                </a:tc>
                <a:tc>
                  <a:txBody>
                    <a:bodyPr/>
                    <a:lstStyle/>
                    <a:p>
                      <a:r>
                        <a:rPr sz="1800" b="0">
                          <a:solidFill>
                            <a:srgbClr val="000000"/>
                          </a:solidFill>
                          <a:latin typeface="Times New Roman"/>
                          <a:ea typeface="Times New Roman"/>
                          <a:cs typeface="Times New Roman"/>
                        </a:rPr>
                        <a:t>Previous 14 days</a:t>
                      </a:r>
                    </a:p>
                  </a:txBody>
                  <a:tcPr>
                    <a:solidFill>
                      <a:srgbClr val="FFFFFF"/>
                    </a:solidFill>
                  </a:tcPr>
                </a:tc>
                <a:extLst>
                  <a:ext uri="{0D108BD9-81ED-4DB2-BD59-A6C34878D82A}">
                    <a16:rowId xmlns:a16="http://schemas.microsoft.com/office/drawing/2014/main" val="10001"/>
                  </a:ext>
                </a:extLst>
              </a:tr>
              <a:tr h="781050">
                <a:tc>
                  <a:txBody>
                    <a:bodyPr/>
                    <a:lstStyle/>
                    <a:p>
                      <a:r>
                        <a:rPr sz="1800" b="0">
                          <a:solidFill>
                            <a:srgbClr val="000000"/>
                          </a:solidFill>
                          <a:latin typeface="Times New Roman"/>
                          <a:ea typeface="Times New Roman"/>
                          <a:cs typeface="Times New Roman"/>
                        </a:rPr>
                        <a:t>Interval scope</a:t>
                      </a:r>
                    </a:p>
                  </a:txBody>
                  <a:tcPr>
                    <a:solidFill>
                      <a:srgbClr val="FFFFFF"/>
                    </a:solidFill>
                  </a:tcPr>
                </a:tc>
                <a:tc>
                  <a:txBody>
                    <a:bodyPr/>
                    <a:lstStyle/>
                    <a:p>
                      <a:r>
                        <a:rPr sz="1800" b="0">
                          <a:solidFill>
                            <a:srgbClr val="000000"/>
                          </a:solidFill>
                          <a:latin typeface="Times New Roman"/>
                          <a:ea typeface="Times New Roman"/>
                          <a:cs typeface="Times New Roman"/>
                        </a:rPr>
                        <a:t>Empirical portfolio quantiles</a:t>
                      </a:r>
                    </a:p>
                  </a:txBody>
                  <a:tcPr>
                    <a:solidFill>
                      <a:srgbClr val="FFFFFF"/>
                    </a:solidFill>
                  </a:tcPr>
                </a:tc>
                <a:tc>
                  <a:txBody>
                    <a:bodyPr/>
                    <a:lstStyle/>
                    <a:p>
                      <a:r>
                        <a:rPr sz="1800" b="0">
                          <a:solidFill>
                            <a:srgbClr val="000000"/>
                          </a:solidFill>
                          <a:latin typeface="Times New Roman"/>
                          <a:ea typeface="Times New Roman"/>
                          <a:cs typeface="Times New Roman"/>
                        </a:rPr>
                        <a:t>Conformal Ridge household slots</a:t>
                      </a:r>
                    </a:p>
                  </a:txBody>
                  <a:tcPr>
                    <a:solidFill>
                      <a:srgbClr val="FFFFFF"/>
                    </a:solidFill>
                  </a:tcPr>
                </a:tc>
                <a:extLst>
                  <a:ext uri="{0D108BD9-81ED-4DB2-BD59-A6C34878D82A}">
                    <a16:rowId xmlns:a16="http://schemas.microsoft.com/office/drawing/2014/main" val="10002"/>
                  </a:ext>
                </a:extLst>
              </a:tr>
              <a:tr h="781050">
                <a:tc>
                  <a:txBody>
                    <a:bodyPr/>
                    <a:lstStyle/>
                    <a:p>
                      <a:r>
                        <a:rPr sz="1800" b="0">
                          <a:solidFill>
                            <a:srgbClr val="000000"/>
                          </a:solidFill>
                          <a:latin typeface="Times New Roman"/>
                          <a:ea typeface="Times New Roman"/>
                          <a:cs typeface="Times New Roman"/>
                        </a:rPr>
                        <a:t>Daily portfolio bounds</a:t>
                      </a:r>
                    </a:p>
                  </a:txBody>
                  <a:tcPr>
                    <a:solidFill>
                      <a:srgbClr val="FFFFFF"/>
                    </a:solidFill>
                  </a:tcPr>
                </a:tc>
                <a:tc>
                  <a:txBody>
                    <a:bodyPr/>
                    <a:lstStyle/>
                    <a:p>
                      <a:r>
                        <a:rPr sz="1800" b="0">
                          <a:solidFill>
                            <a:srgbClr val="000000"/>
                          </a:solidFill>
                          <a:latin typeface="Times New Roman"/>
                          <a:ea typeface="Times New Roman"/>
                          <a:cs typeface="Times New Roman"/>
                        </a:rPr>
                        <a:t>P10/P50/P90 from daily residuals</a:t>
                      </a:r>
                    </a:p>
                  </a:txBody>
                  <a:tcPr>
                    <a:solidFill>
                      <a:srgbClr val="FFFFFF"/>
                    </a:solidFill>
                  </a:tcPr>
                </a:tc>
                <a:tc>
                  <a:txBody>
                    <a:bodyPr/>
                    <a:lstStyle/>
                    <a:p>
                      <a:r>
                        <a:rPr sz="1800" b="0">
                          <a:solidFill>
                            <a:srgbClr val="000000"/>
                          </a:solidFill>
                          <a:latin typeface="Times New Roman"/>
                          <a:ea typeface="Times New Roman"/>
                          <a:cs typeface="Times New Roman"/>
                        </a:rPr>
                        <a:t>No saved daily bounds</a:t>
                      </a:r>
                    </a:p>
                  </a:txBody>
                  <a:tcPr>
                    <a:solidFill>
                      <a:srgbClr val="FFFFFF"/>
                    </a:solidFill>
                  </a:tcPr>
                </a:tc>
                <a:extLst>
                  <a:ext uri="{0D108BD9-81ED-4DB2-BD59-A6C34878D82A}">
                    <a16:rowId xmlns:a16="http://schemas.microsoft.com/office/drawing/2014/main" val="10003"/>
                  </a:ext>
                </a:extLst>
              </a:tr>
              <a:tr h="619125">
                <a:tc>
                  <a:txBody>
                    <a:bodyPr/>
                    <a:lstStyle/>
                    <a:p>
                      <a:r>
                        <a:rPr sz="1800" b="0">
                          <a:solidFill>
                            <a:srgbClr val="000000"/>
                          </a:solidFill>
                          <a:latin typeface="Times New Roman"/>
                          <a:ea typeface="Times New Roman"/>
                          <a:cs typeface="Times New Roman"/>
                        </a:rPr>
                        <a:t>Nominal interval target</a:t>
                      </a:r>
                    </a:p>
                  </a:txBody>
                  <a:tcPr>
                    <a:solidFill>
                      <a:srgbClr val="FFFFFF"/>
                    </a:solidFill>
                  </a:tcPr>
                </a:tc>
                <a:tc>
                  <a:txBody>
                    <a:bodyPr/>
                    <a:lstStyle/>
                    <a:p>
                      <a:r>
                        <a:rPr sz="1800" b="0">
                          <a:solidFill>
                            <a:srgbClr val="000000"/>
                          </a:solidFill>
                          <a:latin typeface="Times New Roman"/>
                          <a:ea typeface="Times New Roman"/>
                          <a:cs typeface="Times New Roman"/>
                        </a:rPr>
                        <a:t>80%</a:t>
                      </a:r>
                    </a:p>
                  </a:txBody>
                  <a:tcPr>
                    <a:solidFill>
                      <a:srgbClr val="FFFFFF"/>
                    </a:solidFill>
                  </a:tcPr>
                </a:tc>
                <a:tc>
                  <a:txBody>
                    <a:bodyPr/>
                    <a:lstStyle/>
                    <a:p>
                      <a:r>
                        <a:rPr sz="1800" b="0">
                          <a:solidFill>
                            <a:srgbClr val="000000"/>
                          </a:solidFill>
                          <a:latin typeface="Times New Roman"/>
                          <a:ea typeface="Times New Roman"/>
                          <a:cs typeface="Times New Roman"/>
                        </a:rPr>
                        <a:t>80%</a:t>
                      </a:r>
                    </a:p>
                  </a:txBody>
                  <a:tcPr>
                    <a:solidFill>
                      <a:srgbClr val="FFFFFF"/>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DF65A3F8-3505-45F7-B003-5F55C27AA849}"/>
              </a:ext>
            </a:extLst>
          </p:cNvPr>
          <p:cNvSpPr>
            <a:spLocks noGrp="1"/>
          </p:cNvSpPr>
          <p:nvPr/>
        </p:nvSpPr>
        <p:spPr>
          <a:xfrm>
            <a:off x="609600" y="5381625"/>
            <a:ext cx="10972800" cy="457200"/>
          </a:xfrm>
          <a:prstGeom prst="rect">
            <a:avLst/>
          </a:prstGeom>
          <a:noFill/>
          <a:ln w="0">
            <a:noFill/>
          </a:ln>
        </p:spPr>
        <p:txBody>
          <a:bodyPr>
            <a:noAutofit/>
          </a:bodyPr>
          <a:lstStyle/>
          <a:p>
            <a:pPr>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A test coverage: 79.0% quarter-hours, 73.4% daily totals</a:t>
            </a:r>
          </a:p>
        </p:txBody>
      </p:sp>
      <p:sp>
        <p:nvSpPr>
          <p:cNvPr id="5" name="Rectangle 4">
            <a:extLst>
              <a:ext uri="{FF2B5EF4-FFF2-40B4-BE49-F238E27FC236}">
                <a16:creationId xmlns:a16="http://schemas.microsoft.com/office/drawing/2014/main" id="{15EB4A7C-9DC5-4924-90CB-50F16B9EE5F3}"/>
              </a:ext>
            </a:extLst>
          </p:cNvPr>
          <p:cNvSpPr>
            <a:spLocks noGrp="1"/>
          </p:cNvSpPr>
          <p:nvPr/>
        </p:nvSpPr>
        <p:spPr>
          <a:xfrm>
            <a:off x="609600" y="5972175"/>
            <a:ext cx="10668000" cy="352425"/>
          </a:xfrm>
          <a:prstGeom prst="rect">
            <a:avLst/>
          </a:prstGeom>
          <a:noFill/>
          <a:ln w="0">
            <a:noFill/>
          </a:ln>
        </p:spPr>
        <p:txBody>
          <a:bodyPr>
            <a:noAutofit/>
          </a:bodyPr>
          <a:lstStyle/>
          <a:p>
            <a:pP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Full-portfolio bounds are provisional. Four targetless households have no measured demand.</a:t>
            </a:r>
          </a:p>
        </p:txBody>
      </p:sp>
    </p:spTree>
    <p:extLst>
      <p:ext uri="{BB962C8B-B14F-4D97-AF65-F5344CB8AC3E}">
        <p14:creationId xmlns:p14="http://schemas.microsoft.com/office/powerpoint/2010/main" val="2020417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BFD7704-E1AA-442B-8436-49F85FD0A10A}"/>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Approach A: purchase quantities and penalty ratios</a:t>
            </a:r>
          </a:p>
        </p:txBody>
      </p:sp>
      <p:sp>
        <p:nvSpPr>
          <p:cNvPr id="2" name="Rectangle 1">
            <a:extLst>
              <a:ext uri="{FF2B5EF4-FFF2-40B4-BE49-F238E27FC236}">
                <a16:creationId xmlns:a16="http://schemas.microsoft.com/office/drawing/2014/main" id="{46D2A6D7-89D8-4FEF-8CB8-AA839DAE7D8E}"/>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19</a:t>
            </a:r>
          </a:p>
        </p:txBody>
      </p:sp>
      <p:sp>
        <p:nvSpPr>
          <p:cNvPr id="3" name="Rectangle 2">
            <a:extLst>
              <a:ext uri="{FF2B5EF4-FFF2-40B4-BE49-F238E27FC236}">
                <a16:creationId xmlns:a16="http://schemas.microsoft.com/office/drawing/2014/main" id="{15206623-C474-4D5D-9291-E758211AB9EF}"/>
              </a:ext>
            </a:extLst>
          </p:cNvPr>
          <p:cNvSpPr>
            <a:spLocks noGrp="1"/>
          </p:cNvSpPr>
          <p:nvPr/>
        </p:nvSpPr>
        <p:spPr>
          <a:xfrm>
            <a:off x="609600" y="1400175"/>
            <a:ext cx="10972800" cy="361950"/>
          </a:xfrm>
          <a:prstGeom prst="rect">
            <a:avLst/>
          </a:prstGeom>
          <a:noFill/>
          <a:ln w="0">
            <a:noFill/>
          </a:ln>
        </p:spPr>
        <p:txBody>
          <a:bodyPr>
            <a:noAutofit/>
          </a:bodyPr>
          <a:lstStyle/>
          <a:p>
            <a:pP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Ratio = penalty per missing kWh : penalty per extra kWh</a:t>
            </a:r>
          </a:p>
        </p:txBody>
      </p:sp>
      <p:sp>
        <p:nvSpPr>
          <p:cNvPr id="4" name="Rectangle 3">
            <a:extLst>
              <a:ext uri="{FF2B5EF4-FFF2-40B4-BE49-F238E27FC236}">
                <a16:creationId xmlns:a16="http://schemas.microsoft.com/office/drawing/2014/main" id="{1A2B4010-C9DB-4024-848A-7E2BEF75AF13}"/>
              </a:ext>
            </a:extLst>
          </p:cNvPr>
          <p:cNvSpPr>
            <a:spLocks noGrp="1"/>
          </p:cNvSpPr>
          <p:nvPr/>
        </p:nvSpPr>
        <p:spPr>
          <a:xfrm>
            <a:off x="609600" y="1790700"/>
            <a:ext cx="10972800" cy="352425"/>
          </a:xfrm>
          <a:prstGeom prst="rect">
            <a:avLst/>
          </a:prstGeom>
          <a:noFill/>
          <a:ln w="0">
            <a:noFill/>
          </a:ln>
        </p:spPr>
        <p:txBody>
          <a:bodyPr>
            <a:noAutofit/>
          </a:bodyPr>
          <a:lstStyle/>
          <a:p>
            <a:pPr>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1:1 means buying too little and buying too much cost the same per kWh.</a:t>
            </a:r>
          </a:p>
        </p:txBody>
      </p:sp>
      <p:graphicFrame>
        <p:nvGraphicFramePr>
          <p:cNvPr id="13" name="Table 12"/>
          <p:cNvGraphicFramePr/>
          <p:nvPr>
            <p:extLst>
              <p:ext uri="{D42A27DB-BD31-4B8C-83A1-F6EECF244321}">
                <p14:modId xmlns:p14="http://schemas.microsoft.com/office/powerpoint/2010/main" val="1554048726"/>
              </p:ext>
            </p:extLst>
          </p:nvPr>
        </p:nvGraphicFramePr>
        <p:xfrm>
          <a:off x="609600" y="2333625"/>
          <a:ext cx="10972800" cy="2838450"/>
        </p:xfrm>
        <a:graphic>
          <a:graphicData uri="http://schemas.openxmlformats.org/drawingml/2006/table">
            <a:tbl>
              <a:tblPr/>
              <a:tblGrid>
                <a:gridCol w="29527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781300">
                  <a:extLst>
                    <a:ext uri="{9D8B030D-6E8A-4147-A177-3AD203B41FA5}">
                      <a16:colId xmlns:a16="http://schemas.microsoft.com/office/drawing/2014/main" val="20002"/>
                    </a:ext>
                  </a:extLst>
                </a:gridCol>
                <a:gridCol w="3238500">
                  <a:extLst>
                    <a:ext uri="{9D8B030D-6E8A-4147-A177-3AD203B41FA5}">
                      <a16:colId xmlns:a16="http://schemas.microsoft.com/office/drawing/2014/main" val="20003"/>
                    </a:ext>
                  </a:extLst>
                </a:gridCol>
              </a:tblGrid>
              <a:tr h="742950">
                <a:tc>
                  <a:txBody>
                    <a:bodyPr/>
                    <a:lstStyle/>
                    <a:p>
                      <a:r>
                        <a:rPr sz="1800" b="1">
                          <a:solidFill>
                            <a:srgbClr val="000000"/>
                          </a:solidFill>
                          <a:latin typeface="Times New Roman"/>
                          <a:ea typeface="Times New Roman"/>
                          <a:cs typeface="Times New Roman"/>
                        </a:rPr>
                        <a:t>Shortage : surplus</a:t>
                      </a:r>
                    </a:p>
                    <a:p>
                      <a:r>
                        <a:rPr sz="1800" b="1">
                          <a:solidFill>
                            <a:srgbClr val="000000"/>
                          </a:solidFill>
                          <a:latin typeface="Times New Roman"/>
                          <a:ea typeface="Times New Roman"/>
                          <a:cs typeface="Times New Roman"/>
                        </a:rPr>
                        <a:t>penalty ratio</a:t>
                      </a:r>
                    </a:p>
                  </a:txBody>
                  <a:tcPr>
                    <a:solidFill>
                      <a:srgbClr val="F2F2F2"/>
                    </a:solidFill>
                  </a:tcPr>
                </a:tc>
                <a:tc>
                  <a:txBody>
                    <a:bodyPr/>
                    <a:lstStyle/>
                    <a:p>
                      <a:r>
                        <a:rPr sz="1800" b="1">
                          <a:solidFill>
                            <a:srgbClr val="000000"/>
                          </a:solidFill>
                          <a:latin typeface="Times New Roman"/>
                          <a:ea typeface="Times New Roman"/>
                          <a:cs typeface="Times New Roman"/>
                        </a:rPr>
                        <a:t>Demand</a:t>
                      </a:r>
                    </a:p>
                    <a:p>
                      <a:r>
                        <a:rPr sz="1800" b="1">
                          <a:solidFill>
                            <a:srgbClr val="000000"/>
                          </a:solidFill>
                          <a:latin typeface="Times New Roman"/>
                          <a:ea typeface="Times New Roman"/>
                          <a:cs typeface="Times New Roman"/>
                        </a:rPr>
                        <a:t>percentile</a:t>
                      </a:r>
                    </a:p>
                  </a:txBody>
                  <a:tcPr>
                    <a:solidFill>
                      <a:srgbClr val="F2F2F2"/>
                    </a:solidFill>
                  </a:tcPr>
                </a:tc>
                <a:tc>
                  <a:txBody>
                    <a:bodyPr/>
                    <a:lstStyle/>
                    <a:p>
                      <a:r>
                        <a:rPr sz="1800" b="1">
                          <a:solidFill>
                            <a:srgbClr val="000000"/>
                          </a:solidFill>
                          <a:latin typeface="Times New Roman"/>
                          <a:ea typeface="Times New Roman"/>
                          <a:cs typeface="Times New Roman"/>
                        </a:rPr>
                        <a:t>28 Feb purchases</a:t>
                      </a:r>
                    </a:p>
                    <a:p>
                      <a:r>
                        <a:rPr sz="1800" b="1">
                          <a:solidFill>
                            <a:srgbClr val="000000"/>
                          </a:solidFill>
                          <a:latin typeface="Times New Roman"/>
                          <a:ea typeface="Times New Roman"/>
                          <a:cs typeface="Times New Roman"/>
                        </a:rPr>
                        <a:t>(MWh)</a:t>
                      </a:r>
                    </a:p>
                  </a:txBody>
                  <a:tcPr>
                    <a:solidFill>
                      <a:srgbClr val="F2F2F2"/>
                    </a:solidFill>
                  </a:tcPr>
                </a:tc>
                <a:tc>
                  <a:txBody>
                    <a:bodyPr/>
                    <a:lstStyle/>
                    <a:p>
                      <a:r>
                        <a:rPr sz="1800" b="1">
                          <a:solidFill>
                            <a:srgbClr val="000000"/>
                          </a:solidFill>
                          <a:latin typeface="Times New Roman"/>
                          <a:ea typeface="Times New Roman"/>
                          <a:cs typeface="Times New Roman"/>
                        </a:rPr>
                        <a:t>Historical simulated</a:t>
                      </a:r>
                    </a:p>
                    <a:p>
                      <a:r>
                        <a:rPr sz="1800" b="1">
                          <a:solidFill>
                            <a:srgbClr val="000000"/>
                          </a:solidFill>
                          <a:latin typeface="Times New Roman"/>
                          <a:ea typeface="Times New Roman"/>
                          <a:cs typeface="Times New Roman"/>
                        </a:rPr>
                        <a:t>penalty vs A point</a:t>
                      </a:r>
                    </a:p>
                  </a:txBody>
                  <a:tcPr>
                    <a:solidFill>
                      <a:srgbClr val="F2F2F2"/>
                    </a:solidFill>
                  </a:tcPr>
                </a:tc>
                <a:extLst>
                  <a:ext uri="{0D108BD9-81ED-4DB2-BD59-A6C34878D82A}">
                    <a16:rowId xmlns:a16="http://schemas.microsoft.com/office/drawing/2014/main" val="10000"/>
                  </a:ext>
                </a:extLst>
              </a:tr>
              <a:tr h="523875">
                <a:tc>
                  <a:txBody>
                    <a:bodyPr/>
                    <a:lstStyle/>
                    <a:p>
                      <a:r>
                        <a:rPr sz="1800" b="0">
                          <a:solidFill>
                            <a:srgbClr val="000000"/>
                          </a:solidFill>
                          <a:latin typeface="Times New Roman"/>
                          <a:ea typeface="Times New Roman"/>
                          <a:cs typeface="Times New Roman"/>
                        </a:rPr>
                        <a:t>1:1</a:t>
                      </a:r>
                    </a:p>
                  </a:txBody>
                  <a:tcPr>
                    <a:solidFill>
                      <a:srgbClr val="FFFFFF"/>
                    </a:solidFill>
                  </a:tcPr>
                </a:tc>
                <a:tc>
                  <a:txBody>
                    <a:bodyPr/>
                    <a:lstStyle/>
                    <a:p>
                      <a:r>
                        <a:rPr sz="1800" b="0">
                          <a:solidFill>
                            <a:srgbClr val="000000"/>
                          </a:solidFill>
                          <a:latin typeface="Times New Roman"/>
                          <a:ea typeface="Times New Roman"/>
                          <a:cs typeface="Times New Roman"/>
                        </a:rPr>
                        <a:t>P50</a:t>
                      </a:r>
                    </a:p>
                  </a:txBody>
                  <a:tcPr>
                    <a:solidFill>
                      <a:srgbClr val="FFFFFF"/>
                    </a:solidFill>
                  </a:tcPr>
                </a:tc>
                <a:tc>
                  <a:txBody>
                    <a:bodyPr/>
                    <a:lstStyle/>
                    <a:p>
                      <a:r>
                        <a:rPr sz="1800" b="0">
                          <a:solidFill>
                            <a:srgbClr val="000000"/>
                          </a:solidFill>
                          <a:latin typeface="Times New Roman"/>
                          <a:ea typeface="Times New Roman"/>
                          <a:cs typeface="Times New Roman"/>
                        </a:rPr>
                        <a:t>13.047</a:t>
                      </a:r>
                    </a:p>
                  </a:txBody>
                  <a:tcPr>
                    <a:solidFill>
                      <a:srgbClr val="FFFFFF"/>
                    </a:solidFill>
                  </a:tcPr>
                </a:tc>
                <a:tc>
                  <a:txBody>
                    <a:bodyPr/>
                    <a:lstStyle/>
                    <a:p>
                      <a:r>
                        <a:rPr sz="1800" b="0">
                          <a:solidFill>
                            <a:srgbClr val="000000"/>
                          </a:solidFill>
                          <a:latin typeface="Times New Roman"/>
                          <a:ea typeface="Times New Roman"/>
                          <a:cs typeface="Times New Roman"/>
                        </a:rPr>
                        <a:t>0.88% more</a:t>
                      </a:r>
                    </a:p>
                  </a:txBody>
                  <a:tcPr>
                    <a:solidFill>
                      <a:srgbClr val="FFFFFF"/>
                    </a:solidFill>
                  </a:tcPr>
                </a:tc>
                <a:extLst>
                  <a:ext uri="{0D108BD9-81ED-4DB2-BD59-A6C34878D82A}">
                    <a16:rowId xmlns:a16="http://schemas.microsoft.com/office/drawing/2014/main" val="10001"/>
                  </a:ext>
                </a:extLst>
              </a:tr>
              <a:tr h="523875">
                <a:tc>
                  <a:txBody>
                    <a:bodyPr/>
                    <a:lstStyle/>
                    <a:p>
                      <a:r>
                        <a:rPr sz="1800" b="0">
                          <a:solidFill>
                            <a:srgbClr val="000000"/>
                          </a:solidFill>
                          <a:latin typeface="Times New Roman"/>
                          <a:ea typeface="Times New Roman"/>
                          <a:cs typeface="Times New Roman"/>
                        </a:rPr>
                        <a:t>2:1</a:t>
                      </a:r>
                    </a:p>
                  </a:txBody>
                  <a:tcPr>
                    <a:solidFill>
                      <a:srgbClr val="FFFFFF"/>
                    </a:solidFill>
                  </a:tcPr>
                </a:tc>
                <a:tc>
                  <a:txBody>
                    <a:bodyPr/>
                    <a:lstStyle/>
                    <a:p>
                      <a:r>
                        <a:rPr sz="1800" b="0">
                          <a:solidFill>
                            <a:srgbClr val="000000"/>
                          </a:solidFill>
                          <a:latin typeface="Times New Roman"/>
                          <a:ea typeface="Times New Roman"/>
                          <a:cs typeface="Times New Roman"/>
                        </a:rPr>
                        <a:t>P66.7</a:t>
                      </a:r>
                    </a:p>
                  </a:txBody>
                  <a:tcPr>
                    <a:solidFill>
                      <a:srgbClr val="FFFFFF"/>
                    </a:solidFill>
                  </a:tcPr>
                </a:tc>
                <a:tc>
                  <a:txBody>
                    <a:bodyPr/>
                    <a:lstStyle/>
                    <a:p>
                      <a:r>
                        <a:rPr sz="1800" b="0">
                          <a:solidFill>
                            <a:srgbClr val="000000"/>
                          </a:solidFill>
                          <a:latin typeface="Times New Roman"/>
                          <a:ea typeface="Times New Roman"/>
                          <a:cs typeface="Times New Roman"/>
                        </a:rPr>
                        <a:t>13.971</a:t>
                      </a:r>
                    </a:p>
                  </a:txBody>
                  <a:tcPr>
                    <a:solidFill>
                      <a:srgbClr val="FFFFFF"/>
                    </a:solidFill>
                  </a:tcPr>
                </a:tc>
                <a:tc>
                  <a:txBody>
                    <a:bodyPr/>
                    <a:lstStyle/>
                    <a:p>
                      <a:r>
                        <a:rPr sz="1800" b="0">
                          <a:solidFill>
                            <a:srgbClr val="000000"/>
                          </a:solidFill>
                          <a:latin typeface="Times New Roman"/>
                          <a:ea typeface="Times New Roman"/>
                          <a:cs typeface="Times New Roman"/>
                        </a:rPr>
                        <a:t>5.21% less</a:t>
                      </a:r>
                    </a:p>
                  </a:txBody>
                  <a:tcPr>
                    <a:solidFill>
                      <a:srgbClr val="FFFFFF"/>
                    </a:solidFill>
                  </a:tcPr>
                </a:tc>
                <a:extLst>
                  <a:ext uri="{0D108BD9-81ED-4DB2-BD59-A6C34878D82A}">
                    <a16:rowId xmlns:a16="http://schemas.microsoft.com/office/drawing/2014/main" val="10002"/>
                  </a:ext>
                </a:extLst>
              </a:tr>
              <a:tr h="523875">
                <a:tc>
                  <a:txBody>
                    <a:bodyPr/>
                    <a:lstStyle/>
                    <a:p>
                      <a:r>
                        <a:rPr sz="1800" b="0">
                          <a:solidFill>
                            <a:srgbClr val="000000"/>
                          </a:solidFill>
                          <a:latin typeface="Times New Roman"/>
                          <a:ea typeface="Times New Roman"/>
                          <a:cs typeface="Times New Roman"/>
                        </a:rPr>
                        <a:t>4:1</a:t>
                      </a:r>
                    </a:p>
                  </a:txBody>
                  <a:tcPr>
                    <a:solidFill>
                      <a:srgbClr val="FFFFFF"/>
                    </a:solidFill>
                  </a:tcPr>
                </a:tc>
                <a:tc>
                  <a:txBody>
                    <a:bodyPr/>
                    <a:lstStyle/>
                    <a:p>
                      <a:r>
                        <a:rPr sz="1800" b="0">
                          <a:solidFill>
                            <a:srgbClr val="000000"/>
                          </a:solidFill>
                          <a:latin typeface="Times New Roman"/>
                          <a:ea typeface="Times New Roman"/>
                          <a:cs typeface="Times New Roman"/>
                        </a:rPr>
                        <a:t>P80</a:t>
                      </a:r>
                    </a:p>
                  </a:txBody>
                  <a:tcPr>
                    <a:solidFill>
                      <a:srgbClr val="FFFFFF"/>
                    </a:solidFill>
                  </a:tcPr>
                </a:tc>
                <a:tc>
                  <a:txBody>
                    <a:bodyPr/>
                    <a:lstStyle/>
                    <a:p>
                      <a:r>
                        <a:rPr sz="1800" b="0" dirty="0">
                          <a:solidFill>
                            <a:schemeClr val="tx1"/>
                          </a:solidFill>
                          <a:latin typeface="Times New Roman"/>
                          <a:ea typeface="Times New Roman"/>
                          <a:cs typeface="Times New Roman"/>
                        </a:rPr>
                        <a:t>14.998</a:t>
                      </a:r>
                    </a:p>
                  </a:txBody>
                  <a:tcPr>
                    <a:solidFill>
                      <a:srgbClr val="FFFFFF"/>
                    </a:solidFill>
                  </a:tcPr>
                </a:tc>
                <a:tc>
                  <a:txBody>
                    <a:bodyPr/>
                    <a:lstStyle/>
                    <a:p>
                      <a:r>
                        <a:rPr sz="1800" b="0" dirty="0">
                          <a:solidFill>
                            <a:schemeClr val="tx1"/>
                          </a:solidFill>
                          <a:latin typeface="Times New Roman"/>
                          <a:ea typeface="Times New Roman"/>
                          <a:cs typeface="Times New Roman"/>
                        </a:rPr>
                        <a:t>24.09% less</a:t>
                      </a:r>
                    </a:p>
                  </a:txBody>
                  <a:tcPr>
                    <a:solidFill>
                      <a:srgbClr val="FFFFFF"/>
                    </a:solidFill>
                  </a:tcPr>
                </a:tc>
                <a:extLst>
                  <a:ext uri="{0D108BD9-81ED-4DB2-BD59-A6C34878D82A}">
                    <a16:rowId xmlns:a16="http://schemas.microsoft.com/office/drawing/2014/main" val="10003"/>
                  </a:ext>
                </a:extLst>
              </a:tr>
              <a:tr h="523875">
                <a:tc>
                  <a:txBody>
                    <a:bodyPr/>
                    <a:lstStyle/>
                    <a:p>
                      <a:r>
                        <a:rPr sz="1800" b="0">
                          <a:solidFill>
                            <a:srgbClr val="000000"/>
                          </a:solidFill>
                          <a:latin typeface="Times New Roman"/>
                          <a:ea typeface="Times New Roman"/>
                          <a:cs typeface="Times New Roman"/>
                        </a:rPr>
                        <a:t>1:2</a:t>
                      </a:r>
                    </a:p>
                  </a:txBody>
                  <a:tcPr>
                    <a:solidFill>
                      <a:srgbClr val="FFFFFF"/>
                    </a:solidFill>
                  </a:tcPr>
                </a:tc>
                <a:tc>
                  <a:txBody>
                    <a:bodyPr/>
                    <a:lstStyle/>
                    <a:p>
                      <a:r>
                        <a:rPr sz="1800" b="0">
                          <a:solidFill>
                            <a:srgbClr val="000000"/>
                          </a:solidFill>
                          <a:latin typeface="Times New Roman"/>
                          <a:ea typeface="Times New Roman"/>
                          <a:cs typeface="Times New Roman"/>
                        </a:rPr>
                        <a:t>P33.3</a:t>
                      </a:r>
                    </a:p>
                  </a:txBody>
                  <a:tcPr>
                    <a:solidFill>
                      <a:srgbClr val="FFFFFF"/>
                    </a:solidFill>
                  </a:tcPr>
                </a:tc>
                <a:tc>
                  <a:txBody>
                    <a:bodyPr/>
                    <a:lstStyle/>
                    <a:p>
                      <a:r>
                        <a:rPr sz="1800" b="0">
                          <a:solidFill>
                            <a:srgbClr val="000000"/>
                          </a:solidFill>
                          <a:latin typeface="Times New Roman"/>
                          <a:ea typeface="Times New Roman"/>
                          <a:cs typeface="Times New Roman"/>
                        </a:rPr>
                        <a:t>12.104</a:t>
                      </a:r>
                    </a:p>
                  </a:txBody>
                  <a:tcPr>
                    <a:solidFill>
                      <a:srgbClr val="FFFFFF"/>
                    </a:solidFill>
                  </a:tcPr>
                </a:tc>
                <a:tc>
                  <a:txBody>
                    <a:bodyPr/>
                    <a:lstStyle/>
                    <a:p>
                      <a:r>
                        <a:rPr sz="1800" b="0" dirty="0">
                          <a:solidFill>
                            <a:srgbClr val="000000"/>
                          </a:solidFill>
                          <a:latin typeface="Times New Roman"/>
                          <a:ea typeface="Times New Roman"/>
                          <a:cs typeface="Times New Roman"/>
                        </a:rPr>
                        <a:t>10.01% less</a:t>
                      </a:r>
                    </a:p>
                  </a:txBody>
                  <a:tcPr>
                    <a:solidFill>
                      <a:srgbClr val="FFFFFF"/>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9ECAC2B6-7AFA-4F3E-8057-73A09E4F631E}"/>
              </a:ext>
            </a:extLst>
          </p:cNvPr>
          <p:cNvSpPr>
            <a:spLocks noGrp="1"/>
          </p:cNvSpPr>
          <p:nvPr/>
        </p:nvSpPr>
        <p:spPr>
          <a:xfrm>
            <a:off x="609600" y="5295900"/>
            <a:ext cx="10972800" cy="342900"/>
          </a:xfrm>
          <a:prstGeom prst="rect">
            <a:avLst/>
          </a:prstGeom>
          <a:noFill/>
          <a:ln w="0">
            <a:noFill/>
          </a:ln>
        </p:spPr>
        <p:txBody>
          <a:bodyPr>
            <a:noAutofit/>
          </a:bodyPr>
          <a:lstStyle/>
          <a:p>
            <a:pP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28 Feb quantities: total of 96 interval purchases for all 410 households.</a:t>
            </a:r>
          </a:p>
        </p:txBody>
      </p:sp>
      <p:sp>
        <p:nvSpPr>
          <p:cNvPr id="7" name="Rectangle 6">
            <a:extLst>
              <a:ext uri="{FF2B5EF4-FFF2-40B4-BE49-F238E27FC236}">
                <a16:creationId xmlns:a16="http://schemas.microsoft.com/office/drawing/2014/main" id="{60481D5C-5411-4AFD-A74F-BFE2CAF97A8A}"/>
              </a:ext>
            </a:extLst>
          </p:cNvPr>
          <p:cNvSpPr>
            <a:spLocks noGrp="1"/>
          </p:cNvSpPr>
          <p:nvPr/>
        </p:nvSpPr>
        <p:spPr>
          <a:xfrm>
            <a:off x="609600" y="5676900"/>
            <a:ext cx="10972800" cy="342900"/>
          </a:xfrm>
          <a:prstGeom prst="rect">
            <a:avLst/>
          </a:prstGeom>
          <a:noFill/>
          <a:ln w="0">
            <a:noFill/>
          </a:ln>
        </p:spPr>
        <p:txBody>
          <a:bodyPr>
            <a:noAutofit/>
          </a:bodyPr>
          <a:lstStyle/>
          <a:p>
            <a:pP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Historical penalties: 34,944 measured intervals from 28 Feb 2023 to 27 Feb 2024.</a:t>
            </a:r>
          </a:p>
        </p:txBody>
      </p:sp>
      <p:sp>
        <p:nvSpPr>
          <p:cNvPr id="8" name="Rectangle 7">
            <a:extLst>
              <a:ext uri="{FF2B5EF4-FFF2-40B4-BE49-F238E27FC236}">
                <a16:creationId xmlns:a16="http://schemas.microsoft.com/office/drawing/2014/main" id="{DCDBDF72-156F-4437-BA82-6CC7D63D3345}"/>
              </a:ext>
            </a:extLst>
          </p:cNvPr>
          <p:cNvSpPr>
            <a:spLocks noGrp="1"/>
          </p:cNvSpPr>
          <p:nvPr/>
        </p:nvSpPr>
        <p:spPr>
          <a:xfrm>
            <a:off x="609600" y="6134100"/>
            <a:ext cx="10668000" cy="352425"/>
          </a:xfrm>
          <a:prstGeom prst="rect">
            <a:avLst/>
          </a:prstGeom>
          <a:noFill/>
          <a:ln w="0">
            <a:noFill/>
          </a:ln>
        </p:spPr>
        <p:txBody>
          <a:bodyPr>
            <a:noAutofit/>
          </a:bodyPr>
          <a:lstStyle/>
          <a:p>
            <a:pP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Illustrative penalty ratios, no actual tariffs. The percentages describe historical simulated penalties.</a:t>
            </a:r>
          </a:p>
        </p:txBody>
      </p:sp>
    </p:spTree>
    <p:extLst>
      <p:ext uri="{BB962C8B-B14F-4D97-AF65-F5344CB8AC3E}">
        <p14:creationId xmlns:p14="http://schemas.microsoft.com/office/powerpoint/2010/main" val="378590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625897E-56FA-4076-80FA-3B32CBB5FDB1}"/>
              </a:ext>
            </a:extLst>
          </p:cNvPr>
          <p:cNvSpPr>
            <a:spLocks noGrp="1"/>
          </p:cNvSpPr>
          <p:nvPr/>
        </p:nvSpPr>
        <p:spPr>
          <a:xfrm>
            <a:off x="609600" y="419100"/>
            <a:ext cx="10972800" cy="914400"/>
          </a:xfrm>
          <a:prstGeom prst="rect">
            <a:avLst/>
          </a:prstGeom>
          <a:noFill/>
          <a:ln w="0">
            <a:noFill/>
          </a:ln>
        </p:spPr>
        <p:txBody>
          <a:bodyPr>
            <a:noAutofit/>
          </a:bodyPr>
          <a:lstStyle/>
          <a:p>
            <a:pPr>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28 February: forecast and purchase recommendation</a:t>
            </a:r>
          </a:p>
        </p:txBody>
      </p:sp>
      <p:sp>
        <p:nvSpPr>
          <p:cNvPr id="2" name="Rectangle 1">
            <a:extLst>
              <a:ext uri="{FF2B5EF4-FFF2-40B4-BE49-F238E27FC236}">
                <a16:creationId xmlns:a16="http://schemas.microsoft.com/office/drawing/2014/main" id="{ED58D82D-9D5B-4DA8-86BD-76B03DBD8A54}"/>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20</a:t>
            </a:r>
          </a:p>
        </p:txBody>
      </p:sp>
      <p:sp>
        <p:nvSpPr>
          <p:cNvPr id="3" name="Rectangle 2">
            <a:extLst>
              <a:ext uri="{FF2B5EF4-FFF2-40B4-BE49-F238E27FC236}">
                <a16:creationId xmlns:a16="http://schemas.microsoft.com/office/drawing/2014/main" id="{2D4C2415-BCFC-4690-8461-730D96879195}"/>
              </a:ext>
            </a:extLst>
          </p:cNvPr>
          <p:cNvSpPr>
            <a:spLocks noGrp="1"/>
          </p:cNvSpPr>
          <p:nvPr/>
        </p:nvSpPr>
        <p:spPr>
          <a:xfrm>
            <a:off x="609600" y="1381125"/>
            <a:ext cx="5238750" cy="495300"/>
          </a:xfrm>
          <a:prstGeom prst="rect">
            <a:avLst/>
          </a:prstGeom>
          <a:noFill/>
          <a:ln w="0">
            <a:noFill/>
          </a:ln>
        </p:spPr>
        <p:txBody>
          <a:bodyPr>
            <a:noAutofit/>
          </a:bodyPr>
          <a:lstStyle/>
          <a:p>
            <a:pPr>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Estimated demand: 13.015 MWh</a:t>
            </a:r>
          </a:p>
        </p:txBody>
      </p:sp>
      <p:sp>
        <p:nvSpPr>
          <p:cNvPr id="4" name="Rectangle 3">
            <a:extLst>
              <a:ext uri="{FF2B5EF4-FFF2-40B4-BE49-F238E27FC236}">
                <a16:creationId xmlns:a16="http://schemas.microsoft.com/office/drawing/2014/main" id="{03387EF9-9437-4EDD-9DD0-D8AA789481F5}"/>
              </a:ext>
            </a:extLst>
          </p:cNvPr>
          <p:cNvSpPr>
            <a:spLocks noGrp="1"/>
          </p:cNvSpPr>
          <p:nvPr/>
        </p:nvSpPr>
        <p:spPr>
          <a:xfrm>
            <a:off x="6381750" y="1381125"/>
            <a:ext cx="5200650" cy="495300"/>
          </a:xfrm>
          <a:prstGeom prst="rect">
            <a:avLst/>
          </a:prstGeom>
          <a:noFill/>
          <a:ln w="0">
            <a:noFill/>
          </a:ln>
        </p:spPr>
        <p:txBody>
          <a:bodyPr>
            <a:noAutofit/>
          </a:bodyPr>
          <a:lstStyle/>
          <a:p>
            <a:pPr>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P80 purchases: 14.998 MWh</a:t>
            </a:r>
          </a:p>
        </p:txBody>
      </p:sp>
      <p:sp>
        <p:nvSpPr>
          <p:cNvPr id="5" name="Rectangle 4">
            <a:extLst>
              <a:ext uri="{FF2B5EF4-FFF2-40B4-BE49-F238E27FC236}">
                <a16:creationId xmlns:a16="http://schemas.microsoft.com/office/drawing/2014/main" id="{67FC2D46-B565-42A8-BCDE-79CE86A460D6}"/>
              </a:ext>
            </a:extLst>
          </p:cNvPr>
          <p:cNvSpPr>
            <a:spLocks noGrp="1"/>
          </p:cNvSpPr>
          <p:nvPr/>
        </p:nvSpPr>
        <p:spPr>
          <a:xfrm>
            <a:off x="609600" y="1914525"/>
            <a:ext cx="10668000" cy="352425"/>
          </a:xfrm>
          <a:prstGeom prst="rect">
            <a:avLst/>
          </a:prstGeom>
          <a:noFill/>
          <a:ln w="0">
            <a:noFill/>
          </a:ln>
        </p:spPr>
        <p:txBody>
          <a:bodyPr>
            <a:noAutofit/>
          </a:bodyPr>
          <a:lstStyle/>
          <a:p>
            <a:pP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Assumed shortage : surplus penalty = 4:1. All 410 households, 96 UTC intervals.</a:t>
            </a:r>
          </a:p>
        </p:txBody>
      </p:sp>
      <p:sp>
        <p:nvSpPr>
          <p:cNvPr id="6" name="Rectangle 5">
            <a:extLst>
              <a:ext uri="{FF2B5EF4-FFF2-40B4-BE49-F238E27FC236}">
                <a16:creationId xmlns:a16="http://schemas.microsoft.com/office/drawing/2014/main" id="{ED2037C3-82B3-4258-BD27-E713E44E275C}"/>
              </a:ext>
            </a:extLst>
          </p:cNvPr>
          <p:cNvSpPr>
            <a:spLocks noGrp="1"/>
          </p:cNvSpPr>
          <p:nvPr/>
        </p:nvSpPr>
        <p:spPr>
          <a:xfrm>
            <a:off x="609600" y="2390775"/>
            <a:ext cx="10972800" cy="323850"/>
          </a:xfrm>
          <a:prstGeom prst="rect">
            <a:avLst/>
          </a:prstGeom>
          <a:noFill/>
          <a:ln w="0">
            <a:noFill/>
          </a:ln>
        </p:spPr>
        <p:txBody>
          <a:bodyPr>
            <a:noAutofit/>
          </a:bodyPr>
          <a:lstStyle/>
          <a:p>
            <a:pPr>
              <a:defRPr sz="1725" b="1">
                <a:solidFill>
                  <a:srgbClr val="000000"/>
                </a:solidFill>
                <a:latin typeface="Times New Roman"/>
                <a:ea typeface="Times New Roman"/>
                <a:cs typeface="Times New Roman"/>
              </a:defRPr>
            </a:pPr>
            <a:r>
              <a:rPr sz="1725" b="1">
                <a:solidFill>
                  <a:srgbClr val="000000"/>
                </a:solidFill>
                <a:latin typeface="Times New Roman"/>
                <a:ea typeface="Times New Roman"/>
                <a:cs typeface="Times New Roman"/>
              </a:rPr>
              <a:t>Electricity energy (kWh per 15 minutes)</a:t>
            </a:r>
          </a:p>
        </p:txBody>
      </p:sp>
      <p:graphicFrame>
        <p:nvGraphicFramePr>
          <p:cNvPr id="17" name="Chart"/>
          <p:cNvGraphicFramePr/>
          <p:nvPr/>
        </p:nvGraphicFramePr>
        <p:xfrm>
          <a:off x="609600" y="2752725"/>
          <a:ext cx="10972800" cy="2686050"/>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7">
            <a:extLst>
              <a:ext uri="{FF2B5EF4-FFF2-40B4-BE49-F238E27FC236}">
                <a16:creationId xmlns:a16="http://schemas.microsoft.com/office/drawing/2014/main" id="{B59FFB4F-D59B-45F7-B9C9-A038AC7D15AE}"/>
              </a:ext>
            </a:extLst>
          </p:cNvPr>
          <p:cNvSpPr>
            <a:spLocks noGrp="1"/>
          </p:cNvSpPr>
          <p:nvPr/>
        </p:nvSpPr>
        <p:spPr>
          <a:xfrm>
            <a:off x="609600" y="5438775"/>
            <a:ext cx="10972800" cy="295275"/>
          </a:xfrm>
          <a:prstGeom prst="rect">
            <a:avLst/>
          </a:prstGeom>
          <a:noFill/>
          <a:ln w="0">
            <a:noFill/>
          </a:ln>
        </p:spPr>
        <p:txBody>
          <a:bodyPr>
            <a:noAutofit/>
          </a:bodyPr>
          <a:lstStyle/>
          <a:p>
            <a:pP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Hour of delivery day (UTC)</a:t>
            </a:r>
          </a:p>
        </p:txBody>
      </p:sp>
      <p:sp>
        <p:nvSpPr>
          <p:cNvPr id="9" name="Rectangle 8">
            <a:extLst>
              <a:ext uri="{FF2B5EF4-FFF2-40B4-BE49-F238E27FC236}">
                <a16:creationId xmlns:a16="http://schemas.microsoft.com/office/drawing/2014/main" id="{51553134-086F-4093-A86A-824F2FE4FB03}"/>
              </a:ext>
            </a:extLst>
          </p:cNvPr>
          <p:cNvSpPr>
            <a:spLocks noGrp="1"/>
          </p:cNvSpPr>
          <p:nvPr/>
        </p:nvSpPr>
        <p:spPr>
          <a:xfrm>
            <a:off x="609600" y="5819775"/>
            <a:ext cx="10972800" cy="361950"/>
          </a:xfrm>
          <a:prstGeom prst="rect">
            <a:avLst/>
          </a:prstGeom>
          <a:noFill/>
          <a:ln w="0">
            <a:noFill/>
          </a:ln>
        </p:spPr>
        <p:txBody>
          <a:bodyPr>
            <a:noAutofit/>
          </a:bodyPr>
          <a:lstStyle/>
          <a:p>
            <a:pPr>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Historical evidence: 24.09% less simulated penalty than A’s point forecast</a:t>
            </a:r>
          </a:p>
        </p:txBody>
      </p:sp>
      <p:sp>
        <p:nvSpPr>
          <p:cNvPr id="10" name="Rectangle 9">
            <a:extLst>
              <a:ext uri="{FF2B5EF4-FFF2-40B4-BE49-F238E27FC236}">
                <a16:creationId xmlns:a16="http://schemas.microsoft.com/office/drawing/2014/main" id="{AF4F31A8-56E4-49B9-89E1-2C1A41444E7C}"/>
              </a:ext>
            </a:extLst>
          </p:cNvPr>
          <p:cNvSpPr>
            <a:spLocks noGrp="1"/>
          </p:cNvSpPr>
          <p:nvPr/>
        </p:nvSpPr>
        <p:spPr>
          <a:xfrm>
            <a:off x="609600" y="6248400"/>
            <a:ext cx="10668000" cy="352425"/>
          </a:xfrm>
          <a:prstGeom prst="rect">
            <a:avLst/>
          </a:prstGeom>
          <a:noFill/>
          <a:ln w="0">
            <a:noFill/>
          </a:ln>
        </p:spPr>
        <p:txBody>
          <a:bodyPr>
            <a:noAutofit/>
          </a:bodyPr>
          <a:lstStyle/>
          <a:p>
            <a:pP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Conditional recommendation. Actual tariffs and 28 Feb demand are unavailable. Final-day savings are unknown.</a:t>
            </a:r>
          </a:p>
        </p:txBody>
      </p:sp>
    </p:spTree>
    <p:extLst>
      <p:ext uri="{BB962C8B-B14F-4D97-AF65-F5344CB8AC3E}">
        <p14:creationId xmlns:p14="http://schemas.microsoft.com/office/powerpoint/2010/main" val="1201981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BFA7260-AECE-4464-8BBF-3166E2D178CB}"/>
              </a:ext>
            </a:extLst>
          </p:cNvPr>
          <p:cNvSpPr>
            <a:spLocks noGrp="1"/>
          </p:cNvSpPr>
          <p:nvPr/>
        </p:nvSpPr>
        <p:spPr>
          <a:xfrm>
            <a:off x="609600" y="2238375"/>
            <a:ext cx="10972800" cy="1190625"/>
          </a:xfrm>
          <a:prstGeom prst="rect">
            <a:avLst/>
          </a:prstGeom>
          <a:noFill/>
          <a:ln w="0">
            <a:noFill/>
          </a:ln>
        </p:spPr>
        <p:txBody>
          <a:bodyPr>
            <a:noAutofit/>
          </a:bodyPr>
          <a:lstStyle/>
          <a:p>
            <a:pPr algn="ctr">
              <a:defRPr sz="5700" b="1">
                <a:solidFill>
                  <a:srgbClr val="000000"/>
                </a:solidFill>
                <a:latin typeface="Times New Roman"/>
                <a:ea typeface="Times New Roman"/>
                <a:cs typeface="Times New Roman"/>
              </a:defRPr>
            </a:pPr>
            <a:r>
              <a:rPr sz="5700" b="1">
                <a:solidFill>
                  <a:srgbClr val="000000"/>
                </a:solidFill>
                <a:latin typeface="Times New Roman"/>
                <a:ea typeface="Times New Roman"/>
                <a:cs typeface="Times New Roman"/>
              </a:rPr>
              <a:t>Thank You</a:t>
            </a:r>
          </a:p>
        </p:txBody>
      </p:sp>
      <p:sp>
        <p:nvSpPr>
          <p:cNvPr id="2" name="Rectangle 1">
            <a:extLst>
              <a:ext uri="{FF2B5EF4-FFF2-40B4-BE49-F238E27FC236}">
                <a16:creationId xmlns:a16="http://schemas.microsoft.com/office/drawing/2014/main" id="{A129D1C4-679B-44EA-9C33-75EBAC80FE15}"/>
              </a:ext>
            </a:extLst>
          </p:cNvPr>
          <p:cNvSpPr>
            <a:spLocks noGrp="1"/>
          </p:cNvSpPr>
          <p:nvPr/>
        </p:nvSpPr>
        <p:spPr>
          <a:xfrm>
            <a:off x="11277600" y="6419850"/>
            <a:ext cx="381000" cy="238125"/>
          </a:xfrm>
          <a:prstGeom prst="rect">
            <a:avLst/>
          </a:prstGeom>
          <a:noFill/>
          <a:ln w="0">
            <a:noFill/>
          </a:ln>
        </p:spPr>
        <p:txBody>
          <a:bodyPr>
            <a:noAutofit/>
          </a:bodyPr>
          <a:lstStyle/>
          <a:p>
            <a:pP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21</a:t>
            </a:r>
          </a:p>
        </p:txBody>
      </p:sp>
    </p:spTree>
    <p:extLst>
      <p:ext uri="{BB962C8B-B14F-4D97-AF65-F5344CB8AC3E}">
        <p14:creationId xmlns:p14="http://schemas.microsoft.com/office/powerpoint/2010/main" val="1247978038"/>
      </p:ext>
    </p:extLst>
  </p:cSld>
  <p:clrMapOvr>
    <a:masterClrMapping/>
  </p:clrMapOvr>
</p:sld>
</file>

<file path=ppt/theme/theme1.xml><?xml version="1.0" encoding="utf-8"?>
<a:theme xmlns:a="http://schemas.openxmlformats.org/drawingml/2006/main" name="Hackathon">
  <a:themeElements>
    <a:clrScheme name="Hackathon">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imes New Roman"/>
        <a:ea typeface="Times New Roman"/>
        <a:cs typeface="Times New Roman"/>
      </a:majorFont>
      <a:minorFont>
        <a:latin typeface="Times New Roman"/>
        <a:ea typeface="Times New Roman"/>
        <a:cs typeface="Times New Roman"/>
      </a:minorFont>
    </a:fontScheme>
    <a:fmtScheme name="Hackatho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Hackathon">
  <a:themeElements>
    <a:clrScheme name="Hackathon">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imes New Roman"/>
        <a:ea typeface="Times New Roman"/>
        <a:cs typeface="Times New Roman"/>
      </a:majorFont>
      <a:minorFont>
        <a:latin typeface="Times New Roman"/>
        <a:ea typeface="Times New Roman"/>
        <a:cs typeface="Times New Roman"/>
      </a:minorFont>
    </a:fontScheme>
    <a:fmtScheme name="Hackatho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441</TotalTime>
  <Words>3469</Words>
  <Application>Microsoft Macintosh PowerPoint</Application>
  <DocSecurity>0</DocSecurity>
  <PresentationFormat>Widescreen</PresentationFormat>
  <Paragraphs>326</Paragraphs>
  <Slides>21</Slides>
  <Notes>21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21</vt:i4>
      </vt:variant>
    </vt:vector>
  </HeadingPairs>
  <TitlesOfParts>
    <vt:vector size="23" baseType="lpstr">
      <vt:lpstr>Times New Roman</vt:lpstr>
      <vt:lpstr>Hackathon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Sudip Phuyal</dc:creator>
  <cp:lastModifiedBy>Sudip Phuyal</cp:lastModifiedBy>
  <cp:revision>9</cp:revision>
  <dcterms:created xsi:type="dcterms:W3CDTF">2026-10-08T23:48:41Z</dcterms:created>
  <dcterms:modified xsi:type="dcterms:W3CDTF">2026-10-09T07:27:07Z</dcterms:modified>
</cp:coreProperties>
</file>